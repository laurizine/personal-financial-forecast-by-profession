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x="18288000" cy="10287000"/>
  <p:notesSz cx="6858000" cy="9144000"/>
  <p:embeddedFontLst>
    <p:embeddedFont>
      <p:font typeface="DejaVu Serif Bold" charset="1" panose="02060803050605020204"/>
      <p:regular r:id="rId39"/>
    </p:embeddedFont>
    <p:embeddedFont>
      <p:font typeface="Times New Roman" charset="1" panose="02020603050405020304"/>
      <p:regular r:id="rId40"/>
    </p:embeddedFont>
    <p:embeddedFont>
      <p:font typeface="DejaVu Serif" charset="1" panose="02060603050605020204"/>
      <p:regular r:id="rId41"/>
    </p:embeddedFont>
    <p:embeddedFont>
      <p:font typeface="Times New Roman Bold" charset="1" panose="02020803070505020304"/>
      <p:regular r:id="rId42"/>
    </p:embeddedFont>
    <p:embeddedFont>
      <p:font typeface="Montserrat Bold" charset="1" panose="00000800000000000000"/>
      <p:regular r:id="rId43"/>
    </p:embeddedFont>
    <p:embeddedFont>
      <p:font typeface="Montserrat" charset="1" panose="00000500000000000000"/>
      <p:regular r:id="rId44"/>
    </p:embeddedFont>
    <p:embeddedFont>
      <p:font typeface="Chau Philomene" charset="1" panose="02000806040000020003"/>
      <p:regular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1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17028" t="0" r="-17028" b="0"/>
              </a:stretch>
            </a:blipFill>
          </p:spPr>
        </p:sp>
      </p:grpSp>
      <p:sp>
        <p:nvSpPr>
          <p:cNvPr name="Freeform 4" id="4"/>
          <p:cNvSpPr/>
          <p:nvPr/>
        </p:nvSpPr>
        <p:spPr>
          <a:xfrm flipH="false" flipV="true" rot="0">
            <a:off x="535438" y="559137"/>
            <a:ext cx="4198772" cy="4114800"/>
          </a:xfrm>
          <a:custGeom>
            <a:avLst/>
            <a:gdLst/>
            <a:ahLst/>
            <a:cxnLst/>
            <a:rect r="r" b="b" t="t" l="l"/>
            <a:pathLst>
              <a:path h="4114800" w="4198772">
                <a:moveTo>
                  <a:pt x="0" y="4114800"/>
                </a:moveTo>
                <a:lnTo>
                  <a:pt x="4198773" y="4114800"/>
                </a:lnTo>
                <a:lnTo>
                  <a:pt x="4198773"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94" r="0" b="-94"/>
            </a:stretch>
          </a:blipFill>
        </p:spPr>
      </p:sp>
      <p:sp>
        <p:nvSpPr>
          <p:cNvPr name="Freeform 5" id="5"/>
          <p:cNvSpPr/>
          <p:nvPr/>
        </p:nvSpPr>
        <p:spPr>
          <a:xfrm flipH="true" flipV="true" rot="0">
            <a:off x="13553780" y="559137"/>
            <a:ext cx="4198772" cy="4114800"/>
          </a:xfrm>
          <a:custGeom>
            <a:avLst/>
            <a:gdLst/>
            <a:ahLst/>
            <a:cxnLst/>
            <a:rect r="r" b="b" t="t" l="l"/>
            <a:pathLst>
              <a:path h="4114800" w="4198772">
                <a:moveTo>
                  <a:pt x="4198772" y="4114800"/>
                </a:moveTo>
                <a:lnTo>
                  <a:pt x="0" y="4114800"/>
                </a:lnTo>
                <a:lnTo>
                  <a:pt x="0" y="0"/>
                </a:lnTo>
                <a:lnTo>
                  <a:pt x="4198772" y="0"/>
                </a:lnTo>
                <a:lnTo>
                  <a:pt x="4198772" y="4114800"/>
                </a:lnTo>
                <a:close/>
              </a:path>
            </a:pathLst>
          </a:custGeom>
          <a:blipFill>
            <a:blip r:embed="rId3">
              <a:extLst>
                <a:ext uri="{96DAC541-7B7A-43D3-8B79-37D633B846F1}">
                  <asvg:svgBlip xmlns:asvg="http://schemas.microsoft.com/office/drawing/2016/SVG/main" r:embed="rId4"/>
                </a:ext>
              </a:extLst>
            </a:blip>
            <a:stretch>
              <a:fillRect l="0" t="-94" r="0" b="-94"/>
            </a:stretch>
          </a:blipFill>
        </p:spPr>
      </p:sp>
      <p:sp>
        <p:nvSpPr>
          <p:cNvPr name="TextBox 6" id="6"/>
          <p:cNvSpPr txBox="true"/>
          <p:nvPr/>
        </p:nvSpPr>
        <p:spPr>
          <a:xfrm rot="0">
            <a:off x="2164086" y="2083696"/>
            <a:ext cx="13783789" cy="4507992"/>
          </a:xfrm>
          <a:prstGeom prst="rect">
            <a:avLst/>
          </a:prstGeom>
        </p:spPr>
        <p:txBody>
          <a:bodyPr anchor="t" rtlCol="false" tIns="0" lIns="0" bIns="0" rIns="0">
            <a:spAutoFit/>
          </a:bodyPr>
          <a:lstStyle/>
          <a:p>
            <a:pPr algn="ctr">
              <a:lnSpc>
                <a:spcPts val="12024"/>
              </a:lnSpc>
            </a:pPr>
            <a:r>
              <a:rPr lang="en-US" sz="7200" b="true">
                <a:solidFill>
                  <a:srgbClr val="473821"/>
                </a:solidFill>
                <a:latin typeface="DejaVu Serif Bold"/>
                <a:ea typeface="DejaVu Serif Bold"/>
                <a:cs typeface="DejaVu Serif Bold"/>
                <a:sym typeface="DejaVu Serif Bold"/>
              </a:rPr>
              <a:t>DỰ BÁO KHẢ NĂNG TÀI CHÍNH CÁ NHÂN THEO NGÀNH NGHỀ</a:t>
            </a:r>
          </a:p>
        </p:txBody>
      </p:sp>
      <p:grpSp>
        <p:nvGrpSpPr>
          <p:cNvPr name="Group 7" id="7"/>
          <p:cNvGrpSpPr/>
          <p:nvPr/>
        </p:nvGrpSpPr>
        <p:grpSpPr>
          <a:xfrm rot="0">
            <a:off x="4913522" y="7150880"/>
            <a:ext cx="8350815" cy="2012170"/>
            <a:chOff x="0" y="0"/>
            <a:chExt cx="2199392" cy="529954"/>
          </a:xfrm>
        </p:grpSpPr>
        <p:sp>
          <p:nvSpPr>
            <p:cNvPr name="Freeform 8" id="8"/>
            <p:cNvSpPr/>
            <p:nvPr/>
          </p:nvSpPr>
          <p:spPr>
            <a:xfrm flipH="false" flipV="false" rot="0">
              <a:off x="0" y="0"/>
              <a:ext cx="2199392" cy="529954"/>
            </a:xfrm>
            <a:custGeom>
              <a:avLst/>
              <a:gdLst/>
              <a:ahLst/>
              <a:cxnLst/>
              <a:rect r="r" b="b" t="t" l="l"/>
              <a:pathLst>
                <a:path h="529954" w="2199392">
                  <a:moveTo>
                    <a:pt x="0" y="0"/>
                  </a:moveTo>
                  <a:lnTo>
                    <a:pt x="2199392" y="0"/>
                  </a:lnTo>
                  <a:lnTo>
                    <a:pt x="2199392" y="529954"/>
                  </a:lnTo>
                  <a:lnTo>
                    <a:pt x="0" y="529954"/>
                  </a:lnTo>
                  <a:close/>
                </a:path>
              </a:pathLst>
            </a:custGeom>
            <a:solidFill>
              <a:srgbClr val="EFE9D6"/>
            </a:solidFill>
          </p:spPr>
        </p:sp>
        <p:sp>
          <p:nvSpPr>
            <p:cNvPr name="TextBox 9" id="9"/>
            <p:cNvSpPr txBox="true"/>
            <p:nvPr/>
          </p:nvSpPr>
          <p:spPr>
            <a:xfrm>
              <a:off x="0" y="-38100"/>
              <a:ext cx="2199392" cy="568054"/>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5453320" y="7217650"/>
            <a:ext cx="7671315" cy="1571625"/>
          </a:xfrm>
          <a:prstGeom prst="rect">
            <a:avLst/>
          </a:prstGeom>
        </p:spPr>
        <p:txBody>
          <a:bodyPr anchor="t" rtlCol="false" tIns="0" lIns="0" bIns="0" rIns="0">
            <a:spAutoFit/>
          </a:bodyPr>
          <a:lstStyle/>
          <a:p>
            <a:pPr algn="just">
              <a:lnSpc>
                <a:spcPts val="4199"/>
              </a:lnSpc>
            </a:pPr>
            <a:r>
              <a:rPr lang="en-US" sz="3000">
                <a:solidFill>
                  <a:srgbClr val="473821"/>
                </a:solidFill>
                <a:latin typeface="Times New Roman"/>
                <a:ea typeface="Times New Roman"/>
                <a:cs typeface="Times New Roman"/>
                <a:sym typeface="Times New Roman"/>
              </a:rPr>
              <a:t>Phạm Đăng Hoàng – 22520472</a:t>
            </a:r>
          </a:p>
          <a:p>
            <a:pPr algn="just">
              <a:lnSpc>
                <a:spcPts val="4199"/>
              </a:lnSpc>
            </a:pPr>
            <a:r>
              <a:rPr lang="en-US" sz="3000">
                <a:solidFill>
                  <a:srgbClr val="473821"/>
                </a:solidFill>
                <a:latin typeface="Times New Roman"/>
                <a:ea typeface="Times New Roman"/>
                <a:cs typeface="Times New Roman"/>
                <a:sym typeface="Times New Roman"/>
              </a:rPr>
              <a:t>Lương Văn Duy - 22520318</a:t>
            </a:r>
          </a:p>
          <a:p>
            <a:pPr algn="just">
              <a:lnSpc>
                <a:spcPts val="4199"/>
              </a:lnSpc>
            </a:pPr>
            <a:r>
              <a:rPr lang="en-US" sz="3000">
                <a:solidFill>
                  <a:srgbClr val="473821"/>
                </a:solidFill>
                <a:latin typeface="Times New Roman"/>
                <a:ea typeface="Times New Roman"/>
                <a:cs typeface="Times New Roman"/>
                <a:sym typeface="Times New Roman"/>
              </a:rPr>
              <a:t>Giảng viên hướng dẫn: TS Nguyễn Đình Hiển</a:t>
            </a:r>
          </a:p>
        </p:txBody>
      </p:sp>
      <p:sp>
        <p:nvSpPr>
          <p:cNvPr name="TextBox 11" id="11"/>
          <p:cNvSpPr txBox="true"/>
          <p:nvPr/>
        </p:nvSpPr>
        <p:spPr>
          <a:xfrm rot="0">
            <a:off x="17332862" y="9067800"/>
            <a:ext cx="379809" cy="899798"/>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1</a:t>
            </a:r>
          </a:p>
        </p:txBody>
      </p:sp>
      <p:sp>
        <p:nvSpPr>
          <p:cNvPr name="TextBox 12" id="12"/>
          <p:cNvSpPr txBox="true"/>
          <p:nvPr/>
        </p:nvSpPr>
        <p:spPr>
          <a:xfrm rot="0">
            <a:off x="2164086" y="226041"/>
            <a:ext cx="14595184" cy="580467"/>
          </a:xfrm>
          <a:prstGeom prst="rect">
            <a:avLst/>
          </a:prstGeom>
        </p:spPr>
        <p:txBody>
          <a:bodyPr anchor="t" rtlCol="false" tIns="0" lIns="0" bIns="0" rIns="0">
            <a:spAutoFit/>
          </a:bodyPr>
          <a:lstStyle/>
          <a:p>
            <a:pPr algn="just">
              <a:lnSpc>
                <a:spcPts val="4554"/>
              </a:lnSpc>
            </a:pPr>
            <a:r>
              <a:rPr lang="en-US" sz="3253">
                <a:solidFill>
                  <a:srgbClr val="473821"/>
                </a:solidFill>
                <a:latin typeface="Times New Roman"/>
                <a:ea typeface="Times New Roman"/>
                <a:cs typeface="Times New Roman"/>
                <a:sym typeface="Times New Roman"/>
              </a:rPr>
              <a:t>Biểu diễn tri thức và suy luận - Trường Đại học công nghệ thông tin - ĐHQG TPHCM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17028" t="0" r="-17028" b="0"/>
              </a:stretch>
            </a:blipFill>
          </p:spPr>
        </p:sp>
      </p:grpSp>
      <p:sp>
        <p:nvSpPr>
          <p:cNvPr name="Freeform 4" id="4"/>
          <p:cNvSpPr/>
          <p:nvPr/>
        </p:nvSpPr>
        <p:spPr>
          <a:xfrm flipH="false" flipV="true" rot="0">
            <a:off x="319821" y="260318"/>
            <a:ext cx="3388214" cy="3320453"/>
          </a:xfrm>
          <a:custGeom>
            <a:avLst/>
            <a:gdLst/>
            <a:ahLst/>
            <a:cxnLst/>
            <a:rect r="r" b="b" t="t" l="l"/>
            <a:pathLst>
              <a:path h="3320453" w="3388214">
                <a:moveTo>
                  <a:pt x="0" y="3320453"/>
                </a:moveTo>
                <a:lnTo>
                  <a:pt x="3388214" y="3320453"/>
                </a:lnTo>
                <a:lnTo>
                  <a:pt x="3388214" y="0"/>
                </a:lnTo>
                <a:lnTo>
                  <a:pt x="0" y="0"/>
                </a:lnTo>
                <a:lnTo>
                  <a:pt x="0" y="3320453"/>
                </a:lnTo>
                <a:close/>
              </a:path>
            </a:pathLst>
          </a:custGeom>
          <a:blipFill>
            <a:blip r:embed="rId3">
              <a:extLst>
                <a:ext uri="{96DAC541-7B7A-43D3-8B79-37D633B846F1}">
                  <asvg:svgBlip xmlns:asvg="http://schemas.microsoft.com/office/drawing/2016/SVG/main" r:embed="rId4"/>
                </a:ext>
              </a:extLst>
            </a:blip>
            <a:stretch>
              <a:fillRect l="0" t="-160" r="0" b="-160"/>
            </a:stretch>
          </a:blipFill>
        </p:spPr>
      </p:sp>
      <p:sp>
        <p:nvSpPr>
          <p:cNvPr name="Freeform 5" id="5"/>
          <p:cNvSpPr/>
          <p:nvPr/>
        </p:nvSpPr>
        <p:spPr>
          <a:xfrm flipH="true" flipV="true" rot="0">
            <a:off x="14579965" y="260318"/>
            <a:ext cx="3388214" cy="3320453"/>
          </a:xfrm>
          <a:custGeom>
            <a:avLst/>
            <a:gdLst/>
            <a:ahLst/>
            <a:cxnLst/>
            <a:rect r="r" b="b" t="t" l="l"/>
            <a:pathLst>
              <a:path h="3320453" w="3388214">
                <a:moveTo>
                  <a:pt x="3388214" y="3320453"/>
                </a:moveTo>
                <a:lnTo>
                  <a:pt x="0" y="3320453"/>
                </a:lnTo>
                <a:lnTo>
                  <a:pt x="0" y="0"/>
                </a:lnTo>
                <a:lnTo>
                  <a:pt x="3388214" y="0"/>
                </a:lnTo>
                <a:lnTo>
                  <a:pt x="3388214" y="3320453"/>
                </a:lnTo>
                <a:close/>
              </a:path>
            </a:pathLst>
          </a:custGeom>
          <a:blipFill>
            <a:blip r:embed="rId3">
              <a:extLst>
                <a:ext uri="{96DAC541-7B7A-43D3-8B79-37D633B846F1}">
                  <asvg:svgBlip xmlns:asvg="http://schemas.microsoft.com/office/drawing/2016/SVG/main" r:embed="rId4"/>
                </a:ext>
              </a:extLst>
            </a:blip>
            <a:stretch>
              <a:fillRect l="0" t="-160" r="0" b="-160"/>
            </a:stretch>
          </a:blipFill>
        </p:spPr>
      </p:sp>
      <p:sp>
        <p:nvSpPr>
          <p:cNvPr name="Freeform 6" id="6"/>
          <p:cNvSpPr/>
          <p:nvPr/>
        </p:nvSpPr>
        <p:spPr>
          <a:xfrm flipH="false" flipV="false" rot="0">
            <a:off x="582520" y="1286729"/>
            <a:ext cx="16968821" cy="8278595"/>
          </a:xfrm>
          <a:custGeom>
            <a:avLst/>
            <a:gdLst/>
            <a:ahLst/>
            <a:cxnLst/>
            <a:rect r="r" b="b" t="t" l="l"/>
            <a:pathLst>
              <a:path h="8278595" w="16968821">
                <a:moveTo>
                  <a:pt x="0" y="0"/>
                </a:moveTo>
                <a:lnTo>
                  <a:pt x="16968821" y="0"/>
                </a:lnTo>
                <a:lnTo>
                  <a:pt x="16968821" y="8278595"/>
                </a:lnTo>
                <a:lnTo>
                  <a:pt x="0" y="827859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4392118" y="173988"/>
            <a:ext cx="9084764" cy="1528448"/>
          </a:xfrm>
          <a:prstGeom prst="rect">
            <a:avLst/>
          </a:prstGeom>
        </p:spPr>
        <p:txBody>
          <a:bodyPr anchor="t" rtlCol="false" tIns="0" lIns="0" bIns="0" rIns="0">
            <a:spAutoFit/>
          </a:bodyPr>
          <a:lstStyle/>
          <a:p>
            <a:pPr algn="ctr">
              <a:lnSpc>
                <a:spcPts val="9939"/>
              </a:lnSpc>
            </a:pPr>
            <a:r>
              <a:rPr lang="en-US" sz="6998" spc="76">
                <a:solidFill>
                  <a:srgbClr val="473821"/>
                </a:solidFill>
                <a:latin typeface="Times New Roman"/>
                <a:ea typeface="Times New Roman"/>
                <a:cs typeface="Times New Roman"/>
                <a:sym typeface="Times New Roman"/>
              </a:rPr>
              <a:t>Nội dung thuyết trình</a:t>
            </a:r>
          </a:p>
        </p:txBody>
      </p:sp>
      <p:sp>
        <p:nvSpPr>
          <p:cNvPr name="TextBox 8" id="8"/>
          <p:cNvSpPr txBox="true"/>
          <p:nvPr/>
        </p:nvSpPr>
        <p:spPr>
          <a:xfrm rot="0">
            <a:off x="4392118" y="2339027"/>
            <a:ext cx="10782085" cy="5916824"/>
          </a:xfrm>
          <a:prstGeom prst="rect">
            <a:avLst/>
          </a:prstGeom>
        </p:spPr>
        <p:txBody>
          <a:bodyPr anchor="t" rtlCol="false" tIns="0" lIns="0" bIns="0" rIns="0">
            <a:spAutoFit/>
          </a:bodyPr>
          <a:lstStyle/>
          <a:p>
            <a:pPr algn="l">
              <a:lnSpc>
                <a:spcPts val="7887"/>
              </a:lnSpc>
            </a:pPr>
            <a:r>
              <a:rPr lang="en-US" sz="4585">
                <a:solidFill>
                  <a:srgbClr val="473821"/>
                </a:solidFill>
                <a:latin typeface="Times New Roman"/>
                <a:ea typeface="Times New Roman"/>
                <a:cs typeface="Times New Roman"/>
                <a:sym typeface="Times New Roman"/>
              </a:rPr>
              <a:t>I. GIỚI THIỆU</a:t>
            </a:r>
          </a:p>
          <a:p>
            <a:pPr algn="l">
              <a:lnSpc>
                <a:spcPts val="7887"/>
              </a:lnSpc>
            </a:pPr>
            <a:r>
              <a:rPr lang="en-US" sz="4585">
                <a:solidFill>
                  <a:srgbClr val="473821"/>
                </a:solidFill>
                <a:latin typeface="Times New Roman"/>
                <a:ea typeface="Times New Roman"/>
                <a:cs typeface="Times New Roman"/>
                <a:sym typeface="Times New Roman"/>
              </a:rPr>
              <a:t>II. THU THẬP TRI THỨC</a:t>
            </a:r>
          </a:p>
          <a:p>
            <a:pPr algn="l">
              <a:lnSpc>
                <a:spcPts val="7887"/>
              </a:lnSpc>
            </a:pPr>
            <a:r>
              <a:rPr lang="en-US" sz="4585">
                <a:solidFill>
                  <a:srgbClr val="473821"/>
                </a:solidFill>
                <a:latin typeface="Times New Roman"/>
                <a:ea typeface="Times New Roman"/>
                <a:cs typeface="Times New Roman"/>
                <a:sym typeface="Times New Roman"/>
              </a:rPr>
              <a:t>III. BIỂU DIỄN TRI THỨC</a:t>
            </a:r>
          </a:p>
          <a:p>
            <a:pPr algn="l">
              <a:lnSpc>
                <a:spcPts val="7887"/>
              </a:lnSpc>
            </a:pPr>
            <a:r>
              <a:rPr lang="en-US" sz="4585">
                <a:solidFill>
                  <a:srgbClr val="473821"/>
                </a:solidFill>
                <a:latin typeface="Times New Roman"/>
                <a:ea typeface="Times New Roman"/>
                <a:cs typeface="Times New Roman"/>
                <a:sym typeface="Times New Roman"/>
              </a:rPr>
              <a:t>IV. HỆ LUẬT &amp; THUẬT GIẢI SUY LUẬN</a:t>
            </a:r>
          </a:p>
          <a:p>
            <a:pPr algn="l">
              <a:lnSpc>
                <a:spcPts val="7887"/>
              </a:lnSpc>
            </a:pPr>
            <a:r>
              <a:rPr lang="en-US" sz="4585">
                <a:solidFill>
                  <a:srgbClr val="473821"/>
                </a:solidFill>
                <a:latin typeface="Times New Roman"/>
                <a:ea typeface="Times New Roman"/>
                <a:cs typeface="Times New Roman"/>
                <a:sym typeface="Times New Roman"/>
              </a:rPr>
              <a:t>V. ĐÁNH GIÁ &amp; KẾT LUẬN</a:t>
            </a:r>
          </a:p>
          <a:p>
            <a:pPr algn="l">
              <a:lnSpc>
                <a:spcPts val="7887"/>
              </a:lnSpc>
            </a:pPr>
            <a:r>
              <a:rPr lang="en-US" sz="4585">
                <a:solidFill>
                  <a:srgbClr val="473821"/>
                </a:solidFill>
                <a:latin typeface="Times New Roman"/>
                <a:ea typeface="Times New Roman"/>
                <a:cs typeface="Times New Roman"/>
                <a:sym typeface="Times New Roman"/>
              </a:rPr>
              <a:t>VI. DEMO HỆ THỐNG</a:t>
            </a:r>
          </a:p>
        </p:txBody>
      </p:sp>
      <p:sp>
        <p:nvSpPr>
          <p:cNvPr name="TextBox 9" id="9"/>
          <p:cNvSpPr txBox="true"/>
          <p:nvPr/>
        </p:nvSpPr>
        <p:spPr>
          <a:xfrm rot="0">
            <a:off x="17361437" y="9067800"/>
            <a:ext cx="379809" cy="899798"/>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17028" t="0" r="-17028" b="0"/>
              </a:stretch>
            </a:blipFill>
          </p:spPr>
        </p:sp>
      </p:grpSp>
      <p:sp>
        <p:nvSpPr>
          <p:cNvPr name="Freeform 4" id="4"/>
          <p:cNvSpPr/>
          <p:nvPr/>
        </p:nvSpPr>
        <p:spPr>
          <a:xfrm flipH="false" flipV="true" rot="0">
            <a:off x="319821" y="260318"/>
            <a:ext cx="3388214" cy="3320453"/>
          </a:xfrm>
          <a:custGeom>
            <a:avLst/>
            <a:gdLst/>
            <a:ahLst/>
            <a:cxnLst/>
            <a:rect r="r" b="b" t="t" l="l"/>
            <a:pathLst>
              <a:path h="3320453" w="3388214">
                <a:moveTo>
                  <a:pt x="0" y="3320453"/>
                </a:moveTo>
                <a:lnTo>
                  <a:pt x="3388214" y="3320453"/>
                </a:lnTo>
                <a:lnTo>
                  <a:pt x="3388214" y="0"/>
                </a:lnTo>
                <a:lnTo>
                  <a:pt x="0" y="0"/>
                </a:lnTo>
                <a:lnTo>
                  <a:pt x="0" y="3320453"/>
                </a:lnTo>
                <a:close/>
              </a:path>
            </a:pathLst>
          </a:custGeom>
          <a:blipFill>
            <a:blip r:embed="rId3">
              <a:extLst>
                <a:ext uri="{96DAC541-7B7A-43D3-8B79-37D633B846F1}">
                  <asvg:svgBlip xmlns:asvg="http://schemas.microsoft.com/office/drawing/2016/SVG/main" r:embed="rId4"/>
                </a:ext>
              </a:extLst>
            </a:blip>
            <a:stretch>
              <a:fillRect l="0" t="-160" r="0" b="-160"/>
            </a:stretch>
          </a:blipFill>
        </p:spPr>
      </p:sp>
      <p:sp>
        <p:nvSpPr>
          <p:cNvPr name="Freeform 5" id="5"/>
          <p:cNvSpPr/>
          <p:nvPr/>
        </p:nvSpPr>
        <p:spPr>
          <a:xfrm flipH="true" flipV="true" rot="0">
            <a:off x="14579965" y="260318"/>
            <a:ext cx="3388214" cy="3320453"/>
          </a:xfrm>
          <a:custGeom>
            <a:avLst/>
            <a:gdLst/>
            <a:ahLst/>
            <a:cxnLst/>
            <a:rect r="r" b="b" t="t" l="l"/>
            <a:pathLst>
              <a:path h="3320453" w="3388214">
                <a:moveTo>
                  <a:pt x="3388214" y="3320453"/>
                </a:moveTo>
                <a:lnTo>
                  <a:pt x="0" y="3320453"/>
                </a:lnTo>
                <a:lnTo>
                  <a:pt x="0" y="0"/>
                </a:lnTo>
                <a:lnTo>
                  <a:pt x="3388214" y="0"/>
                </a:lnTo>
                <a:lnTo>
                  <a:pt x="3388214" y="3320453"/>
                </a:lnTo>
                <a:close/>
              </a:path>
            </a:pathLst>
          </a:custGeom>
          <a:blipFill>
            <a:blip r:embed="rId3">
              <a:extLst>
                <a:ext uri="{96DAC541-7B7A-43D3-8B79-37D633B846F1}">
                  <asvg:svgBlip xmlns:asvg="http://schemas.microsoft.com/office/drawing/2016/SVG/main" r:embed="rId4"/>
                </a:ext>
              </a:extLst>
            </a:blip>
            <a:stretch>
              <a:fillRect l="0" t="-160" r="0" b="-160"/>
            </a:stretch>
          </a:blipFill>
        </p:spPr>
      </p:sp>
      <p:sp>
        <p:nvSpPr>
          <p:cNvPr name="TextBox 6" id="6"/>
          <p:cNvSpPr txBox="true"/>
          <p:nvPr/>
        </p:nvSpPr>
        <p:spPr>
          <a:xfrm rot="0">
            <a:off x="2758650" y="3518668"/>
            <a:ext cx="12770710" cy="2103739"/>
          </a:xfrm>
          <a:prstGeom prst="rect">
            <a:avLst/>
          </a:prstGeom>
        </p:spPr>
        <p:txBody>
          <a:bodyPr anchor="t" rtlCol="false" tIns="0" lIns="0" bIns="0" rIns="0">
            <a:spAutoFit/>
          </a:bodyPr>
          <a:lstStyle/>
          <a:p>
            <a:pPr algn="ctr">
              <a:lnSpc>
                <a:spcPts val="13720"/>
              </a:lnSpc>
            </a:pPr>
            <a:r>
              <a:rPr lang="en-US" sz="9800">
                <a:solidFill>
                  <a:srgbClr val="473821"/>
                </a:solidFill>
                <a:latin typeface="Times New Roman"/>
                <a:ea typeface="Times New Roman"/>
                <a:cs typeface="Times New Roman"/>
                <a:sym typeface="Times New Roman"/>
              </a:rPr>
              <a:t>I. GIỚI THIỆU</a:t>
            </a:r>
          </a:p>
        </p:txBody>
      </p:sp>
      <p:sp>
        <p:nvSpPr>
          <p:cNvPr name="TextBox 7" id="7"/>
          <p:cNvSpPr txBox="true"/>
          <p:nvPr/>
        </p:nvSpPr>
        <p:spPr>
          <a:xfrm rot="0">
            <a:off x="17332862" y="9067800"/>
            <a:ext cx="379809" cy="899798"/>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17028" t="0" r="-17028" b="0"/>
              </a:stretch>
            </a:blipFill>
          </p:spPr>
        </p:sp>
      </p:grpSp>
      <p:sp>
        <p:nvSpPr>
          <p:cNvPr name="Freeform 4" id="4"/>
          <p:cNvSpPr/>
          <p:nvPr/>
        </p:nvSpPr>
        <p:spPr>
          <a:xfrm flipH="false" flipV="true" rot="0">
            <a:off x="319821" y="260318"/>
            <a:ext cx="3388214" cy="3320453"/>
          </a:xfrm>
          <a:custGeom>
            <a:avLst/>
            <a:gdLst/>
            <a:ahLst/>
            <a:cxnLst/>
            <a:rect r="r" b="b" t="t" l="l"/>
            <a:pathLst>
              <a:path h="3320453" w="3388214">
                <a:moveTo>
                  <a:pt x="0" y="3320453"/>
                </a:moveTo>
                <a:lnTo>
                  <a:pt x="3388214" y="3320453"/>
                </a:lnTo>
                <a:lnTo>
                  <a:pt x="3388214" y="0"/>
                </a:lnTo>
                <a:lnTo>
                  <a:pt x="0" y="0"/>
                </a:lnTo>
                <a:lnTo>
                  <a:pt x="0" y="3320453"/>
                </a:lnTo>
                <a:close/>
              </a:path>
            </a:pathLst>
          </a:custGeom>
          <a:blipFill>
            <a:blip r:embed="rId3">
              <a:extLst>
                <a:ext uri="{96DAC541-7B7A-43D3-8B79-37D633B846F1}">
                  <asvg:svgBlip xmlns:asvg="http://schemas.microsoft.com/office/drawing/2016/SVG/main" r:embed="rId4"/>
                </a:ext>
              </a:extLst>
            </a:blip>
            <a:stretch>
              <a:fillRect l="0" t="-160" r="0" b="-160"/>
            </a:stretch>
          </a:blipFill>
        </p:spPr>
      </p:sp>
      <p:sp>
        <p:nvSpPr>
          <p:cNvPr name="TextBox 5" id="5"/>
          <p:cNvSpPr txBox="true"/>
          <p:nvPr/>
        </p:nvSpPr>
        <p:spPr>
          <a:xfrm rot="0">
            <a:off x="5957535" y="581025"/>
            <a:ext cx="6372939" cy="1242670"/>
          </a:xfrm>
          <a:prstGeom prst="rect">
            <a:avLst/>
          </a:prstGeom>
        </p:spPr>
        <p:txBody>
          <a:bodyPr anchor="t" rtlCol="false" tIns="0" lIns="0" bIns="0" rIns="0">
            <a:spAutoFit/>
          </a:bodyPr>
          <a:lstStyle/>
          <a:p>
            <a:pPr algn="ctr">
              <a:lnSpc>
                <a:spcPts val="9939"/>
              </a:lnSpc>
            </a:pPr>
            <a:r>
              <a:rPr lang="en-US" sz="6998" spc="76">
                <a:solidFill>
                  <a:srgbClr val="473821"/>
                </a:solidFill>
                <a:latin typeface="Times New Roman"/>
                <a:ea typeface="Times New Roman"/>
                <a:cs typeface="Times New Roman"/>
                <a:sym typeface="Times New Roman"/>
              </a:rPr>
              <a:t>Lí do chọn đề tài</a:t>
            </a:r>
          </a:p>
        </p:txBody>
      </p:sp>
      <p:sp>
        <p:nvSpPr>
          <p:cNvPr name="Freeform 6" id="6"/>
          <p:cNvSpPr/>
          <p:nvPr/>
        </p:nvSpPr>
        <p:spPr>
          <a:xfrm flipH="true" flipV="true" rot="0">
            <a:off x="14579965" y="260318"/>
            <a:ext cx="3388214" cy="3320453"/>
          </a:xfrm>
          <a:custGeom>
            <a:avLst/>
            <a:gdLst/>
            <a:ahLst/>
            <a:cxnLst/>
            <a:rect r="r" b="b" t="t" l="l"/>
            <a:pathLst>
              <a:path h="3320453" w="3388214">
                <a:moveTo>
                  <a:pt x="3388214" y="3320453"/>
                </a:moveTo>
                <a:lnTo>
                  <a:pt x="0" y="3320453"/>
                </a:lnTo>
                <a:lnTo>
                  <a:pt x="0" y="0"/>
                </a:lnTo>
                <a:lnTo>
                  <a:pt x="3388214" y="0"/>
                </a:lnTo>
                <a:lnTo>
                  <a:pt x="3388214" y="3320453"/>
                </a:lnTo>
                <a:close/>
              </a:path>
            </a:pathLst>
          </a:custGeom>
          <a:blipFill>
            <a:blip r:embed="rId3">
              <a:extLst>
                <a:ext uri="{96DAC541-7B7A-43D3-8B79-37D633B846F1}">
                  <asvg:svgBlip xmlns:asvg="http://schemas.microsoft.com/office/drawing/2016/SVG/main" r:embed="rId4"/>
                </a:ext>
              </a:extLst>
            </a:blip>
            <a:stretch>
              <a:fillRect l="0" t="-160" r="0" b="-160"/>
            </a:stretch>
          </a:blipFill>
        </p:spPr>
      </p:sp>
      <p:sp>
        <p:nvSpPr>
          <p:cNvPr name="TextBox 7" id="7"/>
          <p:cNvSpPr txBox="true"/>
          <p:nvPr/>
        </p:nvSpPr>
        <p:spPr>
          <a:xfrm rot="0">
            <a:off x="17332862" y="9067800"/>
            <a:ext cx="379809" cy="899798"/>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4</a:t>
            </a:r>
          </a:p>
        </p:txBody>
      </p:sp>
      <p:sp>
        <p:nvSpPr>
          <p:cNvPr name="Freeform 8" id="8"/>
          <p:cNvSpPr/>
          <p:nvPr/>
        </p:nvSpPr>
        <p:spPr>
          <a:xfrm flipH="false" flipV="false" rot="0">
            <a:off x="1156067" y="1920545"/>
            <a:ext cx="15975867" cy="7794161"/>
          </a:xfrm>
          <a:custGeom>
            <a:avLst/>
            <a:gdLst/>
            <a:ahLst/>
            <a:cxnLst/>
            <a:rect r="r" b="b" t="t" l="l"/>
            <a:pathLst>
              <a:path h="7794161" w="15975867">
                <a:moveTo>
                  <a:pt x="0" y="0"/>
                </a:moveTo>
                <a:lnTo>
                  <a:pt x="15975866" y="0"/>
                </a:lnTo>
                <a:lnTo>
                  <a:pt x="15975866" y="7794161"/>
                </a:lnTo>
                <a:lnTo>
                  <a:pt x="0" y="779416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1510207" y="2139667"/>
            <a:ext cx="14567175" cy="7023383"/>
          </a:xfrm>
          <a:prstGeom prst="rect">
            <a:avLst/>
          </a:prstGeom>
        </p:spPr>
        <p:txBody>
          <a:bodyPr anchor="t" rtlCol="false" tIns="0" lIns="0" bIns="0" rIns="0">
            <a:spAutoFit/>
          </a:bodyPr>
          <a:lstStyle/>
          <a:p>
            <a:pPr algn="l" marL="734061" indent="-367031" lvl="1">
              <a:lnSpc>
                <a:spcPts val="5552"/>
              </a:lnSpc>
              <a:buFont typeface="Arial"/>
              <a:buChar char="•"/>
            </a:pPr>
            <a:r>
              <a:rPr lang="en-US" b="true" sz="3400">
                <a:solidFill>
                  <a:srgbClr val="473821"/>
                </a:solidFill>
                <a:latin typeface="Times New Roman Bold"/>
                <a:ea typeface="Times New Roman Bold"/>
                <a:cs typeface="Times New Roman Bold"/>
                <a:sym typeface="Times New Roman Bold"/>
              </a:rPr>
              <a:t>Đánh giá khả năng tài chính cá nhân là vấn đề rất quan trọng trong nhiều lĩnh vực:</a:t>
            </a:r>
          </a:p>
          <a:p>
            <a:pPr algn="l" marL="1468122" indent="-489374" lvl="2">
              <a:lnSpc>
                <a:spcPts val="5552"/>
              </a:lnSpc>
              <a:buFont typeface="Arial"/>
              <a:buChar char="⚬"/>
            </a:pPr>
            <a:r>
              <a:rPr lang="en-US" b="true" sz="3400">
                <a:solidFill>
                  <a:srgbClr val="473821"/>
                </a:solidFill>
                <a:latin typeface="Times New Roman Bold"/>
                <a:ea typeface="Times New Roman Bold"/>
                <a:cs typeface="Times New Roman Bold"/>
                <a:sym typeface="Times New Roman Bold"/>
              </a:rPr>
              <a:t>Cho vay ngân hàng</a:t>
            </a:r>
          </a:p>
          <a:p>
            <a:pPr algn="l" marL="1468122" indent="-489374" lvl="2">
              <a:lnSpc>
                <a:spcPts val="5552"/>
              </a:lnSpc>
              <a:buFont typeface="Arial"/>
              <a:buChar char="⚬"/>
            </a:pPr>
            <a:r>
              <a:rPr lang="en-US" b="true" sz="3400">
                <a:solidFill>
                  <a:srgbClr val="473821"/>
                </a:solidFill>
                <a:latin typeface="Times New Roman Bold"/>
                <a:ea typeface="Times New Roman Bold"/>
                <a:cs typeface="Times New Roman Bold"/>
                <a:sym typeface="Times New Roman Bold"/>
              </a:rPr>
              <a:t>Quản lý rủi ro tín dụng</a:t>
            </a:r>
          </a:p>
          <a:p>
            <a:pPr algn="l" marL="1468122" indent="-489374" lvl="2">
              <a:lnSpc>
                <a:spcPts val="5552"/>
              </a:lnSpc>
              <a:buFont typeface="Arial"/>
              <a:buChar char="⚬"/>
            </a:pPr>
            <a:r>
              <a:rPr lang="en-US" b="true" sz="3400">
                <a:solidFill>
                  <a:srgbClr val="473821"/>
                </a:solidFill>
                <a:latin typeface="Times New Roman Bold"/>
                <a:ea typeface="Times New Roman Bold"/>
                <a:cs typeface="Times New Roman Bold"/>
                <a:sym typeface="Times New Roman Bold"/>
              </a:rPr>
              <a:t>Tư vấn tài chính cá nhân</a:t>
            </a:r>
          </a:p>
          <a:p>
            <a:pPr algn="l" marL="734061" indent="-367031" lvl="1">
              <a:lnSpc>
                <a:spcPts val="5552"/>
              </a:lnSpc>
              <a:buFont typeface="Arial"/>
              <a:buChar char="•"/>
            </a:pPr>
            <a:r>
              <a:rPr lang="en-US" b="true" sz="3400">
                <a:solidFill>
                  <a:srgbClr val="473821"/>
                </a:solidFill>
                <a:latin typeface="Times New Roman Bold"/>
                <a:ea typeface="Times New Roman Bold"/>
                <a:cs typeface="Times New Roman Bold"/>
                <a:sym typeface="Times New Roman Bold"/>
              </a:rPr>
              <a:t>Quyết định tài chính chịu ảnh hưởng bởi nhiều yếu tố nhiều yếu tố khác nhau, trong đó </a:t>
            </a:r>
            <a:r>
              <a:rPr lang="en-US" b="true" sz="3400">
                <a:solidFill>
                  <a:srgbClr val="473821"/>
                </a:solidFill>
                <a:latin typeface="Times New Roman Bold"/>
                <a:ea typeface="Times New Roman Bold"/>
                <a:cs typeface="Times New Roman Bold"/>
                <a:sym typeface="Times New Roman Bold"/>
              </a:rPr>
              <a:t>các thông tin như ngành nghề, thu nhập, chi tiêu, nợ đóng vai trò quan trọng trong việc đánh giá mức độ uy tín tín dụng.</a:t>
            </a:r>
          </a:p>
          <a:p>
            <a:pPr algn="l">
              <a:lnSpc>
                <a:spcPts val="5553"/>
              </a:lnSpc>
            </a:pPr>
            <a:r>
              <a:rPr lang="en-US" sz="3400" b="true">
                <a:solidFill>
                  <a:srgbClr val="473821"/>
                </a:solidFill>
                <a:latin typeface="Times New Roman Bold"/>
                <a:ea typeface="Times New Roman Bold"/>
                <a:cs typeface="Times New Roman Bold"/>
                <a:sym typeface="Times New Roman Bold"/>
              </a:rPr>
              <a:t>→ Vì vậy, việc mô hình hóa mối quan hệ giữa các yếu tố tài chính và điểm tín dụng là cần thiết để hỗ trợ đánh giá khả năng tài chính cá nhân.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17028" t="0" r="-17028" b="0"/>
              </a:stretch>
            </a:blipFill>
          </p:spPr>
        </p:sp>
      </p:grpSp>
      <p:sp>
        <p:nvSpPr>
          <p:cNvPr name="Freeform 4" id="4"/>
          <p:cNvSpPr/>
          <p:nvPr/>
        </p:nvSpPr>
        <p:spPr>
          <a:xfrm flipH="false" flipV="true" rot="0">
            <a:off x="319821" y="260318"/>
            <a:ext cx="3388214" cy="3320453"/>
          </a:xfrm>
          <a:custGeom>
            <a:avLst/>
            <a:gdLst/>
            <a:ahLst/>
            <a:cxnLst/>
            <a:rect r="r" b="b" t="t" l="l"/>
            <a:pathLst>
              <a:path h="3320453" w="3388214">
                <a:moveTo>
                  <a:pt x="0" y="3320453"/>
                </a:moveTo>
                <a:lnTo>
                  <a:pt x="3388214" y="3320453"/>
                </a:lnTo>
                <a:lnTo>
                  <a:pt x="3388214" y="0"/>
                </a:lnTo>
                <a:lnTo>
                  <a:pt x="0" y="0"/>
                </a:lnTo>
                <a:lnTo>
                  <a:pt x="0" y="3320453"/>
                </a:lnTo>
                <a:close/>
              </a:path>
            </a:pathLst>
          </a:custGeom>
          <a:blipFill>
            <a:blip r:embed="rId3">
              <a:extLst>
                <a:ext uri="{96DAC541-7B7A-43D3-8B79-37D633B846F1}">
                  <asvg:svgBlip xmlns:asvg="http://schemas.microsoft.com/office/drawing/2016/SVG/main" r:embed="rId4"/>
                </a:ext>
              </a:extLst>
            </a:blip>
            <a:stretch>
              <a:fillRect l="0" t="-160" r="0" b="-160"/>
            </a:stretch>
          </a:blipFill>
        </p:spPr>
      </p:sp>
      <p:sp>
        <p:nvSpPr>
          <p:cNvPr name="TextBox 5" id="5"/>
          <p:cNvSpPr txBox="true"/>
          <p:nvPr/>
        </p:nvSpPr>
        <p:spPr>
          <a:xfrm rot="0">
            <a:off x="5957535" y="581025"/>
            <a:ext cx="6372939" cy="1242670"/>
          </a:xfrm>
          <a:prstGeom prst="rect">
            <a:avLst/>
          </a:prstGeom>
        </p:spPr>
        <p:txBody>
          <a:bodyPr anchor="t" rtlCol="false" tIns="0" lIns="0" bIns="0" rIns="0">
            <a:spAutoFit/>
          </a:bodyPr>
          <a:lstStyle/>
          <a:p>
            <a:pPr algn="ctr">
              <a:lnSpc>
                <a:spcPts val="9939"/>
              </a:lnSpc>
            </a:pPr>
            <a:r>
              <a:rPr lang="en-US" sz="6998" spc="76">
                <a:solidFill>
                  <a:srgbClr val="473821"/>
                </a:solidFill>
                <a:latin typeface="Times New Roman"/>
                <a:ea typeface="Times New Roman"/>
                <a:cs typeface="Times New Roman"/>
                <a:sym typeface="Times New Roman"/>
              </a:rPr>
              <a:t>Mục tiêu:</a:t>
            </a:r>
          </a:p>
        </p:txBody>
      </p:sp>
      <p:sp>
        <p:nvSpPr>
          <p:cNvPr name="Freeform 6" id="6"/>
          <p:cNvSpPr/>
          <p:nvPr/>
        </p:nvSpPr>
        <p:spPr>
          <a:xfrm flipH="true" flipV="true" rot="0">
            <a:off x="14579965" y="260318"/>
            <a:ext cx="3388214" cy="3320453"/>
          </a:xfrm>
          <a:custGeom>
            <a:avLst/>
            <a:gdLst/>
            <a:ahLst/>
            <a:cxnLst/>
            <a:rect r="r" b="b" t="t" l="l"/>
            <a:pathLst>
              <a:path h="3320453" w="3388214">
                <a:moveTo>
                  <a:pt x="3388214" y="3320453"/>
                </a:moveTo>
                <a:lnTo>
                  <a:pt x="0" y="3320453"/>
                </a:lnTo>
                <a:lnTo>
                  <a:pt x="0" y="0"/>
                </a:lnTo>
                <a:lnTo>
                  <a:pt x="3388214" y="0"/>
                </a:lnTo>
                <a:lnTo>
                  <a:pt x="3388214" y="3320453"/>
                </a:lnTo>
                <a:close/>
              </a:path>
            </a:pathLst>
          </a:custGeom>
          <a:blipFill>
            <a:blip r:embed="rId3">
              <a:extLst>
                <a:ext uri="{96DAC541-7B7A-43D3-8B79-37D633B846F1}">
                  <asvg:svgBlip xmlns:asvg="http://schemas.microsoft.com/office/drawing/2016/SVG/main" r:embed="rId4"/>
                </a:ext>
              </a:extLst>
            </a:blip>
            <a:stretch>
              <a:fillRect l="0" t="-160" r="0" b="-160"/>
            </a:stretch>
          </a:blipFill>
        </p:spPr>
      </p:sp>
      <p:sp>
        <p:nvSpPr>
          <p:cNvPr name="TextBox 7" id="7"/>
          <p:cNvSpPr txBox="true"/>
          <p:nvPr/>
        </p:nvSpPr>
        <p:spPr>
          <a:xfrm rot="0">
            <a:off x="17332862" y="9067800"/>
            <a:ext cx="379809" cy="804545"/>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5</a:t>
            </a:r>
          </a:p>
        </p:txBody>
      </p:sp>
      <p:sp>
        <p:nvSpPr>
          <p:cNvPr name="Freeform 8" id="8"/>
          <p:cNvSpPr/>
          <p:nvPr/>
        </p:nvSpPr>
        <p:spPr>
          <a:xfrm flipH="false" flipV="false" rot="0">
            <a:off x="1356995" y="1660188"/>
            <a:ext cx="15574020" cy="7598112"/>
          </a:xfrm>
          <a:custGeom>
            <a:avLst/>
            <a:gdLst/>
            <a:ahLst/>
            <a:cxnLst/>
            <a:rect r="r" b="b" t="t" l="l"/>
            <a:pathLst>
              <a:path h="7598112" w="15574020">
                <a:moveTo>
                  <a:pt x="0" y="0"/>
                </a:moveTo>
                <a:lnTo>
                  <a:pt x="15574020" y="0"/>
                </a:lnTo>
                <a:lnTo>
                  <a:pt x="15574020" y="7598112"/>
                </a:lnTo>
                <a:lnTo>
                  <a:pt x="0" y="75981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1356995" y="2062591"/>
            <a:ext cx="14567175" cy="6057334"/>
          </a:xfrm>
          <a:prstGeom prst="rect">
            <a:avLst/>
          </a:prstGeom>
        </p:spPr>
        <p:txBody>
          <a:bodyPr anchor="t" rtlCol="false" tIns="0" lIns="0" bIns="0" rIns="0">
            <a:spAutoFit/>
          </a:bodyPr>
          <a:lstStyle/>
          <a:p>
            <a:pPr algn="l" marL="712472" indent="-356236" lvl="1">
              <a:lnSpc>
                <a:spcPts val="5388"/>
              </a:lnSpc>
              <a:buFont typeface="Arial"/>
              <a:buChar char="•"/>
            </a:pPr>
            <a:r>
              <a:rPr lang="en-US" b="true" sz="3300">
                <a:solidFill>
                  <a:srgbClr val="473821"/>
                </a:solidFill>
                <a:latin typeface="Times New Roman Bold"/>
                <a:ea typeface="Times New Roman Bold"/>
                <a:cs typeface="Times New Roman Bold"/>
                <a:sym typeface="Times New Roman Bold"/>
              </a:rPr>
              <a:t>Xây dựng hệ thống dự báo điểm tín dụng cá nhân dựa trên:</a:t>
            </a:r>
          </a:p>
          <a:p>
            <a:pPr algn="l" marL="1424943" indent="-474981" lvl="2">
              <a:lnSpc>
                <a:spcPts val="5388"/>
              </a:lnSpc>
              <a:buFont typeface="Arial"/>
              <a:buChar char="⚬"/>
            </a:pPr>
            <a:r>
              <a:rPr lang="en-US" b="true" sz="3300">
                <a:solidFill>
                  <a:srgbClr val="473821"/>
                </a:solidFill>
                <a:latin typeface="Times New Roman Bold"/>
                <a:ea typeface="Times New Roman Bold"/>
                <a:cs typeface="Times New Roman Bold"/>
                <a:sym typeface="Times New Roman Bold"/>
              </a:rPr>
              <a:t>Ngành nghề</a:t>
            </a:r>
          </a:p>
          <a:p>
            <a:pPr algn="l" marL="1424943" indent="-474981" lvl="2">
              <a:lnSpc>
                <a:spcPts val="5388"/>
              </a:lnSpc>
              <a:buFont typeface="Arial"/>
              <a:buChar char="⚬"/>
            </a:pPr>
            <a:r>
              <a:rPr lang="en-US" b="true" sz="3300">
                <a:solidFill>
                  <a:srgbClr val="473821"/>
                </a:solidFill>
                <a:latin typeface="Times New Roman Bold"/>
                <a:ea typeface="Times New Roman Bold"/>
                <a:cs typeface="Times New Roman Bold"/>
                <a:sym typeface="Times New Roman Bold"/>
              </a:rPr>
              <a:t>Thu nhập</a:t>
            </a:r>
          </a:p>
          <a:p>
            <a:pPr algn="l" marL="1424943" indent="-474981" lvl="2">
              <a:lnSpc>
                <a:spcPts val="5388"/>
              </a:lnSpc>
              <a:buFont typeface="Arial"/>
              <a:buChar char="⚬"/>
            </a:pPr>
            <a:r>
              <a:rPr lang="en-US" b="true" sz="3300">
                <a:solidFill>
                  <a:srgbClr val="473821"/>
                </a:solidFill>
                <a:latin typeface="Times New Roman Bold"/>
                <a:ea typeface="Times New Roman Bold"/>
                <a:cs typeface="Times New Roman Bold"/>
                <a:sym typeface="Times New Roman Bold"/>
              </a:rPr>
              <a:t>Chi tiêu.</a:t>
            </a:r>
          </a:p>
          <a:p>
            <a:pPr algn="l" marL="1424943" indent="-474981" lvl="2">
              <a:lnSpc>
                <a:spcPts val="5388"/>
              </a:lnSpc>
              <a:buFont typeface="Arial"/>
              <a:buChar char="⚬"/>
            </a:pPr>
            <a:r>
              <a:rPr lang="en-US" b="true" sz="3300">
                <a:solidFill>
                  <a:srgbClr val="473821"/>
                </a:solidFill>
                <a:latin typeface="Times New Roman Bold"/>
                <a:ea typeface="Times New Roman Bold"/>
                <a:cs typeface="Times New Roman Bold"/>
                <a:sym typeface="Times New Roman Bold"/>
              </a:rPr>
              <a:t>Nợ.</a:t>
            </a:r>
          </a:p>
          <a:p>
            <a:pPr algn="l" marL="1424943" indent="-474981" lvl="2">
              <a:lnSpc>
                <a:spcPts val="5388"/>
              </a:lnSpc>
              <a:buFont typeface="Arial"/>
              <a:buChar char="⚬"/>
            </a:pPr>
            <a:r>
              <a:rPr lang="en-US" b="true" sz="3300">
                <a:solidFill>
                  <a:srgbClr val="473821"/>
                </a:solidFill>
                <a:latin typeface="Times New Roman Bold"/>
                <a:ea typeface="Times New Roman Bold"/>
                <a:cs typeface="Times New Roman Bold"/>
                <a:sym typeface="Times New Roman Bold"/>
              </a:rPr>
              <a:t>Hành vi và lịch sử tín dụng</a:t>
            </a:r>
          </a:p>
          <a:p>
            <a:pPr algn="l" marL="712472" indent="-356236" lvl="1">
              <a:lnSpc>
                <a:spcPts val="5388"/>
              </a:lnSpc>
              <a:buFont typeface="Arial"/>
              <a:buChar char="•"/>
            </a:pPr>
            <a:r>
              <a:rPr lang="en-US" b="true" sz="3300">
                <a:solidFill>
                  <a:srgbClr val="473821"/>
                </a:solidFill>
                <a:latin typeface="Times New Roman Bold"/>
                <a:ea typeface="Times New Roman Bold"/>
                <a:cs typeface="Times New Roman Bold"/>
                <a:sym typeface="Times New Roman Bold"/>
              </a:rPr>
              <a:t>Áp dụng:</a:t>
            </a:r>
          </a:p>
          <a:p>
            <a:pPr algn="l" marL="1424943" indent="-474981" lvl="2">
              <a:lnSpc>
                <a:spcPts val="5388"/>
              </a:lnSpc>
              <a:buFont typeface="Arial"/>
              <a:buChar char="⚬"/>
            </a:pPr>
            <a:r>
              <a:rPr lang="en-US" b="true" sz="3300">
                <a:solidFill>
                  <a:srgbClr val="473821"/>
                </a:solidFill>
                <a:latin typeface="Times New Roman Bold"/>
                <a:ea typeface="Times New Roman Bold"/>
                <a:cs typeface="Times New Roman Bold"/>
                <a:sym typeface="Times New Roman Bold"/>
              </a:rPr>
              <a:t>Mô hình biểu diễn tri thức</a:t>
            </a:r>
          </a:p>
          <a:p>
            <a:pPr algn="l" marL="1424943" indent="-474981" lvl="2">
              <a:lnSpc>
                <a:spcPts val="5390"/>
              </a:lnSpc>
              <a:buFont typeface="Arial"/>
              <a:buChar char="⚬"/>
            </a:pPr>
            <a:r>
              <a:rPr lang="en-US" b="true" sz="3300">
                <a:solidFill>
                  <a:srgbClr val="473821"/>
                </a:solidFill>
                <a:latin typeface="Times New Roman Bold"/>
                <a:ea typeface="Times New Roman Bold"/>
                <a:cs typeface="Times New Roman Bold"/>
                <a:sym typeface="Times New Roman Bold"/>
              </a:rPr>
              <a:t>Luật suy luận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17028" t="0" r="-17028" b="0"/>
              </a:stretch>
            </a:blipFill>
          </p:spPr>
        </p:sp>
      </p:grpSp>
      <p:sp>
        <p:nvSpPr>
          <p:cNvPr name="Freeform 4" id="4"/>
          <p:cNvSpPr/>
          <p:nvPr/>
        </p:nvSpPr>
        <p:spPr>
          <a:xfrm flipH="false" flipV="true" rot="0">
            <a:off x="319821" y="260318"/>
            <a:ext cx="3388214" cy="3320453"/>
          </a:xfrm>
          <a:custGeom>
            <a:avLst/>
            <a:gdLst/>
            <a:ahLst/>
            <a:cxnLst/>
            <a:rect r="r" b="b" t="t" l="l"/>
            <a:pathLst>
              <a:path h="3320453" w="3388214">
                <a:moveTo>
                  <a:pt x="0" y="3320453"/>
                </a:moveTo>
                <a:lnTo>
                  <a:pt x="3388214" y="3320453"/>
                </a:lnTo>
                <a:lnTo>
                  <a:pt x="3388214" y="0"/>
                </a:lnTo>
                <a:lnTo>
                  <a:pt x="0" y="0"/>
                </a:lnTo>
                <a:lnTo>
                  <a:pt x="0" y="3320453"/>
                </a:lnTo>
                <a:close/>
              </a:path>
            </a:pathLst>
          </a:custGeom>
          <a:blipFill>
            <a:blip r:embed="rId3">
              <a:extLst>
                <a:ext uri="{96DAC541-7B7A-43D3-8B79-37D633B846F1}">
                  <asvg:svgBlip xmlns:asvg="http://schemas.microsoft.com/office/drawing/2016/SVG/main" r:embed="rId4"/>
                </a:ext>
              </a:extLst>
            </a:blip>
            <a:stretch>
              <a:fillRect l="0" t="-160" r="0" b="-160"/>
            </a:stretch>
          </a:blipFill>
        </p:spPr>
      </p:sp>
      <p:sp>
        <p:nvSpPr>
          <p:cNvPr name="Freeform 5" id="5"/>
          <p:cNvSpPr/>
          <p:nvPr/>
        </p:nvSpPr>
        <p:spPr>
          <a:xfrm flipH="true" flipV="true" rot="0">
            <a:off x="14579965" y="260318"/>
            <a:ext cx="3388214" cy="3320453"/>
          </a:xfrm>
          <a:custGeom>
            <a:avLst/>
            <a:gdLst/>
            <a:ahLst/>
            <a:cxnLst/>
            <a:rect r="r" b="b" t="t" l="l"/>
            <a:pathLst>
              <a:path h="3320453" w="3388214">
                <a:moveTo>
                  <a:pt x="3388214" y="3320453"/>
                </a:moveTo>
                <a:lnTo>
                  <a:pt x="0" y="3320453"/>
                </a:lnTo>
                <a:lnTo>
                  <a:pt x="0" y="0"/>
                </a:lnTo>
                <a:lnTo>
                  <a:pt x="3388214" y="0"/>
                </a:lnTo>
                <a:lnTo>
                  <a:pt x="3388214" y="3320453"/>
                </a:lnTo>
                <a:close/>
              </a:path>
            </a:pathLst>
          </a:custGeom>
          <a:blipFill>
            <a:blip r:embed="rId3">
              <a:extLst>
                <a:ext uri="{96DAC541-7B7A-43D3-8B79-37D633B846F1}">
                  <asvg:svgBlip xmlns:asvg="http://schemas.microsoft.com/office/drawing/2016/SVG/main" r:embed="rId4"/>
                </a:ext>
              </a:extLst>
            </a:blip>
            <a:stretch>
              <a:fillRect l="0" t="-160" r="0" b="-160"/>
            </a:stretch>
          </a:blipFill>
        </p:spPr>
      </p:sp>
      <p:sp>
        <p:nvSpPr>
          <p:cNvPr name="Freeform 6" id="6"/>
          <p:cNvSpPr/>
          <p:nvPr/>
        </p:nvSpPr>
        <p:spPr>
          <a:xfrm flipH="false" flipV="false" rot="0">
            <a:off x="2013928" y="1694328"/>
            <a:ext cx="14947332" cy="7230772"/>
          </a:xfrm>
          <a:custGeom>
            <a:avLst/>
            <a:gdLst/>
            <a:ahLst/>
            <a:cxnLst/>
            <a:rect r="r" b="b" t="t" l="l"/>
            <a:pathLst>
              <a:path h="7230772" w="14947332">
                <a:moveTo>
                  <a:pt x="0" y="0"/>
                </a:moveTo>
                <a:lnTo>
                  <a:pt x="14947332" y="0"/>
                </a:lnTo>
                <a:lnTo>
                  <a:pt x="14947332" y="7230772"/>
                </a:lnTo>
                <a:lnTo>
                  <a:pt x="0" y="7230772"/>
                </a:lnTo>
                <a:lnTo>
                  <a:pt x="0" y="0"/>
                </a:lnTo>
                <a:close/>
              </a:path>
            </a:pathLst>
          </a:custGeom>
          <a:blipFill>
            <a:blip r:embed="rId5"/>
            <a:stretch>
              <a:fillRect l="0" t="0" r="0" b="0"/>
            </a:stretch>
          </a:blipFill>
        </p:spPr>
      </p:sp>
      <p:sp>
        <p:nvSpPr>
          <p:cNvPr name="TextBox 7" id="7"/>
          <p:cNvSpPr txBox="true"/>
          <p:nvPr/>
        </p:nvSpPr>
        <p:spPr>
          <a:xfrm rot="0">
            <a:off x="5236216" y="123177"/>
            <a:ext cx="7815567" cy="1317600"/>
          </a:xfrm>
          <a:prstGeom prst="rect">
            <a:avLst/>
          </a:prstGeom>
        </p:spPr>
        <p:txBody>
          <a:bodyPr anchor="t" rtlCol="false" tIns="0" lIns="0" bIns="0" rIns="0">
            <a:spAutoFit/>
          </a:bodyPr>
          <a:lstStyle/>
          <a:p>
            <a:pPr algn="ctr">
              <a:lnSpc>
                <a:spcPts val="10486"/>
              </a:lnSpc>
            </a:pPr>
            <a:r>
              <a:rPr lang="en-US" sz="7384" spc="81">
                <a:solidFill>
                  <a:srgbClr val="473821"/>
                </a:solidFill>
                <a:latin typeface="Times New Roman"/>
                <a:ea typeface="Times New Roman"/>
                <a:cs typeface="Times New Roman"/>
                <a:sym typeface="Times New Roman"/>
              </a:rPr>
              <a:t>Mục tiêu</a:t>
            </a:r>
          </a:p>
        </p:txBody>
      </p:sp>
      <p:sp>
        <p:nvSpPr>
          <p:cNvPr name="TextBox 8" id="8"/>
          <p:cNvSpPr txBox="true"/>
          <p:nvPr/>
        </p:nvSpPr>
        <p:spPr>
          <a:xfrm rot="0">
            <a:off x="17332862" y="9067800"/>
            <a:ext cx="379809" cy="899798"/>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6</a:t>
            </a:r>
          </a:p>
        </p:txBody>
      </p:sp>
      <p:sp>
        <p:nvSpPr>
          <p:cNvPr name="TextBox 9" id="9"/>
          <p:cNvSpPr txBox="true"/>
          <p:nvPr/>
        </p:nvSpPr>
        <p:spPr>
          <a:xfrm rot="0">
            <a:off x="7634510" y="9124950"/>
            <a:ext cx="2274808" cy="511175"/>
          </a:xfrm>
          <a:prstGeom prst="rect">
            <a:avLst/>
          </a:prstGeom>
        </p:spPr>
        <p:txBody>
          <a:bodyPr anchor="t" rtlCol="false" tIns="0" lIns="0" bIns="0" rIns="0">
            <a:spAutoFit/>
          </a:bodyPr>
          <a:lstStyle/>
          <a:p>
            <a:pPr algn="ctr">
              <a:lnSpc>
                <a:spcPts val="4299"/>
              </a:lnSpc>
              <a:spcBef>
                <a:spcPct val="0"/>
              </a:spcBef>
            </a:pPr>
            <a:r>
              <a:rPr lang="en-US" sz="2499">
                <a:solidFill>
                  <a:srgbClr val="FBFBFB"/>
                </a:solidFill>
                <a:latin typeface="Times New Roman"/>
                <a:ea typeface="Times New Roman"/>
                <a:cs typeface="Times New Roman"/>
                <a:sym typeface="Times New Roman"/>
              </a:rPr>
              <a:t>Hình 1. Giao diện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17028" t="0" r="-17028" b="0"/>
              </a:stretch>
            </a:blipFill>
          </p:spPr>
        </p:sp>
      </p:grpSp>
      <p:sp>
        <p:nvSpPr>
          <p:cNvPr name="Freeform 4" id="4"/>
          <p:cNvSpPr/>
          <p:nvPr/>
        </p:nvSpPr>
        <p:spPr>
          <a:xfrm flipH="false" flipV="true" rot="0">
            <a:off x="494920" y="479192"/>
            <a:ext cx="3388214" cy="3320453"/>
          </a:xfrm>
          <a:custGeom>
            <a:avLst/>
            <a:gdLst/>
            <a:ahLst/>
            <a:cxnLst/>
            <a:rect r="r" b="b" t="t" l="l"/>
            <a:pathLst>
              <a:path h="3320453" w="3388214">
                <a:moveTo>
                  <a:pt x="0" y="3320453"/>
                </a:moveTo>
                <a:lnTo>
                  <a:pt x="3388214" y="3320453"/>
                </a:lnTo>
                <a:lnTo>
                  <a:pt x="3388214" y="0"/>
                </a:lnTo>
                <a:lnTo>
                  <a:pt x="0" y="0"/>
                </a:lnTo>
                <a:lnTo>
                  <a:pt x="0" y="3320453"/>
                </a:lnTo>
                <a:close/>
              </a:path>
            </a:pathLst>
          </a:custGeom>
          <a:blipFill>
            <a:blip r:embed="rId3">
              <a:extLst>
                <a:ext uri="{96DAC541-7B7A-43D3-8B79-37D633B846F1}">
                  <asvg:svgBlip xmlns:asvg="http://schemas.microsoft.com/office/drawing/2016/SVG/main" r:embed="rId4"/>
                </a:ext>
              </a:extLst>
            </a:blip>
            <a:stretch>
              <a:fillRect l="0" t="-160" r="0" b="-160"/>
            </a:stretch>
          </a:blipFill>
        </p:spPr>
      </p:sp>
      <p:sp>
        <p:nvSpPr>
          <p:cNvPr name="Freeform 5" id="5"/>
          <p:cNvSpPr/>
          <p:nvPr/>
        </p:nvSpPr>
        <p:spPr>
          <a:xfrm flipH="true" flipV="true" rot="0">
            <a:off x="14579965" y="260318"/>
            <a:ext cx="3388214" cy="3320453"/>
          </a:xfrm>
          <a:custGeom>
            <a:avLst/>
            <a:gdLst/>
            <a:ahLst/>
            <a:cxnLst/>
            <a:rect r="r" b="b" t="t" l="l"/>
            <a:pathLst>
              <a:path h="3320453" w="3388214">
                <a:moveTo>
                  <a:pt x="3388214" y="3320453"/>
                </a:moveTo>
                <a:lnTo>
                  <a:pt x="0" y="3320453"/>
                </a:lnTo>
                <a:lnTo>
                  <a:pt x="0" y="0"/>
                </a:lnTo>
                <a:lnTo>
                  <a:pt x="3388214" y="0"/>
                </a:lnTo>
                <a:lnTo>
                  <a:pt x="3388214" y="3320453"/>
                </a:lnTo>
                <a:close/>
              </a:path>
            </a:pathLst>
          </a:custGeom>
          <a:blipFill>
            <a:blip r:embed="rId3">
              <a:extLst>
                <a:ext uri="{96DAC541-7B7A-43D3-8B79-37D633B846F1}">
                  <asvg:svgBlip xmlns:asvg="http://schemas.microsoft.com/office/drawing/2016/SVG/main" r:embed="rId4"/>
                </a:ext>
              </a:extLst>
            </a:blip>
            <a:stretch>
              <a:fillRect l="0" t="-160" r="0" b="-160"/>
            </a:stretch>
          </a:blipFill>
        </p:spPr>
      </p:sp>
      <p:sp>
        <p:nvSpPr>
          <p:cNvPr name="TextBox 6" id="6"/>
          <p:cNvSpPr txBox="true"/>
          <p:nvPr/>
        </p:nvSpPr>
        <p:spPr>
          <a:xfrm rot="0">
            <a:off x="17332862" y="9067800"/>
            <a:ext cx="379809" cy="899798"/>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7</a:t>
            </a:r>
          </a:p>
        </p:txBody>
      </p:sp>
      <p:sp>
        <p:nvSpPr>
          <p:cNvPr name="TextBox 7" id="7"/>
          <p:cNvSpPr txBox="true"/>
          <p:nvPr/>
        </p:nvSpPr>
        <p:spPr>
          <a:xfrm rot="0">
            <a:off x="2758650" y="2886713"/>
            <a:ext cx="12770710" cy="3454400"/>
          </a:xfrm>
          <a:prstGeom prst="rect">
            <a:avLst/>
          </a:prstGeom>
        </p:spPr>
        <p:txBody>
          <a:bodyPr anchor="t" rtlCol="false" tIns="0" lIns="0" bIns="0" rIns="0">
            <a:spAutoFit/>
          </a:bodyPr>
          <a:lstStyle/>
          <a:p>
            <a:pPr algn="ctr">
              <a:lnSpc>
                <a:spcPts val="13720"/>
              </a:lnSpc>
            </a:pPr>
            <a:r>
              <a:rPr lang="en-US" sz="9600">
                <a:solidFill>
                  <a:srgbClr val="473821"/>
                </a:solidFill>
                <a:latin typeface="Times New Roman"/>
                <a:ea typeface="Times New Roman"/>
                <a:cs typeface="Times New Roman"/>
                <a:sym typeface="Times New Roman"/>
              </a:rPr>
              <a:t>II. Thu thập tri thức</a:t>
            </a:r>
          </a:p>
          <a:p>
            <a:pPr algn="ctr">
              <a:lnSpc>
                <a:spcPts val="13720"/>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17028" t="0" r="-17028" b="0"/>
              </a:stretch>
            </a:blipFill>
          </p:spPr>
        </p:sp>
      </p:grpSp>
      <p:sp>
        <p:nvSpPr>
          <p:cNvPr name="Freeform 4" id="4"/>
          <p:cNvSpPr/>
          <p:nvPr/>
        </p:nvSpPr>
        <p:spPr>
          <a:xfrm flipH="false" flipV="false" rot="0">
            <a:off x="1882793" y="889457"/>
            <a:ext cx="14522414" cy="9078141"/>
          </a:xfrm>
          <a:custGeom>
            <a:avLst/>
            <a:gdLst/>
            <a:ahLst/>
            <a:cxnLst/>
            <a:rect r="r" b="b" t="t" l="l"/>
            <a:pathLst>
              <a:path h="9078141" w="14522414">
                <a:moveTo>
                  <a:pt x="0" y="0"/>
                </a:moveTo>
                <a:lnTo>
                  <a:pt x="14522414" y="0"/>
                </a:lnTo>
                <a:lnTo>
                  <a:pt x="14522414" y="9078141"/>
                </a:lnTo>
                <a:lnTo>
                  <a:pt x="0" y="90781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2073271" y="1522613"/>
            <a:ext cx="14079913" cy="7735687"/>
          </a:xfrm>
          <a:prstGeom prst="rect">
            <a:avLst/>
          </a:prstGeom>
        </p:spPr>
        <p:txBody>
          <a:bodyPr anchor="t" rtlCol="false" tIns="0" lIns="0" bIns="0" rIns="0">
            <a:spAutoFit/>
          </a:bodyPr>
          <a:lstStyle/>
          <a:p>
            <a:pPr algn="just">
              <a:lnSpc>
                <a:spcPts val="5613"/>
              </a:lnSpc>
            </a:pPr>
            <a:r>
              <a:rPr lang="en-US" b="true" sz="3437">
                <a:solidFill>
                  <a:srgbClr val="473821"/>
                </a:solidFill>
                <a:latin typeface="Times New Roman Bold"/>
                <a:ea typeface="Times New Roman Bold"/>
                <a:cs typeface="Times New Roman Bold"/>
                <a:sym typeface="Times New Roman Bold"/>
              </a:rPr>
              <a:t>Nguồn tri thức:</a:t>
            </a:r>
          </a:p>
          <a:p>
            <a:pPr algn="l" marL="1484379" indent="-494793" lvl="2">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Tri thức của hệ thống được xây dựng từ tập dữ liệu giả lập gồm 150 cá nhân.</a:t>
            </a:r>
          </a:p>
          <a:p>
            <a:pPr algn="l">
              <a:lnSpc>
                <a:spcPts val="5613"/>
              </a:lnSpc>
            </a:pPr>
            <a:r>
              <a:rPr lang="en-US" sz="3437" b="true">
                <a:solidFill>
                  <a:srgbClr val="473821"/>
                </a:solidFill>
                <a:latin typeface="Times New Roman Bold"/>
                <a:ea typeface="Times New Roman Bold"/>
                <a:cs typeface="Times New Roman Bold"/>
                <a:sym typeface="Times New Roman Bold"/>
              </a:rPr>
              <a:t>      Tri thức tham khảo:</a:t>
            </a:r>
          </a:p>
          <a:p>
            <a:pPr algn="l" marL="1484379" indent="-494793" lvl="2">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Tham khảo nguyên lý đánh giá điểm tín dụng (mô hình FICO).</a:t>
            </a:r>
          </a:p>
          <a:p>
            <a:pPr algn="l" marL="1484379" indent="-494793" lvl="2">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Gồm các yếu tố:</a:t>
            </a:r>
          </a:p>
          <a:p>
            <a:pPr algn="l" marL="2226569" indent="-556642" lvl="3">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Hành vi trả nợ</a:t>
            </a:r>
          </a:p>
          <a:p>
            <a:pPr algn="l" marL="2226569" indent="-556642" lvl="3">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Mức độ nợ</a:t>
            </a:r>
          </a:p>
          <a:p>
            <a:pPr algn="l" marL="2226569" indent="-556642" lvl="3">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Lịch sử tín dụng</a:t>
            </a:r>
          </a:p>
          <a:p>
            <a:pPr algn="l" marL="2226569" indent="-556642" lvl="3">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Khả năng chi trả</a:t>
            </a:r>
          </a:p>
          <a:p>
            <a:pPr algn="l" marL="742190" indent="-371095" lvl="1">
              <a:lnSpc>
                <a:spcPts val="5614"/>
              </a:lnSpc>
              <a:buFont typeface="Arial"/>
              <a:buChar char="•"/>
            </a:pPr>
          </a:p>
        </p:txBody>
      </p:sp>
      <p:sp>
        <p:nvSpPr>
          <p:cNvPr name="Freeform 6" id="6"/>
          <p:cNvSpPr/>
          <p:nvPr/>
        </p:nvSpPr>
        <p:spPr>
          <a:xfrm flipH="false" flipV="false" rot="0">
            <a:off x="8409902" y="4937948"/>
            <a:ext cx="6480529" cy="4320352"/>
          </a:xfrm>
          <a:custGeom>
            <a:avLst/>
            <a:gdLst/>
            <a:ahLst/>
            <a:cxnLst/>
            <a:rect r="r" b="b" t="t" l="l"/>
            <a:pathLst>
              <a:path h="4320352" w="6480529">
                <a:moveTo>
                  <a:pt x="0" y="0"/>
                </a:moveTo>
                <a:lnTo>
                  <a:pt x="6480529" y="0"/>
                </a:lnTo>
                <a:lnTo>
                  <a:pt x="6480529" y="4320352"/>
                </a:lnTo>
                <a:lnTo>
                  <a:pt x="0" y="4320352"/>
                </a:lnTo>
                <a:lnTo>
                  <a:pt x="0" y="0"/>
                </a:lnTo>
                <a:close/>
              </a:path>
            </a:pathLst>
          </a:custGeom>
          <a:blipFill>
            <a:blip r:embed="rId5"/>
            <a:stretch>
              <a:fillRect l="0" t="0" r="0" b="0"/>
            </a:stretch>
          </a:blipFill>
        </p:spPr>
      </p:sp>
      <p:sp>
        <p:nvSpPr>
          <p:cNvPr name="TextBox 7" id="7"/>
          <p:cNvSpPr txBox="true"/>
          <p:nvPr/>
        </p:nvSpPr>
        <p:spPr>
          <a:xfrm rot="0">
            <a:off x="17143019" y="9067800"/>
            <a:ext cx="759504" cy="804545"/>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8</a:t>
            </a:r>
          </a:p>
        </p:txBody>
      </p:sp>
      <p:sp>
        <p:nvSpPr>
          <p:cNvPr name="TextBox 8" id="8"/>
          <p:cNvSpPr txBox="true"/>
          <p:nvPr/>
        </p:nvSpPr>
        <p:spPr>
          <a:xfrm rot="0">
            <a:off x="5061265" y="-200025"/>
            <a:ext cx="7815567" cy="1317600"/>
          </a:xfrm>
          <a:prstGeom prst="rect">
            <a:avLst/>
          </a:prstGeom>
        </p:spPr>
        <p:txBody>
          <a:bodyPr anchor="t" rtlCol="false" tIns="0" lIns="0" bIns="0" rIns="0">
            <a:spAutoFit/>
          </a:bodyPr>
          <a:lstStyle/>
          <a:p>
            <a:pPr algn="ctr">
              <a:lnSpc>
                <a:spcPts val="10486"/>
              </a:lnSpc>
            </a:pPr>
            <a:r>
              <a:rPr lang="en-US" sz="7384" spc="81">
                <a:solidFill>
                  <a:srgbClr val="473821"/>
                </a:solidFill>
                <a:latin typeface="Times New Roman"/>
                <a:ea typeface="Times New Roman"/>
                <a:cs typeface="Times New Roman"/>
                <a:sym typeface="Times New Roman"/>
              </a:rPr>
              <a:t>Thu thập tri thức</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17028" t="0" r="-17028" b="0"/>
              </a:stretch>
            </a:blipFill>
          </p:spPr>
        </p:sp>
      </p:grpSp>
      <p:sp>
        <p:nvSpPr>
          <p:cNvPr name="Freeform 4" id="4"/>
          <p:cNvSpPr/>
          <p:nvPr/>
        </p:nvSpPr>
        <p:spPr>
          <a:xfrm flipH="false" flipV="false" rot="0">
            <a:off x="1882793" y="889457"/>
            <a:ext cx="14522414" cy="9078141"/>
          </a:xfrm>
          <a:custGeom>
            <a:avLst/>
            <a:gdLst/>
            <a:ahLst/>
            <a:cxnLst/>
            <a:rect r="r" b="b" t="t" l="l"/>
            <a:pathLst>
              <a:path h="9078141" w="14522414">
                <a:moveTo>
                  <a:pt x="0" y="0"/>
                </a:moveTo>
                <a:lnTo>
                  <a:pt x="14522414" y="0"/>
                </a:lnTo>
                <a:lnTo>
                  <a:pt x="14522414" y="9078141"/>
                </a:lnTo>
                <a:lnTo>
                  <a:pt x="0" y="90781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7143019" y="9067800"/>
            <a:ext cx="759504" cy="804545"/>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9</a:t>
            </a:r>
          </a:p>
        </p:txBody>
      </p:sp>
      <p:sp>
        <p:nvSpPr>
          <p:cNvPr name="TextBox 6" id="6"/>
          <p:cNvSpPr txBox="true"/>
          <p:nvPr/>
        </p:nvSpPr>
        <p:spPr>
          <a:xfrm rot="0">
            <a:off x="1833854" y="857250"/>
            <a:ext cx="14270391" cy="5621210"/>
          </a:xfrm>
          <a:prstGeom prst="rect">
            <a:avLst/>
          </a:prstGeom>
        </p:spPr>
        <p:txBody>
          <a:bodyPr anchor="t" rtlCol="false" tIns="0" lIns="0" bIns="0" rIns="0">
            <a:spAutoFit/>
          </a:bodyPr>
          <a:lstStyle/>
          <a:p>
            <a:pPr algn="just">
              <a:lnSpc>
                <a:spcPts val="5613"/>
              </a:lnSpc>
            </a:pPr>
          </a:p>
          <a:p>
            <a:pPr algn="just">
              <a:lnSpc>
                <a:spcPts val="5613"/>
              </a:lnSpc>
            </a:pPr>
            <a:r>
              <a:rPr lang="en-US" b="true" sz="3437">
                <a:solidFill>
                  <a:srgbClr val="473821"/>
                </a:solidFill>
                <a:latin typeface="Times New Roman Bold"/>
                <a:ea typeface="Times New Roman Bold"/>
                <a:cs typeface="Times New Roman Bold"/>
                <a:sym typeface="Times New Roman Bold"/>
              </a:rPr>
              <a:t>Các thuộc tính trong dữ liệu</a:t>
            </a:r>
          </a:p>
          <a:p>
            <a:pPr algn="just" marL="1484379" indent="-494793" lvl="2">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Mỗi cá nhân được mô tả bởi:</a:t>
            </a:r>
          </a:p>
          <a:p>
            <a:pPr algn="just" marL="2226569" indent="-556642" lvl="3">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Ngành nghề ( job )</a:t>
            </a:r>
          </a:p>
          <a:p>
            <a:pPr algn="just" marL="2226569" indent="-556642" lvl="3">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Thu nhập hàng tháng ( Monthly Income )</a:t>
            </a:r>
          </a:p>
          <a:p>
            <a:pPr algn="just" marL="2226569" indent="-556642" lvl="3">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Chi tiêu hàng tháng ( Monthly Expense )</a:t>
            </a:r>
          </a:p>
          <a:p>
            <a:pPr algn="just" marL="2226569" indent="-556642" lvl="3">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Tổng nợ ( Total Debt )</a:t>
            </a:r>
          </a:p>
          <a:p>
            <a:pPr algn="just" marL="2226569" indent="-556642" lvl="3">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Hà</a:t>
            </a:r>
            <a:r>
              <a:rPr lang="en-US" b="true" sz="3437">
                <a:solidFill>
                  <a:srgbClr val="473821"/>
                </a:solidFill>
                <a:latin typeface="Times New Roman Bold"/>
                <a:ea typeface="Times New Roman Bold"/>
                <a:cs typeface="Times New Roman Bold"/>
                <a:sym typeface="Times New Roman Bold"/>
              </a:rPr>
              <a:t>nh vi và lịch sử tín dụng.</a:t>
            </a:r>
          </a:p>
        </p:txBody>
      </p:sp>
      <p:sp>
        <p:nvSpPr>
          <p:cNvPr name="TextBox 7" id="7"/>
          <p:cNvSpPr txBox="true"/>
          <p:nvPr/>
        </p:nvSpPr>
        <p:spPr>
          <a:xfrm rot="0">
            <a:off x="5061265" y="-200025"/>
            <a:ext cx="7815567" cy="1317600"/>
          </a:xfrm>
          <a:prstGeom prst="rect">
            <a:avLst/>
          </a:prstGeom>
        </p:spPr>
        <p:txBody>
          <a:bodyPr anchor="t" rtlCol="false" tIns="0" lIns="0" bIns="0" rIns="0">
            <a:spAutoFit/>
          </a:bodyPr>
          <a:lstStyle/>
          <a:p>
            <a:pPr algn="ctr">
              <a:lnSpc>
                <a:spcPts val="10486"/>
              </a:lnSpc>
            </a:pPr>
            <a:r>
              <a:rPr lang="en-US" sz="7384" spc="81">
                <a:solidFill>
                  <a:srgbClr val="473821"/>
                </a:solidFill>
                <a:latin typeface="Times New Roman"/>
                <a:ea typeface="Times New Roman"/>
                <a:cs typeface="Times New Roman"/>
                <a:sym typeface="Times New Roman"/>
              </a:rPr>
              <a:t>Thu thập tri thức</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17028" t="0" r="-17028" b="0"/>
              </a:stretch>
            </a:blipFill>
          </p:spPr>
        </p:sp>
      </p:grpSp>
      <p:sp>
        <p:nvSpPr>
          <p:cNvPr name="Freeform 4" id="4"/>
          <p:cNvSpPr/>
          <p:nvPr/>
        </p:nvSpPr>
        <p:spPr>
          <a:xfrm flipH="false" flipV="false" rot="0">
            <a:off x="1882793" y="889457"/>
            <a:ext cx="14522414" cy="9078141"/>
          </a:xfrm>
          <a:custGeom>
            <a:avLst/>
            <a:gdLst/>
            <a:ahLst/>
            <a:cxnLst/>
            <a:rect r="r" b="b" t="t" l="l"/>
            <a:pathLst>
              <a:path h="9078141" w="14522414">
                <a:moveTo>
                  <a:pt x="0" y="0"/>
                </a:moveTo>
                <a:lnTo>
                  <a:pt x="14522414" y="0"/>
                </a:lnTo>
                <a:lnTo>
                  <a:pt x="14522414" y="9078141"/>
                </a:lnTo>
                <a:lnTo>
                  <a:pt x="0" y="90781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7143019" y="9067800"/>
            <a:ext cx="759504" cy="899798"/>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10</a:t>
            </a:r>
          </a:p>
        </p:txBody>
      </p:sp>
      <p:sp>
        <p:nvSpPr>
          <p:cNvPr name="TextBox 6" id="6"/>
          <p:cNvSpPr txBox="true"/>
          <p:nvPr/>
        </p:nvSpPr>
        <p:spPr>
          <a:xfrm rot="0">
            <a:off x="1620145" y="817690"/>
            <a:ext cx="14270391" cy="11964860"/>
          </a:xfrm>
          <a:prstGeom prst="rect">
            <a:avLst/>
          </a:prstGeom>
        </p:spPr>
        <p:txBody>
          <a:bodyPr anchor="t" rtlCol="false" tIns="0" lIns="0" bIns="0" rIns="0">
            <a:spAutoFit/>
          </a:bodyPr>
          <a:lstStyle/>
          <a:p>
            <a:pPr algn="just">
              <a:lnSpc>
                <a:spcPts val="5613"/>
              </a:lnSpc>
            </a:pPr>
          </a:p>
          <a:p>
            <a:pPr algn="just">
              <a:lnSpc>
                <a:spcPts val="5613"/>
              </a:lnSpc>
            </a:pPr>
            <a:r>
              <a:rPr lang="en-US" b="true" sz="3437">
                <a:solidFill>
                  <a:srgbClr val="473821"/>
                </a:solidFill>
                <a:latin typeface="Times New Roman Bold"/>
                <a:ea typeface="Times New Roman Bold"/>
                <a:cs typeface="Times New Roman Bold"/>
                <a:sym typeface="Times New Roman Bold"/>
              </a:rPr>
              <a:t>Các thuộc tính trong dữ liệu</a:t>
            </a:r>
          </a:p>
          <a:p>
            <a:pPr algn="just" marL="1484379" indent="-494793" lvl="2">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Hành vi và lịch sử tín dụng.</a:t>
            </a:r>
          </a:p>
          <a:p>
            <a:pPr algn="just" marL="2226569" indent="-556642" lvl="3">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Số lầ</a:t>
            </a:r>
            <a:r>
              <a:rPr lang="en-US" b="true" sz="3437">
                <a:solidFill>
                  <a:srgbClr val="473821"/>
                </a:solidFill>
                <a:latin typeface="Times New Roman Bold"/>
                <a:ea typeface="Times New Roman Bold"/>
                <a:cs typeface="Times New Roman Bold"/>
                <a:sym typeface="Times New Roman Bold"/>
              </a:rPr>
              <a:t>n trả chậm trong 12 tháng (late_payments_12m)</a:t>
            </a:r>
          </a:p>
          <a:p>
            <a:pPr algn="just" marL="2226569" indent="-556642" lvl="3">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Số năm lịch sử tín dụng cá nhân (credit_history_length_years)</a:t>
            </a:r>
          </a:p>
          <a:p>
            <a:pPr algn="just" marL="2226569" indent="-556642" lvl="3">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Số tài k</a:t>
            </a:r>
            <a:r>
              <a:rPr lang="en-US" b="true" sz="3437">
                <a:solidFill>
                  <a:srgbClr val="473821"/>
                </a:solidFill>
                <a:latin typeface="Times New Roman Bold"/>
                <a:ea typeface="Times New Roman Bold"/>
                <a:cs typeface="Times New Roman Bold"/>
                <a:sym typeface="Times New Roman Bold"/>
              </a:rPr>
              <a:t>hoản tín dụng mới (new_credit_accounts)</a:t>
            </a:r>
          </a:p>
          <a:p>
            <a:pPr algn="just" marL="2226569" indent="-556642" lvl="3">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Mức độ đa dạng tín dụng (credit_mix)</a:t>
            </a:r>
          </a:p>
          <a:p>
            <a:pPr algn="just" marL="1484379" indent="-494793" lvl="2">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Chỉ số tài chính dẫn xuất:</a:t>
            </a:r>
          </a:p>
          <a:p>
            <a:pPr algn="just" marL="2226569" indent="-556642" lvl="3">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Chỉ</a:t>
            </a:r>
            <a:r>
              <a:rPr lang="en-US" b="true" sz="3437">
                <a:solidFill>
                  <a:srgbClr val="473821"/>
                </a:solidFill>
                <a:latin typeface="Times New Roman Bold"/>
                <a:ea typeface="Times New Roman Bold"/>
                <a:cs typeface="Times New Roman Bold"/>
                <a:sym typeface="Times New Roman Bold"/>
              </a:rPr>
              <a:t> số khả năng chi trả ( income_expense_ratio ) </a:t>
            </a:r>
          </a:p>
          <a:p>
            <a:pPr algn="just" marL="2226569" indent="-556642" lvl="3">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Chỉ số rủi ro tài chính (debt_ratio).</a:t>
            </a:r>
          </a:p>
          <a:p>
            <a:pPr algn="just">
              <a:lnSpc>
                <a:spcPts val="5613"/>
              </a:lnSpc>
            </a:pPr>
            <a:r>
              <a:rPr lang="en-US" sz="3437" b="true">
                <a:solidFill>
                  <a:srgbClr val="473821"/>
                </a:solidFill>
                <a:latin typeface="Times New Roman Bold"/>
                <a:ea typeface="Times New Roman Bold"/>
                <a:cs typeface="Times New Roman Bold"/>
                <a:sym typeface="Times New Roman Bold"/>
              </a:rPr>
              <a:t>         </a:t>
            </a:r>
          </a:p>
          <a:p>
            <a:pPr algn="just">
              <a:lnSpc>
                <a:spcPts val="5613"/>
              </a:lnSpc>
            </a:pPr>
          </a:p>
          <a:p>
            <a:pPr algn="just">
              <a:lnSpc>
                <a:spcPts val="5613"/>
              </a:lnSpc>
            </a:pPr>
          </a:p>
          <a:p>
            <a:pPr algn="just">
              <a:lnSpc>
                <a:spcPts val="5613"/>
              </a:lnSpc>
            </a:pPr>
          </a:p>
          <a:p>
            <a:pPr algn="just">
              <a:lnSpc>
                <a:spcPts val="5613"/>
              </a:lnSpc>
            </a:pPr>
          </a:p>
          <a:p>
            <a:pPr algn="just">
              <a:lnSpc>
                <a:spcPts val="5613"/>
              </a:lnSpc>
            </a:pPr>
          </a:p>
          <a:p>
            <a:pPr algn="just">
              <a:lnSpc>
                <a:spcPts val="5613"/>
              </a:lnSpc>
            </a:pPr>
          </a:p>
        </p:txBody>
      </p:sp>
      <p:sp>
        <p:nvSpPr>
          <p:cNvPr name="TextBox 7" id="7"/>
          <p:cNvSpPr txBox="true"/>
          <p:nvPr/>
        </p:nvSpPr>
        <p:spPr>
          <a:xfrm rot="0">
            <a:off x="5061265" y="-200025"/>
            <a:ext cx="7815567" cy="1317600"/>
          </a:xfrm>
          <a:prstGeom prst="rect">
            <a:avLst/>
          </a:prstGeom>
        </p:spPr>
        <p:txBody>
          <a:bodyPr anchor="t" rtlCol="false" tIns="0" lIns="0" bIns="0" rIns="0">
            <a:spAutoFit/>
          </a:bodyPr>
          <a:lstStyle/>
          <a:p>
            <a:pPr algn="ctr">
              <a:lnSpc>
                <a:spcPts val="10486"/>
              </a:lnSpc>
            </a:pPr>
            <a:r>
              <a:rPr lang="en-US" sz="7384" spc="81">
                <a:solidFill>
                  <a:srgbClr val="473821"/>
                </a:solidFill>
                <a:latin typeface="Times New Roman"/>
                <a:ea typeface="Times New Roman"/>
                <a:cs typeface="Times New Roman"/>
                <a:sym typeface="Times New Roman"/>
              </a:rPr>
              <a:t>Thu thập tri thức</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650" y="0"/>
            <a:ext cx="18648394" cy="10489722"/>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17028" t="0" r="-17028" b="0"/>
              </a:stretch>
            </a:blipFill>
          </p:spPr>
        </p:sp>
      </p:grpSp>
      <p:grpSp>
        <p:nvGrpSpPr>
          <p:cNvPr name="Group 4" id="4"/>
          <p:cNvGrpSpPr/>
          <p:nvPr/>
        </p:nvGrpSpPr>
        <p:grpSpPr>
          <a:xfrm rot="0">
            <a:off x="348028" y="1117575"/>
            <a:ext cx="17670776" cy="3078490"/>
            <a:chOff x="0" y="0"/>
            <a:chExt cx="23561035" cy="4104653"/>
          </a:xfrm>
        </p:grpSpPr>
        <p:grpSp>
          <p:nvGrpSpPr>
            <p:cNvPr name="Group 5" id="5"/>
            <p:cNvGrpSpPr/>
            <p:nvPr/>
          </p:nvGrpSpPr>
          <p:grpSpPr>
            <a:xfrm rot="0">
              <a:off x="479795" y="0"/>
              <a:ext cx="10672134" cy="1430850"/>
              <a:chOff x="0" y="0"/>
              <a:chExt cx="2108076" cy="282637"/>
            </a:xfrm>
          </p:grpSpPr>
          <p:sp>
            <p:nvSpPr>
              <p:cNvPr name="Freeform 6" id="6"/>
              <p:cNvSpPr/>
              <p:nvPr/>
            </p:nvSpPr>
            <p:spPr>
              <a:xfrm flipH="false" flipV="false" rot="0">
                <a:off x="0" y="0"/>
                <a:ext cx="2108076" cy="282637"/>
              </a:xfrm>
              <a:custGeom>
                <a:avLst/>
                <a:gdLst/>
                <a:ahLst/>
                <a:cxnLst/>
                <a:rect r="r" b="b" t="t" l="l"/>
                <a:pathLst>
                  <a:path h="282637" w="2108076">
                    <a:moveTo>
                      <a:pt x="0" y="0"/>
                    </a:moveTo>
                    <a:lnTo>
                      <a:pt x="2108076" y="0"/>
                    </a:lnTo>
                    <a:lnTo>
                      <a:pt x="2108076" y="282637"/>
                    </a:lnTo>
                    <a:lnTo>
                      <a:pt x="0" y="282637"/>
                    </a:lnTo>
                    <a:close/>
                  </a:path>
                </a:pathLst>
              </a:custGeom>
              <a:solidFill>
                <a:srgbClr val="FFDE59"/>
              </a:solidFill>
            </p:spPr>
          </p:sp>
          <p:sp>
            <p:nvSpPr>
              <p:cNvPr name="TextBox 7" id="7"/>
              <p:cNvSpPr txBox="true"/>
              <p:nvPr/>
            </p:nvSpPr>
            <p:spPr>
              <a:xfrm>
                <a:off x="0" y="-38100"/>
                <a:ext cx="2108076" cy="320737"/>
              </a:xfrm>
              <a:prstGeom prst="rect">
                <a:avLst/>
              </a:prstGeom>
            </p:spPr>
            <p:txBody>
              <a:bodyPr anchor="ctr" rtlCol="false" tIns="50800" lIns="50800" bIns="50800" rIns="50800"/>
              <a:lstStyle/>
              <a:p>
                <a:pPr algn="ctr">
                  <a:lnSpc>
                    <a:spcPts val="2660"/>
                  </a:lnSpc>
                </a:pPr>
              </a:p>
            </p:txBody>
          </p:sp>
        </p:grpSp>
        <p:sp>
          <p:nvSpPr>
            <p:cNvPr name="Freeform 8" id="8"/>
            <p:cNvSpPr/>
            <p:nvPr/>
          </p:nvSpPr>
          <p:spPr>
            <a:xfrm flipH="false" flipV="false" rot="0">
              <a:off x="0" y="1571842"/>
              <a:ext cx="23561035" cy="2532811"/>
            </a:xfrm>
            <a:custGeom>
              <a:avLst/>
              <a:gdLst/>
              <a:ahLst/>
              <a:cxnLst/>
              <a:rect r="r" b="b" t="t" l="l"/>
              <a:pathLst>
                <a:path h="2532811" w="23561035">
                  <a:moveTo>
                    <a:pt x="0" y="0"/>
                  </a:moveTo>
                  <a:lnTo>
                    <a:pt x="23561035" y="0"/>
                  </a:lnTo>
                  <a:lnTo>
                    <a:pt x="23561035" y="2532811"/>
                  </a:lnTo>
                  <a:lnTo>
                    <a:pt x="0" y="2532811"/>
                  </a:lnTo>
                  <a:lnTo>
                    <a:pt x="0" y="0"/>
                  </a:lnTo>
                  <a:close/>
                </a:path>
              </a:pathLst>
            </a:custGeom>
            <a:blipFill>
              <a:blip r:embed="rId3"/>
              <a:stretch>
                <a:fillRect l="0" t="0" r="0" b="0"/>
              </a:stretch>
            </a:blipFill>
          </p:spPr>
        </p:sp>
        <p:sp>
          <p:nvSpPr>
            <p:cNvPr name="TextBox 9" id="9"/>
            <p:cNvSpPr txBox="true"/>
            <p:nvPr/>
          </p:nvSpPr>
          <p:spPr>
            <a:xfrm rot="0">
              <a:off x="907562" y="243716"/>
              <a:ext cx="9872937" cy="970110"/>
            </a:xfrm>
            <a:prstGeom prst="rect">
              <a:avLst/>
            </a:prstGeom>
          </p:spPr>
          <p:txBody>
            <a:bodyPr anchor="t" rtlCol="false" tIns="0" lIns="0" bIns="0" rIns="0">
              <a:spAutoFit/>
            </a:bodyPr>
            <a:lstStyle/>
            <a:p>
              <a:pPr algn="ctr">
                <a:lnSpc>
                  <a:spcPts val="6022"/>
                </a:lnSpc>
              </a:pPr>
              <a:r>
                <a:rPr lang="en-US" sz="4240" spc="46">
                  <a:solidFill>
                    <a:srgbClr val="473821"/>
                  </a:solidFill>
                  <a:latin typeface="Times New Roman"/>
                  <a:ea typeface="Times New Roman"/>
                  <a:cs typeface="Times New Roman"/>
                  <a:sym typeface="Times New Roman"/>
                </a:rPr>
                <a:t>Một số mẫu dữ liệu  (dạng csv)</a:t>
              </a:r>
            </a:p>
          </p:txBody>
        </p:sp>
      </p:grpSp>
      <p:grpSp>
        <p:nvGrpSpPr>
          <p:cNvPr name="Group 10" id="10"/>
          <p:cNvGrpSpPr/>
          <p:nvPr/>
        </p:nvGrpSpPr>
        <p:grpSpPr>
          <a:xfrm rot="0">
            <a:off x="1469585" y="4360471"/>
            <a:ext cx="13700653" cy="5694088"/>
            <a:chOff x="0" y="0"/>
            <a:chExt cx="18267538" cy="7592117"/>
          </a:xfrm>
        </p:grpSpPr>
        <p:grpSp>
          <p:nvGrpSpPr>
            <p:cNvPr name="Group 11" id="11"/>
            <p:cNvGrpSpPr/>
            <p:nvPr/>
          </p:nvGrpSpPr>
          <p:grpSpPr>
            <a:xfrm rot="0">
              <a:off x="0" y="3080634"/>
              <a:ext cx="8701884" cy="1430850"/>
              <a:chOff x="0" y="0"/>
              <a:chExt cx="1718891" cy="282637"/>
            </a:xfrm>
          </p:grpSpPr>
          <p:sp>
            <p:nvSpPr>
              <p:cNvPr name="Freeform 12" id="12"/>
              <p:cNvSpPr/>
              <p:nvPr/>
            </p:nvSpPr>
            <p:spPr>
              <a:xfrm flipH="false" flipV="false" rot="0">
                <a:off x="0" y="0"/>
                <a:ext cx="1718891" cy="282637"/>
              </a:xfrm>
              <a:custGeom>
                <a:avLst/>
                <a:gdLst/>
                <a:ahLst/>
                <a:cxnLst/>
                <a:rect r="r" b="b" t="t" l="l"/>
                <a:pathLst>
                  <a:path h="282637" w="1718891">
                    <a:moveTo>
                      <a:pt x="0" y="0"/>
                    </a:moveTo>
                    <a:lnTo>
                      <a:pt x="1718891" y="0"/>
                    </a:lnTo>
                    <a:lnTo>
                      <a:pt x="1718891" y="282637"/>
                    </a:lnTo>
                    <a:lnTo>
                      <a:pt x="0" y="282637"/>
                    </a:lnTo>
                    <a:close/>
                  </a:path>
                </a:pathLst>
              </a:custGeom>
              <a:solidFill>
                <a:srgbClr val="FFDE59"/>
              </a:solidFill>
            </p:spPr>
          </p:sp>
          <p:sp>
            <p:nvSpPr>
              <p:cNvPr name="TextBox 13" id="13"/>
              <p:cNvSpPr txBox="true"/>
              <p:nvPr/>
            </p:nvSpPr>
            <p:spPr>
              <a:xfrm>
                <a:off x="0" y="-38100"/>
                <a:ext cx="1718891" cy="320737"/>
              </a:xfrm>
              <a:prstGeom prst="rect">
                <a:avLst/>
              </a:prstGeom>
            </p:spPr>
            <p:txBody>
              <a:bodyPr anchor="ctr" rtlCol="false" tIns="50800" lIns="50800" bIns="50800" rIns="50800"/>
              <a:lstStyle/>
              <a:p>
                <a:pPr algn="ctr">
                  <a:lnSpc>
                    <a:spcPts val="2660"/>
                  </a:lnSpc>
                </a:pPr>
              </a:p>
            </p:txBody>
          </p:sp>
        </p:grpSp>
        <p:sp>
          <p:nvSpPr>
            <p:cNvPr name="Freeform 14" id="14"/>
            <p:cNvSpPr/>
            <p:nvPr/>
          </p:nvSpPr>
          <p:spPr>
            <a:xfrm flipH="false" flipV="false" rot="0">
              <a:off x="9413926" y="0"/>
              <a:ext cx="8853612" cy="7592117"/>
            </a:xfrm>
            <a:custGeom>
              <a:avLst/>
              <a:gdLst/>
              <a:ahLst/>
              <a:cxnLst/>
              <a:rect r="r" b="b" t="t" l="l"/>
              <a:pathLst>
                <a:path h="7592117" w="8853612">
                  <a:moveTo>
                    <a:pt x="0" y="0"/>
                  </a:moveTo>
                  <a:lnTo>
                    <a:pt x="8853612" y="0"/>
                  </a:lnTo>
                  <a:lnTo>
                    <a:pt x="8853612" y="7592117"/>
                  </a:lnTo>
                  <a:lnTo>
                    <a:pt x="0" y="7592117"/>
                  </a:lnTo>
                  <a:lnTo>
                    <a:pt x="0" y="0"/>
                  </a:lnTo>
                  <a:close/>
                </a:path>
              </a:pathLst>
            </a:custGeom>
            <a:blipFill>
              <a:blip r:embed="rId4"/>
              <a:stretch>
                <a:fillRect l="0" t="0" r="0" b="0"/>
              </a:stretch>
            </a:blipFill>
          </p:spPr>
        </p:sp>
        <p:sp>
          <p:nvSpPr>
            <p:cNvPr name="TextBox 15" id="15"/>
            <p:cNvSpPr txBox="true"/>
            <p:nvPr/>
          </p:nvSpPr>
          <p:spPr>
            <a:xfrm rot="0">
              <a:off x="954743" y="3288461"/>
              <a:ext cx="7747141" cy="900894"/>
            </a:xfrm>
            <a:prstGeom prst="rect">
              <a:avLst/>
            </a:prstGeom>
          </p:spPr>
          <p:txBody>
            <a:bodyPr anchor="t" rtlCol="false" tIns="0" lIns="0" bIns="0" rIns="0">
              <a:spAutoFit/>
            </a:bodyPr>
            <a:lstStyle/>
            <a:p>
              <a:pPr algn="ctr">
                <a:lnSpc>
                  <a:spcPts val="5523"/>
                </a:lnSpc>
              </a:pPr>
              <a:r>
                <a:rPr lang="en-US" sz="3889" spc="42">
                  <a:solidFill>
                    <a:srgbClr val="473821"/>
                  </a:solidFill>
                  <a:latin typeface="Times New Roman"/>
                  <a:ea typeface="Times New Roman"/>
                  <a:cs typeface="Times New Roman"/>
                  <a:sym typeface="Times New Roman"/>
                </a:rPr>
                <a:t>Mô tả bộ dữ liệu</a:t>
              </a:r>
            </a:p>
          </p:txBody>
        </p:sp>
      </p:grpSp>
      <p:sp>
        <p:nvSpPr>
          <p:cNvPr name="TextBox 16" id="16"/>
          <p:cNvSpPr txBox="true"/>
          <p:nvPr/>
        </p:nvSpPr>
        <p:spPr>
          <a:xfrm rot="0">
            <a:off x="5061265" y="-200025"/>
            <a:ext cx="7815567" cy="1317600"/>
          </a:xfrm>
          <a:prstGeom prst="rect">
            <a:avLst/>
          </a:prstGeom>
        </p:spPr>
        <p:txBody>
          <a:bodyPr anchor="t" rtlCol="false" tIns="0" lIns="0" bIns="0" rIns="0">
            <a:spAutoFit/>
          </a:bodyPr>
          <a:lstStyle/>
          <a:p>
            <a:pPr algn="ctr">
              <a:lnSpc>
                <a:spcPts val="10486"/>
              </a:lnSpc>
            </a:pPr>
            <a:r>
              <a:rPr lang="en-US" sz="7384" spc="81">
                <a:solidFill>
                  <a:srgbClr val="473821"/>
                </a:solidFill>
                <a:latin typeface="Times New Roman"/>
                <a:ea typeface="Times New Roman"/>
                <a:cs typeface="Times New Roman"/>
                <a:sym typeface="Times New Roman"/>
              </a:rPr>
              <a:t>Thu thập tri thức</a:t>
            </a:r>
          </a:p>
        </p:txBody>
      </p:sp>
      <p:sp>
        <p:nvSpPr>
          <p:cNvPr name="TextBox 17" id="17"/>
          <p:cNvSpPr txBox="true"/>
          <p:nvPr/>
        </p:nvSpPr>
        <p:spPr>
          <a:xfrm rot="0">
            <a:off x="17259300" y="9387202"/>
            <a:ext cx="759504" cy="804545"/>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17028" t="0" r="-17028" b="0"/>
              </a:stretch>
            </a:blipFill>
          </p:spPr>
        </p:sp>
      </p:grpSp>
      <p:sp>
        <p:nvSpPr>
          <p:cNvPr name="Freeform 4" id="4"/>
          <p:cNvSpPr/>
          <p:nvPr/>
        </p:nvSpPr>
        <p:spPr>
          <a:xfrm flipH="false" flipV="true" rot="0">
            <a:off x="319821" y="260318"/>
            <a:ext cx="3388214" cy="3320453"/>
          </a:xfrm>
          <a:custGeom>
            <a:avLst/>
            <a:gdLst/>
            <a:ahLst/>
            <a:cxnLst/>
            <a:rect r="r" b="b" t="t" l="l"/>
            <a:pathLst>
              <a:path h="3320453" w="3388214">
                <a:moveTo>
                  <a:pt x="0" y="3320453"/>
                </a:moveTo>
                <a:lnTo>
                  <a:pt x="3388214" y="3320453"/>
                </a:lnTo>
                <a:lnTo>
                  <a:pt x="3388214" y="0"/>
                </a:lnTo>
                <a:lnTo>
                  <a:pt x="0" y="0"/>
                </a:lnTo>
                <a:lnTo>
                  <a:pt x="0" y="3320453"/>
                </a:lnTo>
                <a:close/>
              </a:path>
            </a:pathLst>
          </a:custGeom>
          <a:blipFill>
            <a:blip r:embed="rId3">
              <a:extLst>
                <a:ext uri="{96DAC541-7B7A-43D3-8B79-37D633B846F1}">
                  <asvg:svgBlip xmlns:asvg="http://schemas.microsoft.com/office/drawing/2016/SVG/main" r:embed="rId4"/>
                </a:ext>
              </a:extLst>
            </a:blip>
            <a:stretch>
              <a:fillRect l="0" t="-160" r="0" b="-160"/>
            </a:stretch>
          </a:blipFill>
        </p:spPr>
      </p:sp>
      <p:sp>
        <p:nvSpPr>
          <p:cNvPr name="Freeform 5" id="5"/>
          <p:cNvSpPr/>
          <p:nvPr/>
        </p:nvSpPr>
        <p:spPr>
          <a:xfrm flipH="true" flipV="true" rot="0">
            <a:off x="14579965" y="260318"/>
            <a:ext cx="3388214" cy="3320453"/>
          </a:xfrm>
          <a:custGeom>
            <a:avLst/>
            <a:gdLst/>
            <a:ahLst/>
            <a:cxnLst/>
            <a:rect r="r" b="b" t="t" l="l"/>
            <a:pathLst>
              <a:path h="3320453" w="3388214">
                <a:moveTo>
                  <a:pt x="3388214" y="3320453"/>
                </a:moveTo>
                <a:lnTo>
                  <a:pt x="0" y="3320453"/>
                </a:lnTo>
                <a:lnTo>
                  <a:pt x="0" y="0"/>
                </a:lnTo>
                <a:lnTo>
                  <a:pt x="3388214" y="0"/>
                </a:lnTo>
                <a:lnTo>
                  <a:pt x="3388214" y="3320453"/>
                </a:lnTo>
                <a:close/>
              </a:path>
            </a:pathLst>
          </a:custGeom>
          <a:blipFill>
            <a:blip r:embed="rId3">
              <a:extLst>
                <a:ext uri="{96DAC541-7B7A-43D3-8B79-37D633B846F1}">
                  <asvg:svgBlip xmlns:asvg="http://schemas.microsoft.com/office/drawing/2016/SVG/main" r:embed="rId4"/>
                </a:ext>
              </a:extLst>
            </a:blip>
            <a:stretch>
              <a:fillRect l="0" t="-160" r="0" b="-160"/>
            </a:stretch>
          </a:blipFill>
        </p:spPr>
      </p:sp>
      <p:sp>
        <p:nvSpPr>
          <p:cNvPr name="TextBox 6" id="6"/>
          <p:cNvSpPr txBox="true"/>
          <p:nvPr/>
        </p:nvSpPr>
        <p:spPr>
          <a:xfrm rot="0">
            <a:off x="2758650" y="3048000"/>
            <a:ext cx="14092396" cy="1720850"/>
          </a:xfrm>
          <a:prstGeom prst="rect">
            <a:avLst/>
          </a:prstGeom>
        </p:spPr>
        <p:txBody>
          <a:bodyPr anchor="t" rtlCol="false" tIns="0" lIns="0" bIns="0" rIns="0">
            <a:spAutoFit/>
          </a:bodyPr>
          <a:lstStyle/>
          <a:p>
            <a:pPr algn="ctr">
              <a:lnSpc>
                <a:spcPts val="13720"/>
              </a:lnSpc>
            </a:pPr>
            <a:r>
              <a:rPr lang="en-US" sz="9600">
                <a:solidFill>
                  <a:srgbClr val="473821"/>
                </a:solidFill>
                <a:latin typeface="Times New Roman"/>
                <a:ea typeface="Times New Roman"/>
                <a:cs typeface="Times New Roman"/>
                <a:sym typeface="Times New Roman"/>
              </a:rPr>
              <a:t>III. BIỂU DIỄN TRI THỨC</a:t>
            </a:r>
          </a:p>
        </p:txBody>
      </p:sp>
      <p:sp>
        <p:nvSpPr>
          <p:cNvPr name="TextBox 7" id="7"/>
          <p:cNvSpPr txBox="true"/>
          <p:nvPr/>
        </p:nvSpPr>
        <p:spPr>
          <a:xfrm rot="0">
            <a:off x="17143019" y="9067800"/>
            <a:ext cx="759504" cy="804545"/>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17028" t="0" r="-17028" b="0"/>
              </a:stretch>
            </a:blipFill>
          </p:spPr>
        </p:sp>
      </p:grpSp>
      <p:sp>
        <p:nvSpPr>
          <p:cNvPr name="Freeform 4" id="4"/>
          <p:cNvSpPr/>
          <p:nvPr/>
        </p:nvSpPr>
        <p:spPr>
          <a:xfrm flipH="false" flipV="false" rot="0">
            <a:off x="1882793" y="889457"/>
            <a:ext cx="14522414" cy="9078141"/>
          </a:xfrm>
          <a:custGeom>
            <a:avLst/>
            <a:gdLst/>
            <a:ahLst/>
            <a:cxnLst/>
            <a:rect r="r" b="b" t="t" l="l"/>
            <a:pathLst>
              <a:path h="9078141" w="14522414">
                <a:moveTo>
                  <a:pt x="0" y="0"/>
                </a:moveTo>
                <a:lnTo>
                  <a:pt x="14522414" y="0"/>
                </a:lnTo>
                <a:lnTo>
                  <a:pt x="14522414" y="9078141"/>
                </a:lnTo>
                <a:lnTo>
                  <a:pt x="0" y="90781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882793" y="1542356"/>
            <a:ext cx="13235368" cy="7030837"/>
          </a:xfrm>
          <a:prstGeom prst="rect">
            <a:avLst/>
          </a:prstGeom>
        </p:spPr>
        <p:txBody>
          <a:bodyPr anchor="t" rtlCol="false" tIns="0" lIns="0" bIns="0" rIns="0">
            <a:spAutoFit/>
          </a:bodyPr>
          <a:lstStyle/>
          <a:p>
            <a:pPr algn="just">
              <a:lnSpc>
                <a:spcPts val="5613"/>
              </a:lnSpc>
            </a:pPr>
            <a:r>
              <a:rPr lang="en-US" b="true" sz="3437">
                <a:solidFill>
                  <a:srgbClr val="473821"/>
                </a:solidFill>
                <a:latin typeface="Times New Roman Bold"/>
                <a:ea typeface="Times New Roman Bold"/>
                <a:cs typeface="Times New Roman Bold"/>
                <a:sym typeface="Times New Roman Bold"/>
              </a:rPr>
              <a:t>Tri thức đầu vào (Evidence)</a:t>
            </a:r>
          </a:p>
          <a:p>
            <a:pPr algn="just" marL="1484379" indent="-494793" lvl="2">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Ngành</a:t>
            </a:r>
            <a:r>
              <a:rPr lang="en-US" b="true" sz="3437">
                <a:solidFill>
                  <a:srgbClr val="473821"/>
                </a:solidFill>
                <a:latin typeface="Times New Roman Bold"/>
                <a:ea typeface="Times New Roman Bold"/>
                <a:cs typeface="Times New Roman Bold"/>
                <a:sym typeface="Times New Roman Bold"/>
              </a:rPr>
              <a:t> nghề (job)</a:t>
            </a:r>
          </a:p>
          <a:p>
            <a:pPr algn="just" marL="1484379" indent="-494793" lvl="2">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Thu nhập (income_monthly)</a:t>
            </a:r>
          </a:p>
          <a:p>
            <a:pPr algn="just" marL="1484379" indent="-494793" lvl="2">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Chi tiêu (expense_monthly)</a:t>
            </a:r>
          </a:p>
          <a:p>
            <a:pPr algn="just" marL="1484379" indent="-494793" lvl="2">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Nợ (debt_amount)</a:t>
            </a:r>
          </a:p>
          <a:p>
            <a:pPr algn="just" marL="1484379" indent="-494793" lvl="2">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Hành vi và lịch sử tín dụng</a:t>
            </a:r>
          </a:p>
          <a:p>
            <a:pPr algn="just">
              <a:lnSpc>
                <a:spcPts val="5613"/>
              </a:lnSpc>
            </a:pPr>
            <a:r>
              <a:rPr lang="en-US" sz="3437" b="true">
                <a:solidFill>
                  <a:srgbClr val="473821"/>
                </a:solidFill>
                <a:latin typeface="Times New Roman Bold"/>
                <a:ea typeface="Times New Roman Bold"/>
                <a:cs typeface="Times New Roman Bold"/>
                <a:sym typeface="Times New Roman Bold"/>
              </a:rPr>
              <a:t>       Tri thức dẫn xuất (Derived Knowledge)</a:t>
            </a:r>
          </a:p>
          <a:p>
            <a:pPr algn="just" marL="1484379" indent="-494793" lvl="2">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Chỉ số khả năng chi trả</a:t>
            </a:r>
            <a:r>
              <a:rPr lang="en-US" b="true" sz="3437">
                <a:solidFill>
                  <a:srgbClr val="473821"/>
                </a:solidFill>
                <a:latin typeface="Times New Roman Bold"/>
                <a:ea typeface="Times New Roman Bold"/>
                <a:cs typeface="Times New Roman Bold"/>
                <a:sym typeface="Times New Roman Bold"/>
              </a:rPr>
              <a:t> ( income_expense_ratio ) </a:t>
            </a:r>
          </a:p>
          <a:p>
            <a:pPr algn="just" marL="1484379" indent="-494793" lvl="2">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Chỉ số rủi ro tài chính (debt_ratio)</a:t>
            </a:r>
          </a:p>
          <a:p>
            <a:pPr algn="just">
              <a:lnSpc>
                <a:spcPts val="5614"/>
              </a:lnSpc>
            </a:pPr>
            <a:r>
              <a:rPr lang="en-US" sz="3437" b="true">
                <a:solidFill>
                  <a:srgbClr val="473821"/>
                </a:solidFill>
                <a:latin typeface="Times New Roman Bold"/>
                <a:ea typeface="Times New Roman Bold"/>
                <a:cs typeface="Times New Roman Bold"/>
                <a:sym typeface="Times New Roman Bold"/>
              </a:rPr>
              <a:t>          → Dùng để phản án khả năng chi trả và mức độ rủi ro.</a:t>
            </a:r>
          </a:p>
        </p:txBody>
      </p:sp>
      <p:sp>
        <p:nvSpPr>
          <p:cNvPr name="TextBox 6" id="6"/>
          <p:cNvSpPr txBox="true"/>
          <p:nvPr/>
        </p:nvSpPr>
        <p:spPr>
          <a:xfrm rot="0">
            <a:off x="17143019" y="9067800"/>
            <a:ext cx="759504" cy="804545"/>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13</a:t>
            </a:r>
          </a:p>
        </p:txBody>
      </p:sp>
      <p:sp>
        <p:nvSpPr>
          <p:cNvPr name="TextBox 7" id="7"/>
          <p:cNvSpPr txBox="true"/>
          <p:nvPr/>
        </p:nvSpPr>
        <p:spPr>
          <a:xfrm rot="0">
            <a:off x="5061265" y="-200025"/>
            <a:ext cx="7815567" cy="1317600"/>
          </a:xfrm>
          <a:prstGeom prst="rect">
            <a:avLst/>
          </a:prstGeom>
        </p:spPr>
        <p:txBody>
          <a:bodyPr anchor="t" rtlCol="false" tIns="0" lIns="0" bIns="0" rIns="0">
            <a:spAutoFit/>
          </a:bodyPr>
          <a:lstStyle/>
          <a:p>
            <a:pPr algn="ctr">
              <a:lnSpc>
                <a:spcPts val="10486"/>
              </a:lnSpc>
            </a:pPr>
            <a:r>
              <a:rPr lang="en-US" sz="7384" spc="81">
                <a:solidFill>
                  <a:srgbClr val="473821"/>
                </a:solidFill>
                <a:latin typeface="Times New Roman"/>
                <a:ea typeface="Times New Roman"/>
                <a:cs typeface="Times New Roman"/>
                <a:sym typeface="Times New Roman"/>
              </a:rPr>
              <a:t>Biểu diễn tri thức</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17028" t="0" r="-17028" b="0"/>
              </a:stretch>
            </a:blipFill>
          </p:spPr>
        </p:sp>
      </p:grpSp>
      <p:sp>
        <p:nvSpPr>
          <p:cNvPr name="Freeform 4" id="4"/>
          <p:cNvSpPr/>
          <p:nvPr/>
        </p:nvSpPr>
        <p:spPr>
          <a:xfrm flipH="false" flipV="false" rot="0">
            <a:off x="1882793" y="889457"/>
            <a:ext cx="14522414" cy="9078141"/>
          </a:xfrm>
          <a:custGeom>
            <a:avLst/>
            <a:gdLst/>
            <a:ahLst/>
            <a:cxnLst/>
            <a:rect r="r" b="b" t="t" l="l"/>
            <a:pathLst>
              <a:path h="9078141" w="14522414">
                <a:moveTo>
                  <a:pt x="0" y="0"/>
                </a:moveTo>
                <a:lnTo>
                  <a:pt x="14522414" y="0"/>
                </a:lnTo>
                <a:lnTo>
                  <a:pt x="14522414" y="9078141"/>
                </a:lnTo>
                <a:lnTo>
                  <a:pt x="0" y="90781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463961" y="1522613"/>
            <a:ext cx="14689222" cy="10555087"/>
          </a:xfrm>
          <a:prstGeom prst="rect">
            <a:avLst/>
          </a:prstGeom>
        </p:spPr>
        <p:txBody>
          <a:bodyPr anchor="t" rtlCol="false" tIns="0" lIns="0" bIns="0" rIns="0">
            <a:spAutoFit/>
          </a:bodyPr>
          <a:lstStyle/>
          <a:p>
            <a:pPr algn="just">
              <a:lnSpc>
                <a:spcPts val="5613"/>
              </a:lnSpc>
            </a:pPr>
            <a:r>
              <a:rPr lang="en-US" b="true" sz="3437">
                <a:solidFill>
                  <a:srgbClr val="473821"/>
                </a:solidFill>
                <a:latin typeface="Times New Roman Bold"/>
                <a:ea typeface="Times New Roman Bold"/>
                <a:cs typeface="Times New Roman Bold"/>
                <a:sym typeface="Times New Roman Bold"/>
              </a:rPr>
              <a:t>Tri thức đầu ra (O</a:t>
            </a:r>
            <a:r>
              <a:rPr lang="en-US" b="true" sz="3437">
                <a:solidFill>
                  <a:srgbClr val="473821"/>
                </a:solidFill>
                <a:latin typeface="Times New Roman Bold"/>
                <a:ea typeface="Times New Roman Bold"/>
                <a:cs typeface="Times New Roman Bold"/>
                <a:sym typeface="Times New Roman Bold"/>
              </a:rPr>
              <a:t>utput):</a:t>
            </a:r>
          </a:p>
          <a:p>
            <a:pPr algn="just" marL="1484379" indent="-494793" lvl="2">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credit_score</a:t>
            </a:r>
          </a:p>
          <a:p>
            <a:pPr algn="just" marL="2226569" indent="-556642" lvl="3">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Đ</a:t>
            </a:r>
            <a:r>
              <a:rPr lang="en-US" b="true" sz="3437">
                <a:solidFill>
                  <a:srgbClr val="473821"/>
                </a:solidFill>
                <a:latin typeface="Times New Roman Bold"/>
                <a:ea typeface="Times New Roman Bold"/>
                <a:cs typeface="Times New Roman Bold"/>
                <a:sym typeface="Times New Roman Bold"/>
              </a:rPr>
              <a:t>iểm tín dụng</a:t>
            </a:r>
            <a:r>
              <a:rPr lang="en-US" b="true" sz="3437">
                <a:solidFill>
                  <a:srgbClr val="473821"/>
                </a:solidFill>
                <a:latin typeface="Times New Roman Bold"/>
                <a:ea typeface="Times New Roman Bold"/>
                <a:cs typeface="Times New Roman Bold"/>
                <a:sym typeface="Times New Roman Bold"/>
              </a:rPr>
              <a:t> mô phỏng theo thang FICO</a:t>
            </a:r>
          </a:p>
          <a:p>
            <a:pPr algn="just" marL="2226569" indent="-556642" lvl="3">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Phản ánh mức độ uy tín tài chính của cá nhân</a:t>
            </a:r>
          </a:p>
          <a:p>
            <a:pPr algn="just" marL="1484379" indent="-494793" lvl="2">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credit_score_class</a:t>
            </a:r>
          </a:p>
          <a:p>
            <a:pPr algn="just" marL="2226569" indent="-556642" lvl="3">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N</a:t>
            </a:r>
            <a:r>
              <a:rPr lang="en-US" b="true" sz="3437">
                <a:solidFill>
                  <a:srgbClr val="473821"/>
                </a:solidFill>
                <a:latin typeface="Times New Roman Bold"/>
                <a:ea typeface="Times New Roman Bold"/>
                <a:cs typeface="Times New Roman Bold"/>
                <a:sym typeface="Times New Roman Bold"/>
              </a:rPr>
              <a:t>hãn phân loại điểm tín dụng</a:t>
            </a:r>
          </a:p>
          <a:p>
            <a:pPr algn="just" marL="2226569" indent="-556642" lvl="3">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Các mức: bad – fair – good </a:t>
            </a:r>
          </a:p>
          <a:p>
            <a:pPr algn="just" marL="1484379" indent="-494793" lvl="2">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Vai trò:</a:t>
            </a:r>
          </a:p>
          <a:p>
            <a:pPr algn="just" marL="2226569" indent="-556642" lvl="3">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Là kết quả cuối cùng của hệ tri thức </a:t>
            </a:r>
          </a:p>
          <a:p>
            <a:pPr algn="just" marL="2226569" indent="-556642" lvl="3">
              <a:lnSpc>
                <a:spcPts val="5613"/>
              </a:lnSpc>
              <a:buFont typeface="Arial"/>
              <a:buChar char="￭"/>
            </a:pPr>
            <a:r>
              <a:rPr lang="en-US" b="true" sz="3437">
                <a:solidFill>
                  <a:srgbClr val="473821"/>
                </a:solidFill>
                <a:latin typeface="Times New Roman Bold"/>
                <a:ea typeface="Times New Roman Bold"/>
                <a:cs typeface="Times New Roman Bold"/>
                <a:sym typeface="Times New Roman Bold"/>
              </a:rPr>
              <a:t>Dùng để đánh giá và so sánh cá nhân.</a:t>
            </a:r>
          </a:p>
          <a:p>
            <a:pPr algn="just">
              <a:lnSpc>
                <a:spcPts val="5613"/>
              </a:lnSpc>
            </a:pPr>
          </a:p>
          <a:p>
            <a:pPr algn="just">
              <a:lnSpc>
                <a:spcPts val="5613"/>
              </a:lnSpc>
            </a:pPr>
          </a:p>
          <a:p>
            <a:pPr algn="just">
              <a:lnSpc>
                <a:spcPts val="5613"/>
              </a:lnSpc>
            </a:pPr>
          </a:p>
          <a:p>
            <a:pPr algn="just">
              <a:lnSpc>
                <a:spcPts val="5613"/>
              </a:lnSpc>
            </a:pPr>
          </a:p>
          <a:p>
            <a:pPr algn="l">
              <a:lnSpc>
                <a:spcPts val="5614"/>
              </a:lnSpc>
            </a:pPr>
          </a:p>
        </p:txBody>
      </p:sp>
      <p:sp>
        <p:nvSpPr>
          <p:cNvPr name="TextBox 6" id="6"/>
          <p:cNvSpPr txBox="true"/>
          <p:nvPr/>
        </p:nvSpPr>
        <p:spPr>
          <a:xfrm rot="0">
            <a:off x="17143019" y="9067800"/>
            <a:ext cx="759504" cy="804545"/>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14</a:t>
            </a:r>
          </a:p>
        </p:txBody>
      </p:sp>
      <p:sp>
        <p:nvSpPr>
          <p:cNvPr name="TextBox 7" id="7"/>
          <p:cNvSpPr txBox="true"/>
          <p:nvPr/>
        </p:nvSpPr>
        <p:spPr>
          <a:xfrm rot="0">
            <a:off x="1463961" y="-200025"/>
            <a:ext cx="7815567" cy="1317600"/>
          </a:xfrm>
          <a:prstGeom prst="rect">
            <a:avLst/>
          </a:prstGeom>
        </p:spPr>
        <p:txBody>
          <a:bodyPr anchor="t" rtlCol="false" tIns="0" lIns="0" bIns="0" rIns="0">
            <a:spAutoFit/>
          </a:bodyPr>
          <a:lstStyle/>
          <a:p>
            <a:pPr algn="ctr">
              <a:lnSpc>
                <a:spcPts val="10486"/>
              </a:lnSpc>
            </a:pPr>
            <a:r>
              <a:rPr lang="en-US" sz="7384" spc="81">
                <a:solidFill>
                  <a:srgbClr val="473821"/>
                </a:solidFill>
                <a:latin typeface="Times New Roman"/>
                <a:ea typeface="Times New Roman"/>
                <a:cs typeface="Times New Roman"/>
                <a:sym typeface="Times New Roman"/>
              </a:rPr>
              <a:t>Biểu diễn tri thức</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17028" t="0" r="-17028" b="0"/>
              </a:stretch>
            </a:blipFill>
          </p:spPr>
        </p:sp>
      </p:grpSp>
      <p:sp>
        <p:nvSpPr>
          <p:cNvPr name="Freeform 4" id="4"/>
          <p:cNvSpPr/>
          <p:nvPr/>
        </p:nvSpPr>
        <p:spPr>
          <a:xfrm flipH="false" flipV="false" rot="0">
            <a:off x="1882793" y="889457"/>
            <a:ext cx="14522414" cy="9078141"/>
          </a:xfrm>
          <a:custGeom>
            <a:avLst/>
            <a:gdLst/>
            <a:ahLst/>
            <a:cxnLst/>
            <a:rect r="r" b="b" t="t" l="l"/>
            <a:pathLst>
              <a:path h="9078141" w="14522414">
                <a:moveTo>
                  <a:pt x="0" y="0"/>
                </a:moveTo>
                <a:lnTo>
                  <a:pt x="14522414" y="0"/>
                </a:lnTo>
                <a:lnTo>
                  <a:pt x="14522414" y="9078141"/>
                </a:lnTo>
                <a:lnTo>
                  <a:pt x="0" y="90781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354957" y="1670535"/>
            <a:ext cx="5223414" cy="6945930"/>
          </a:xfrm>
          <a:custGeom>
            <a:avLst/>
            <a:gdLst/>
            <a:ahLst/>
            <a:cxnLst/>
            <a:rect r="r" b="b" t="t" l="l"/>
            <a:pathLst>
              <a:path h="6945930" w="5223414">
                <a:moveTo>
                  <a:pt x="0" y="0"/>
                </a:moveTo>
                <a:lnTo>
                  <a:pt x="5223413" y="0"/>
                </a:lnTo>
                <a:lnTo>
                  <a:pt x="5223413" y="6945930"/>
                </a:lnTo>
                <a:lnTo>
                  <a:pt x="0" y="6945930"/>
                </a:lnTo>
                <a:lnTo>
                  <a:pt x="0" y="0"/>
                </a:lnTo>
                <a:close/>
              </a:path>
            </a:pathLst>
          </a:custGeom>
          <a:blipFill>
            <a:blip r:embed="rId5"/>
            <a:stretch>
              <a:fillRect l="0" t="0" r="0" b="0"/>
            </a:stretch>
          </a:blipFill>
        </p:spPr>
      </p:sp>
      <p:sp>
        <p:nvSpPr>
          <p:cNvPr name="TextBox 6" id="6"/>
          <p:cNvSpPr txBox="true"/>
          <p:nvPr/>
        </p:nvSpPr>
        <p:spPr>
          <a:xfrm rot="0">
            <a:off x="17143019" y="9067800"/>
            <a:ext cx="759504" cy="804545"/>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15</a:t>
            </a:r>
          </a:p>
        </p:txBody>
      </p:sp>
      <p:sp>
        <p:nvSpPr>
          <p:cNvPr name="TextBox 7" id="7"/>
          <p:cNvSpPr txBox="true"/>
          <p:nvPr/>
        </p:nvSpPr>
        <p:spPr>
          <a:xfrm rot="0">
            <a:off x="1463961" y="-200025"/>
            <a:ext cx="7815567" cy="1317600"/>
          </a:xfrm>
          <a:prstGeom prst="rect">
            <a:avLst/>
          </a:prstGeom>
        </p:spPr>
        <p:txBody>
          <a:bodyPr anchor="t" rtlCol="false" tIns="0" lIns="0" bIns="0" rIns="0">
            <a:spAutoFit/>
          </a:bodyPr>
          <a:lstStyle/>
          <a:p>
            <a:pPr algn="ctr">
              <a:lnSpc>
                <a:spcPts val="10486"/>
              </a:lnSpc>
            </a:pPr>
            <a:r>
              <a:rPr lang="en-US" sz="7384" spc="81">
                <a:solidFill>
                  <a:srgbClr val="473821"/>
                </a:solidFill>
                <a:latin typeface="Times New Roman"/>
                <a:ea typeface="Times New Roman"/>
                <a:cs typeface="Times New Roman"/>
                <a:sym typeface="Times New Roman"/>
              </a:rPr>
              <a:t>Biểu diễn tri thức</a:t>
            </a:r>
          </a:p>
        </p:txBody>
      </p:sp>
      <p:sp>
        <p:nvSpPr>
          <p:cNvPr name="TextBox 8" id="8"/>
          <p:cNvSpPr txBox="true"/>
          <p:nvPr/>
        </p:nvSpPr>
        <p:spPr>
          <a:xfrm rot="0">
            <a:off x="6953912" y="8651875"/>
            <a:ext cx="4025503" cy="511175"/>
          </a:xfrm>
          <a:prstGeom prst="rect">
            <a:avLst/>
          </a:prstGeom>
        </p:spPr>
        <p:txBody>
          <a:bodyPr anchor="t" rtlCol="false" tIns="0" lIns="0" bIns="0" rIns="0">
            <a:spAutoFit/>
          </a:bodyPr>
          <a:lstStyle/>
          <a:p>
            <a:pPr algn="ctr">
              <a:lnSpc>
                <a:spcPts val="4299"/>
              </a:lnSpc>
              <a:spcBef>
                <a:spcPct val="0"/>
              </a:spcBef>
            </a:pPr>
            <a:r>
              <a:rPr lang="en-US" sz="2499">
                <a:solidFill>
                  <a:srgbClr val="FFFFFF"/>
                </a:solidFill>
                <a:latin typeface="Times New Roman"/>
                <a:ea typeface="Times New Roman"/>
                <a:cs typeface="Times New Roman"/>
                <a:sym typeface="Times New Roman"/>
              </a:rPr>
              <a:t>Hình 3. Sơ đồ biểu diễn tri thức</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17028" t="0" r="-17028" b="0"/>
              </a:stretch>
            </a:blipFill>
          </p:spPr>
        </p:sp>
      </p:grpSp>
      <p:sp>
        <p:nvSpPr>
          <p:cNvPr name="Freeform 4" id="4"/>
          <p:cNvSpPr/>
          <p:nvPr/>
        </p:nvSpPr>
        <p:spPr>
          <a:xfrm flipH="false" flipV="true" rot="0">
            <a:off x="319821" y="260318"/>
            <a:ext cx="3388214" cy="3320453"/>
          </a:xfrm>
          <a:custGeom>
            <a:avLst/>
            <a:gdLst/>
            <a:ahLst/>
            <a:cxnLst/>
            <a:rect r="r" b="b" t="t" l="l"/>
            <a:pathLst>
              <a:path h="3320453" w="3388214">
                <a:moveTo>
                  <a:pt x="0" y="3320453"/>
                </a:moveTo>
                <a:lnTo>
                  <a:pt x="3388214" y="3320453"/>
                </a:lnTo>
                <a:lnTo>
                  <a:pt x="3388214" y="0"/>
                </a:lnTo>
                <a:lnTo>
                  <a:pt x="0" y="0"/>
                </a:lnTo>
                <a:lnTo>
                  <a:pt x="0" y="3320453"/>
                </a:lnTo>
                <a:close/>
              </a:path>
            </a:pathLst>
          </a:custGeom>
          <a:blipFill>
            <a:blip r:embed="rId3">
              <a:extLst>
                <a:ext uri="{96DAC541-7B7A-43D3-8B79-37D633B846F1}">
                  <asvg:svgBlip xmlns:asvg="http://schemas.microsoft.com/office/drawing/2016/SVG/main" r:embed="rId4"/>
                </a:ext>
              </a:extLst>
            </a:blip>
            <a:stretch>
              <a:fillRect l="0" t="-160" r="0" b="-160"/>
            </a:stretch>
          </a:blipFill>
        </p:spPr>
      </p:sp>
      <p:sp>
        <p:nvSpPr>
          <p:cNvPr name="Freeform 5" id="5"/>
          <p:cNvSpPr/>
          <p:nvPr/>
        </p:nvSpPr>
        <p:spPr>
          <a:xfrm flipH="true" flipV="true" rot="0">
            <a:off x="14579965" y="260318"/>
            <a:ext cx="3388214" cy="3320453"/>
          </a:xfrm>
          <a:custGeom>
            <a:avLst/>
            <a:gdLst/>
            <a:ahLst/>
            <a:cxnLst/>
            <a:rect r="r" b="b" t="t" l="l"/>
            <a:pathLst>
              <a:path h="3320453" w="3388214">
                <a:moveTo>
                  <a:pt x="3388214" y="3320453"/>
                </a:moveTo>
                <a:lnTo>
                  <a:pt x="0" y="3320453"/>
                </a:lnTo>
                <a:lnTo>
                  <a:pt x="0" y="0"/>
                </a:lnTo>
                <a:lnTo>
                  <a:pt x="3388214" y="0"/>
                </a:lnTo>
                <a:lnTo>
                  <a:pt x="3388214" y="3320453"/>
                </a:lnTo>
                <a:close/>
              </a:path>
            </a:pathLst>
          </a:custGeom>
          <a:blipFill>
            <a:blip r:embed="rId3">
              <a:extLst>
                <a:ext uri="{96DAC541-7B7A-43D3-8B79-37D633B846F1}">
                  <asvg:svgBlip xmlns:asvg="http://schemas.microsoft.com/office/drawing/2016/SVG/main" r:embed="rId4"/>
                </a:ext>
              </a:extLst>
            </a:blip>
            <a:stretch>
              <a:fillRect l="0" t="-160" r="0" b="-160"/>
            </a:stretch>
          </a:blipFill>
        </p:spPr>
      </p:sp>
      <p:sp>
        <p:nvSpPr>
          <p:cNvPr name="TextBox 6" id="6"/>
          <p:cNvSpPr txBox="true"/>
          <p:nvPr/>
        </p:nvSpPr>
        <p:spPr>
          <a:xfrm rot="0">
            <a:off x="2758645" y="3005669"/>
            <a:ext cx="12770710" cy="3454400"/>
          </a:xfrm>
          <a:prstGeom prst="rect">
            <a:avLst/>
          </a:prstGeom>
        </p:spPr>
        <p:txBody>
          <a:bodyPr anchor="t" rtlCol="false" tIns="0" lIns="0" bIns="0" rIns="0">
            <a:spAutoFit/>
          </a:bodyPr>
          <a:lstStyle/>
          <a:p>
            <a:pPr algn="ctr">
              <a:lnSpc>
                <a:spcPts val="13720"/>
              </a:lnSpc>
            </a:pPr>
            <a:r>
              <a:rPr lang="en-US" sz="9600">
                <a:solidFill>
                  <a:srgbClr val="473821"/>
                </a:solidFill>
                <a:latin typeface="Times New Roman"/>
                <a:ea typeface="Times New Roman"/>
                <a:cs typeface="Times New Roman"/>
                <a:sym typeface="Times New Roman"/>
              </a:rPr>
              <a:t>I</a:t>
            </a:r>
            <a:r>
              <a:rPr lang="en-US" sz="9600">
                <a:solidFill>
                  <a:srgbClr val="473821"/>
                </a:solidFill>
                <a:latin typeface="Times New Roman"/>
                <a:ea typeface="Times New Roman"/>
                <a:cs typeface="Times New Roman"/>
                <a:sym typeface="Times New Roman"/>
              </a:rPr>
              <a:t>V. HỆ LUẬT &amp; THUẬT GIẢI SUY LUẬN</a:t>
            </a:r>
          </a:p>
        </p:txBody>
      </p:sp>
      <p:sp>
        <p:nvSpPr>
          <p:cNvPr name="TextBox 7" id="7"/>
          <p:cNvSpPr txBox="true"/>
          <p:nvPr/>
        </p:nvSpPr>
        <p:spPr>
          <a:xfrm rot="0">
            <a:off x="17143019" y="9067800"/>
            <a:ext cx="759504" cy="804545"/>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17028" t="0" r="-17028" b="0"/>
              </a:stretch>
            </a:blipFill>
          </p:spPr>
        </p:sp>
      </p:grpSp>
      <p:sp>
        <p:nvSpPr>
          <p:cNvPr name="Freeform 4" id="4"/>
          <p:cNvSpPr/>
          <p:nvPr/>
        </p:nvSpPr>
        <p:spPr>
          <a:xfrm flipH="false" flipV="false" rot="0">
            <a:off x="1755812" y="604429"/>
            <a:ext cx="14522414" cy="9078141"/>
          </a:xfrm>
          <a:custGeom>
            <a:avLst/>
            <a:gdLst/>
            <a:ahLst/>
            <a:cxnLst/>
            <a:rect r="r" b="b" t="t" l="l"/>
            <a:pathLst>
              <a:path h="9078141" w="14522414">
                <a:moveTo>
                  <a:pt x="0" y="0"/>
                </a:moveTo>
                <a:lnTo>
                  <a:pt x="14522414" y="0"/>
                </a:lnTo>
                <a:lnTo>
                  <a:pt x="14522414" y="9078142"/>
                </a:lnTo>
                <a:lnTo>
                  <a:pt x="0" y="90781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true" rot="0">
            <a:off x="231709" y="260318"/>
            <a:ext cx="3388214" cy="3320453"/>
          </a:xfrm>
          <a:custGeom>
            <a:avLst/>
            <a:gdLst/>
            <a:ahLst/>
            <a:cxnLst/>
            <a:rect r="r" b="b" t="t" l="l"/>
            <a:pathLst>
              <a:path h="3320453" w="3388214">
                <a:moveTo>
                  <a:pt x="0" y="3320453"/>
                </a:moveTo>
                <a:lnTo>
                  <a:pt x="3388213" y="3320453"/>
                </a:lnTo>
                <a:lnTo>
                  <a:pt x="3388213" y="0"/>
                </a:lnTo>
                <a:lnTo>
                  <a:pt x="0" y="0"/>
                </a:lnTo>
                <a:lnTo>
                  <a:pt x="0" y="3320453"/>
                </a:lnTo>
                <a:close/>
              </a:path>
            </a:pathLst>
          </a:custGeom>
          <a:blipFill>
            <a:blip r:embed="rId5">
              <a:extLst>
                <a:ext uri="{96DAC541-7B7A-43D3-8B79-37D633B846F1}">
                  <asvg:svgBlip xmlns:asvg="http://schemas.microsoft.com/office/drawing/2016/SVG/main" r:embed="rId6"/>
                </a:ext>
              </a:extLst>
            </a:blip>
            <a:stretch>
              <a:fillRect l="0" t="-160" r="0" b="-160"/>
            </a:stretch>
          </a:blipFill>
        </p:spPr>
      </p:sp>
      <p:sp>
        <p:nvSpPr>
          <p:cNvPr name="Freeform 6" id="6"/>
          <p:cNvSpPr/>
          <p:nvPr/>
        </p:nvSpPr>
        <p:spPr>
          <a:xfrm flipH="true" flipV="true" rot="0">
            <a:off x="14579965" y="260318"/>
            <a:ext cx="3388214" cy="3320453"/>
          </a:xfrm>
          <a:custGeom>
            <a:avLst/>
            <a:gdLst/>
            <a:ahLst/>
            <a:cxnLst/>
            <a:rect r="r" b="b" t="t" l="l"/>
            <a:pathLst>
              <a:path h="3320453" w="3388214">
                <a:moveTo>
                  <a:pt x="3388214" y="3320453"/>
                </a:moveTo>
                <a:lnTo>
                  <a:pt x="0" y="3320453"/>
                </a:lnTo>
                <a:lnTo>
                  <a:pt x="0" y="0"/>
                </a:lnTo>
                <a:lnTo>
                  <a:pt x="3388214" y="0"/>
                </a:lnTo>
                <a:lnTo>
                  <a:pt x="3388214" y="3320453"/>
                </a:lnTo>
                <a:close/>
              </a:path>
            </a:pathLst>
          </a:custGeom>
          <a:blipFill>
            <a:blip r:embed="rId5">
              <a:extLst>
                <a:ext uri="{96DAC541-7B7A-43D3-8B79-37D633B846F1}">
                  <asvg:svgBlip xmlns:asvg="http://schemas.microsoft.com/office/drawing/2016/SVG/main" r:embed="rId6"/>
                </a:ext>
              </a:extLst>
            </a:blip>
            <a:stretch>
              <a:fillRect l="0" t="-160" r="0" b="-160"/>
            </a:stretch>
          </a:blipFill>
        </p:spPr>
      </p:sp>
      <p:sp>
        <p:nvSpPr>
          <p:cNvPr name="TextBox 7" id="7"/>
          <p:cNvSpPr txBox="true"/>
          <p:nvPr/>
        </p:nvSpPr>
        <p:spPr>
          <a:xfrm rot="0">
            <a:off x="3454072" y="220911"/>
            <a:ext cx="11125893" cy="807789"/>
          </a:xfrm>
          <a:prstGeom prst="rect">
            <a:avLst/>
          </a:prstGeom>
        </p:spPr>
        <p:txBody>
          <a:bodyPr anchor="t" rtlCol="false" tIns="0" lIns="0" bIns="0" rIns="0">
            <a:spAutoFit/>
          </a:bodyPr>
          <a:lstStyle/>
          <a:p>
            <a:pPr algn="ctr">
              <a:lnSpc>
                <a:spcPts val="6453"/>
              </a:lnSpc>
            </a:pPr>
            <a:r>
              <a:rPr lang="en-US" sz="4515">
                <a:solidFill>
                  <a:srgbClr val="473821"/>
                </a:solidFill>
                <a:latin typeface="Times New Roman"/>
                <a:ea typeface="Times New Roman"/>
                <a:cs typeface="Times New Roman"/>
                <a:sym typeface="Times New Roman"/>
              </a:rPr>
              <a:t>I</a:t>
            </a:r>
            <a:r>
              <a:rPr lang="en-US" sz="4515">
                <a:solidFill>
                  <a:srgbClr val="473821"/>
                </a:solidFill>
                <a:latin typeface="Times New Roman"/>
                <a:ea typeface="Times New Roman"/>
                <a:cs typeface="Times New Roman"/>
                <a:sym typeface="Times New Roman"/>
              </a:rPr>
              <a:t>V. HỆ LUẬT &amp; THUẬT GIẢI SUY LUẬN</a:t>
            </a:r>
          </a:p>
        </p:txBody>
      </p:sp>
      <p:sp>
        <p:nvSpPr>
          <p:cNvPr name="TextBox 8" id="8"/>
          <p:cNvSpPr txBox="true"/>
          <p:nvPr/>
        </p:nvSpPr>
        <p:spPr>
          <a:xfrm rot="0">
            <a:off x="3619922" y="1112755"/>
            <a:ext cx="9363645" cy="807789"/>
          </a:xfrm>
          <a:prstGeom prst="rect">
            <a:avLst/>
          </a:prstGeom>
        </p:spPr>
        <p:txBody>
          <a:bodyPr anchor="t" rtlCol="false" tIns="0" lIns="0" bIns="0" rIns="0">
            <a:spAutoFit/>
          </a:bodyPr>
          <a:lstStyle/>
          <a:p>
            <a:pPr algn="ctr" marL="974873" indent="-487437" lvl="1">
              <a:lnSpc>
                <a:spcPts val="6453"/>
              </a:lnSpc>
              <a:buAutoNum type="arabicPeriod" startAt="1"/>
            </a:pPr>
            <a:r>
              <a:rPr lang="en-US" sz="4515">
                <a:solidFill>
                  <a:srgbClr val="473821"/>
                </a:solidFill>
                <a:latin typeface="Times New Roman"/>
                <a:ea typeface="Times New Roman"/>
                <a:cs typeface="Times New Roman"/>
                <a:sym typeface="Times New Roman"/>
              </a:rPr>
              <a:t>Vai trò của hệ luật trong hệ thống</a:t>
            </a:r>
          </a:p>
        </p:txBody>
      </p:sp>
      <p:sp>
        <p:nvSpPr>
          <p:cNvPr name="TextBox 9" id="9"/>
          <p:cNvSpPr txBox="true"/>
          <p:nvPr/>
        </p:nvSpPr>
        <p:spPr>
          <a:xfrm rot="0">
            <a:off x="2633658" y="2104463"/>
            <a:ext cx="12766722" cy="3455065"/>
          </a:xfrm>
          <a:prstGeom prst="rect">
            <a:avLst/>
          </a:prstGeom>
        </p:spPr>
        <p:txBody>
          <a:bodyPr anchor="t" rtlCol="false" tIns="0" lIns="0" bIns="0" rIns="0">
            <a:spAutoFit/>
          </a:bodyPr>
          <a:lstStyle/>
          <a:p>
            <a:pPr algn="l">
              <a:lnSpc>
                <a:spcPts val="5500"/>
              </a:lnSpc>
            </a:pPr>
            <a:r>
              <a:rPr lang="en-US" sz="3254">
                <a:solidFill>
                  <a:srgbClr val="473821"/>
                </a:solidFill>
                <a:latin typeface="Times New Roman"/>
                <a:ea typeface="Times New Roman"/>
                <a:cs typeface="Times New Roman"/>
                <a:sym typeface="Times New Roman"/>
              </a:rPr>
              <a:t>Hệ thống được thiết kế theo kiến trúc gồm 3 thành phần:</a:t>
            </a:r>
          </a:p>
          <a:p>
            <a:pPr algn="l" marL="702672" indent="-351336" lvl="1">
              <a:lnSpc>
                <a:spcPts val="5500"/>
              </a:lnSpc>
              <a:buAutoNum type="arabicPeriod" startAt="1"/>
            </a:pPr>
            <a:r>
              <a:rPr lang="en-US" sz="3254">
                <a:solidFill>
                  <a:srgbClr val="473821"/>
                </a:solidFill>
                <a:latin typeface="Times New Roman"/>
                <a:ea typeface="Times New Roman"/>
                <a:cs typeface="Times New Roman"/>
                <a:sym typeface="Times New Roman"/>
              </a:rPr>
              <a:t>Hệ luật (Rule-based system) – biểu diễn tri thức và suy luận</a:t>
            </a:r>
          </a:p>
          <a:p>
            <a:pPr algn="l" marL="702672" indent="-351336" lvl="1">
              <a:lnSpc>
                <a:spcPts val="5500"/>
              </a:lnSpc>
              <a:buAutoNum type="arabicPeriod" startAt="1"/>
            </a:pPr>
            <a:r>
              <a:rPr lang="en-US" sz="3254">
                <a:solidFill>
                  <a:srgbClr val="473821"/>
                </a:solidFill>
                <a:latin typeface="Times New Roman"/>
                <a:ea typeface="Times New Roman"/>
                <a:cs typeface="Times New Roman"/>
                <a:sym typeface="Times New Roman"/>
              </a:rPr>
              <a:t>Mô hình Bayesian – hỗ trợ đánh giá xác suất và dự đoán credit_score</a:t>
            </a:r>
          </a:p>
          <a:p>
            <a:pPr algn="l" marL="702672" indent="-351336" lvl="1">
              <a:lnSpc>
                <a:spcPts val="5500"/>
              </a:lnSpc>
              <a:buAutoNum type="arabicPeriod" startAt="1"/>
            </a:pPr>
            <a:r>
              <a:rPr lang="en-US" sz="3254">
                <a:solidFill>
                  <a:srgbClr val="473821"/>
                </a:solidFill>
                <a:latin typeface="Times New Roman"/>
                <a:ea typeface="Times New Roman"/>
                <a:cs typeface="Times New Roman"/>
                <a:sym typeface="Times New Roman"/>
              </a:rPr>
              <a:t>LLM – sinh giải thích ngôn ngữ tự nhiên</a:t>
            </a:r>
          </a:p>
          <a:p>
            <a:pPr algn="l">
              <a:lnSpc>
                <a:spcPts val="5500"/>
              </a:lnSpc>
            </a:pPr>
          </a:p>
        </p:txBody>
      </p:sp>
      <p:sp>
        <p:nvSpPr>
          <p:cNvPr name="TextBox 10" id="10"/>
          <p:cNvSpPr txBox="true"/>
          <p:nvPr/>
        </p:nvSpPr>
        <p:spPr>
          <a:xfrm rot="0">
            <a:off x="2760639" y="4817883"/>
            <a:ext cx="12766722" cy="2759740"/>
          </a:xfrm>
          <a:prstGeom prst="rect">
            <a:avLst/>
          </a:prstGeom>
        </p:spPr>
        <p:txBody>
          <a:bodyPr anchor="t" rtlCol="false" tIns="0" lIns="0" bIns="0" rIns="0">
            <a:spAutoFit/>
          </a:bodyPr>
          <a:lstStyle/>
          <a:p>
            <a:pPr algn="l">
              <a:lnSpc>
                <a:spcPts val="5500"/>
              </a:lnSpc>
            </a:pPr>
            <a:r>
              <a:rPr lang="en-US" sz="3254">
                <a:solidFill>
                  <a:srgbClr val="473821"/>
                </a:solidFill>
                <a:latin typeface="Times New Roman"/>
                <a:ea typeface="Times New Roman"/>
                <a:cs typeface="Times New Roman"/>
                <a:sym typeface="Times New Roman"/>
              </a:rPr>
              <a:t>Trong đó:</a:t>
            </a:r>
          </a:p>
          <a:p>
            <a:pPr algn="l" marL="702672" indent="-351336" lvl="1">
              <a:lnSpc>
                <a:spcPts val="5500"/>
              </a:lnSpc>
              <a:buFont typeface="Arial"/>
              <a:buChar char="•"/>
            </a:pPr>
            <a:r>
              <a:rPr lang="en-US" sz="3254">
                <a:solidFill>
                  <a:srgbClr val="473821"/>
                </a:solidFill>
                <a:latin typeface="Times New Roman"/>
                <a:ea typeface="Times New Roman"/>
                <a:cs typeface="Times New Roman"/>
                <a:sym typeface="Times New Roman"/>
              </a:rPr>
              <a:t>Hệ luật là thành phần cốt lõi</a:t>
            </a:r>
          </a:p>
          <a:p>
            <a:pPr algn="l" marL="702672" indent="-351336" lvl="1">
              <a:lnSpc>
                <a:spcPts val="5500"/>
              </a:lnSpc>
              <a:buFont typeface="Arial"/>
              <a:buChar char="•"/>
            </a:pPr>
            <a:r>
              <a:rPr lang="en-US" sz="3254">
                <a:solidFill>
                  <a:srgbClr val="473821"/>
                </a:solidFill>
                <a:latin typeface="Times New Roman"/>
                <a:ea typeface="Times New Roman"/>
                <a:cs typeface="Times New Roman"/>
                <a:sym typeface="Times New Roman"/>
              </a:rPr>
              <a:t>Thực hi</a:t>
            </a:r>
            <a:r>
              <a:rPr lang="en-US" sz="3254">
                <a:solidFill>
                  <a:srgbClr val="473821"/>
                </a:solidFill>
                <a:latin typeface="Times New Roman"/>
                <a:ea typeface="Times New Roman"/>
                <a:cs typeface="Times New Roman"/>
                <a:sym typeface="Times New Roman"/>
              </a:rPr>
              <a:t>ện suy luận logic từ tri thức chuyên gia</a:t>
            </a:r>
          </a:p>
          <a:p>
            <a:pPr algn="l">
              <a:lnSpc>
                <a:spcPts val="5500"/>
              </a:lnSpc>
            </a:pPr>
          </a:p>
        </p:txBody>
      </p:sp>
      <p:sp>
        <p:nvSpPr>
          <p:cNvPr name="TextBox 11" id="11"/>
          <p:cNvSpPr txBox="true"/>
          <p:nvPr/>
        </p:nvSpPr>
        <p:spPr>
          <a:xfrm rot="0">
            <a:off x="17143019" y="9067800"/>
            <a:ext cx="759504" cy="804545"/>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231709" y="260318"/>
            <a:ext cx="3388214" cy="3320453"/>
          </a:xfrm>
          <a:custGeom>
            <a:avLst/>
            <a:gdLst/>
            <a:ahLst/>
            <a:cxnLst/>
            <a:rect r="r" b="b" t="t" l="l"/>
            <a:pathLst>
              <a:path h="3320453" w="3388214">
                <a:moveTo>
                  <a:pt x="0" y="3320453"/>
                </a:moveTo>
                <a:lnTo>
                  <a:pt x="3388213" y="3320453"/>
                </a:lnTo>
                <a:lnTo>
                  <a:pt x="3388213" y="0"/>
                </a:lnTo>
                <a:lnTo>
                  <a:pt x="0" y="0"/>
                </a:lnTo>
                <a:lnTo>
                  <a:pt x="0" y="3320453"/>
                </a:lnTo>
                <a:close/>
              </a:path>
            </a:pathLst>
          </a:custGeom>
          <a:blipFill>
            <a:blip r:embed="rId2">
              <a:extLst>
                <a:ext uri="{96DAC541-7B7A-43D3-8B79-37D633B846F1}">
                  <asvg:svgBlip xmlns:asvg="http://schemas.microsoft.com/office/drawing/2016/SVG/main" r:embed="rId3"/>
                </a:ext>
              </a:extLst>
            </a:blip>
            <a:stretch>
              <a:fillRect l="0" t="-160" r="0" b="-160"/>
            </a:stretch>
          </a:blipFill>
        </p:spPr>
      </p:sp>
      <p:sp>
        <p:nvSpPr>
          <p:cNvPr name="Freeform 3" id="3"/>
          <p:cNvSpPr/>
          <p:nvPr/>
        </p:nvSpPr>
        <p:spPr>
          <a:xfrm flipH="true" flipV="true" rot="0">
            <a:off x="14579965" y="260318"/>
            <a:ext cx="3388214" cy="3320453"/>
          </a:xfrm>
          <a:custGeom>
            <a:avLst/>
            <a:gdLst/>
            <a:ahLst/>
            <a:cxnLst/>
            <a:rect r="r" b="b" t="t" l="l"/>
            <a:pathLst>
              <a:path h="3320453" w="3388214">
                <a:moveTo>
                  <a:pt x="3388214" y="3320453"/>
                </a:moveTo>
                <a:lnTo>
                  <a:pt x="0" y="3320453"/>
                </a:lnTo>
                <a:lnTo>
                  <a:pt x="0" y="0"/>
                </a:lnTo>
                <a:lnTo>
                  <a:pt x="3388214" y="0"/>
                </a:lnTo>
                <a:lnTo>
                  <a:pt x="3388214" y="3320453"/>
                </a:lnTo>
                <a:close/>
              </a:path>
            </a:pathLst>
          </a:custGeom>
          <a:blipFill>
            <a:blip r:embed="rId2">
              <a:extLst>
                <a:ext uri="{96DAC541-7B7A-43D3-8B79-37D633B846F1}">
                  <asvg:svgBlip xmlns:asvg="http://schemas.microsoft.com/office/drawing/2016/SVG/main" r:embed="rId3"/>
                </a:ext>
              </a:extLst>
            </a:blip>
            <a:stretch>
              <a:fillRect l="0" t="-160" r="0" b="-160"/>
            </a:stretch>
          </a:blipFill>
        </p:spPr>
      </p:sp>
      <p:sp>
        <p:nvSpPr>
          <p:cNvPr name="Freeform 4" id="4"/>
          <p:cNvSpPr/>
          <p:nvPr/>
        </p:nvSpPr>
        <p:spPr>
          <a:xfrm flipH="false" flipV="false" rot="0">
            <a:off x="1247966" y="1028700"/>
            <a:ext cx="10960043" cy="9357136"/>
          </a:xfrm>
          <a:custGeom>
            <a:avLst/>
            <a:gdLst/>
            <a:ahLst/>
            <a:cxnLst/>
            <a:rect r="r" b="b" t="t" l="l"/>
            <a:pathLst>
              <a:path h="9357136" w="10960043">
                <a:moveTo>
                  <a:pt x="0" y="0"/>
                </a:moveTo>
                <a:lnTo>
                  <a:pt x="10960043" y="0"/>
                </a:lnTo>
                <a:lnTo>
                  <a:pt x="10960043" y="9357136"/>
                </a:lnTo>
                <a:lnTo>
                  <a:pt x="0" y="9357136"/>
                </a:lnTo>
                <a:lnTo>
                  <a:pt x="0" y="0"/>
                </a:lnTo>
                <a:close/>
              </a:path>
            </a:pathLst>
          </a:custGeom>
          <a:blipFill>
            <a:blip r:embed="rId4"/>
            <a:stretch>
              <a:fillRect l="0" t="0" r="0" b="0"/>
            </a:stretch>
          </a:blipFill>
        </p:spPr>
      </p:sp>
      <p:grpSp>
        <p:nvGrpSpPr>
          <p:cNvPr name="Group 5" id="5"/>
          <p:cNvGrpSpPr/>
          <p:nvPr/>
        </p:nvGrpSpPr>
        <p:grpSpPr>
          <a:xfrm rot="0">
            <a:off x="7556894" y="1028700"/>
            <a:ext cx="3086100" cy="419632"/>
            <a:chOff x="0" y="0"/>
            <a:chExt cx="812800" cy="110520"/>
          </a:xfrm>
        </p:grpSpPr>
        <p:sp>
          <p:nvSpPr>
            <p:cNvPr name="Freeform 6" id="6"/>
            <p:cNvSpPr/>
            <p:nvPr/>
          </p:nvSpPr>
          <p:spPr>
            <a:xfrm flipH="false" flipV="false" rot="0">
              <a:off x="0" y="0"/>
              <a:ext cx="812800" cy="110520"/>
            </a:xfrm>
            <a:custGeom>
              <a:avLst/>
              <a:gdLst/>
              <a:ahLst/>
              <a:cxnLst/>
              <a:rect r="r" b="b" t="t" l="l"/>
              <a:pathLst>
                <a:path h="110520" w="812800">
                  <a:moveTo>
                    <a:pt x="0" y="0"/>
                  </a:moveTo>
                  <a:lnTo>
                    <a:pt x="812800" y="0"/>
                  </a:lnTo>
                  <a:lnTo>
                    <a:pt x="812800" y="110520"/>
                  </a:lnTo>
                  <a:lnTo>
                    <a:pt x="0" y="110520"/>
                  </a:lnTo>
                  <a:close/>
                </a:path>
              </a:pathLst>
            </a:custGeom>
            <a:solidFill>
              <a:srgbClr val="FBFBFB"/>
            </a:solidFill>
          </p:spPr>
        </p:sp>
        <p:sp>
          <p:nvSpPr>
            <p:cNvPr name="TextBox 7" id="7"/>
            <p:cNvSpPr txBox="true"/>
            <p:nvPr/>
          </p:nvSpPr>
          <p:spPr>
            <a:xfrm>
              <a:off x="0" y="-38100"/>
              <a:ext cx="812800" cy="148620"/>
            </a:xfrm>
            <a:prstGeom prst="rect">
              <a:avLst/>
            </a:prstGeom>
          </p:spPr>
          <p:txBody>
            <a:bodyPr anchor="ctr" rtlCol="false" tIns="50800" lIns="50800" bIns="50800" rIns="50800"/>
            <a:lstStyle/>
            <a:p>
              <a:pPr algn="ctr">
                <a:lnSpc>
                  <a:spcPts val="2660"/>
                </a:lnSpc>
              </a:pPr>
            </a:p>
          </p:txBody>
        </p:sp>
      </p:grpSp>
      <p:sp>
        <p:nvSpPr>
          <p:cNvPr name="TextBox 8" id="8"/>
          <p:cNvSpPr txBox="true"/>
          <p:nvPr/>
        </p:nvSpPr>
        <p:spPr>
          <a:xfrm rot="0">
            <a:off x="3454072" y="220911"/>
            <a:ext cx="11125893" cy="807789"/>
          </a:xfrm>
          <a:prstGeom prst="rect">
            <a:avLst/>
          </a:prstGeom>
        </p:spPr>
        <p:txBody>
          <a:bodyPr anchor="t" rtlCol="false" tIns="0" lIns="0" bIns="0" rIns="0">
            <a:spAutoFit/>
          </a:bodyPr>
          <a:lstStyle/>
          <a:p>
            <a:pPr algn="ctr">
              <a:lnSpc>
                <a:spcPts val="6453"/>
              </a:lnSpc>
            </a:pPr>
            <a:r>
              <a:rPr lang="en-US" sz="4515">
                <a:solidFill>
                  <a:srgbClr val="473821"/>
                </a:solidFill>
                <a:latin typeface="Times New Roman"/>
                <a:ea typeface="Times New Roman"/>
                <a:cs typeface="Times New Roman"/>
                <a:sym typeface="Times New Roman"/>
              </a:rPr>
              <a:t>I</a:t>
            </a:r>
            <a:r>
              <a:rPr lang="en-US" sz="4515">
                <a:solidFill>
                  <a:srgbClr val="473821"/>
                </a:solidFill>
                <a:latin typeface="Times New Roman"/>
                <a:ea typeface="Times New Roman"/>
                <a:cs typeface="Times New Roman"/>
                <a:sym typeface="Times New Roman"/>
              </a:rPr>
              <a:t>V. HỆ LUẬT &amp; THUẬT GIẢI SUY LUẬN</a:t>
            </a:r>
          </a:p>
        </p:txBody>
      </p:sp>
      <p:sp>
        <p:nvSpPr>
          <p:cNvPr name="TextBox 9" id="9"/>
          <p:cNvSpPr txBox="true"/>
          <p:nvPr/>
        </p:nvSpPr>
        <p:spPr>
          <a:xfrm rot="0">
            <a:off x="17143019" y="9067800"/>
            <a:ext cx="759504" cy="804545"/>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18</a:t>
            </a:r>
          </a:p>
        </p:txBody>
      </p:sp>
      <p:sp>
        <p:nvSpPr>
          <p:cNvPr name="TextBox 10" id="10"/>
          <p:cNvSpPr txBox="true"/>
          <p:nvPr/>
        </p:nvSpPr>
        <p:spPr>
          <a:xfrm rot="0">
            <a:off x="12660964" y="2164987"/>
            <a:ext cx="4482055" cy="6134226"/>
          </a:xfrm>
          <a:prstGeom prst="rect">
            <a:avLst/>
          </a:prstGeom>
        </p:spPr>
        <p:txBody>
          <a:bodyPr anchor="t" rtlCol="false" tIns="0" lIns="0" bIns="0" rIns="0">
            <a:spAutoFit/>
          </a:bodyPr>
          <a:lstStyle/>
          <a:p>
            <a:pPr algn="l">
              <a:lnSpc>
                <a:spcPts val="3063"/>
              </a:lnSpc>
            </a:pPr>
            <a:r>
              <a:rPr lang="en-US" sz="2143">
                <a:solidFill>
                  <a:srgbClr val="473821"/>
                </a:solidFill>
                <a:latin typeface="Times New Roman"/>
                <a:ea typeface="Times New Roman"/>
                <a:cs typeface="Times New Roman"/>
                <a:sym typeface="Times New Roman"/>
              </a:rPr>
              <a:t>Người dùng nhập dữ liệu trên giao diện Streamlit ⟶ Controller tiền xử lý và xây dựng facts, trong đó có các chỉ số suy ra như income_expense_ratio và debt_ratio.</a:t>
            </a:r>
          </a:p>
          <a:p>
            <a:pPr algn="l">
              <a:lnSpc>
                <a:spcPts val="3063"/>
              </a:lnSpc>
            </a:pPr>
            <a:r>
              <a:rPr lang="en-US" sz="2143">
                <a:solidFill>
                  <a:srgbClr val="473821"/>
                </a:solidFill>
                <a:latin typeface="Times New Roman"/>
                <a:ea typeface="Times New Roman"/>
                <a:cs typeface="Times New Roman"/>
                <a:sym typeface="Times New Roman"/>
              </a:rPr>
              <a:t> Facts này được đưa vào Rule Engine để suy diễn theo thuật giải suy diễn tiến (forward chaining), sinh ra các kết luận logic và danh sách luật đã kích hoạt.</a:t>
            </a:r>
          </a:p>
          <a:p>
            <a:pPr algn="l">
              <a:lnSpc>
                <a:spcPts val="3063"/>
              </a:lnSpc>
            </a:pPr>
            <a:r>
              <a:rPr lang="en-US" sz="2143">
                <a:solidFill>
                  <a:srgbClr val="473821"/>
                </a:solidFill>
                <a:latin typeface="Times New Roman"/>
                <a:ea typeface="Times New Roman"/>
                <a:cs typeface="Times New Roman"/>
                <a:sym typeface="Times New Roman"/>
              </a:rPr>
              <a:t> Song song, Controller gọi mô hình Bayesian để dự đoán xác suất.</a:t>
            </a:r>
          </a:p>
          <a:p>
            <a:pPr algn="l">
              <a:lnSpc>
                <a:spcPts val="3063"/>
              </a:lnSpc>
            </a:pPr>
            <a:r>
              <a:rPr lang="en-US" sz="2143">
                <a:solidFill>
                  <a:srgbClr val="473821"/>
                </a:solidFill>
                <a:latin typeface="Times New Roman"/>
                <a:ea typeface="Times New Roman"/>
                <a:cs typeface="Times New Roman"/>
                <a:sym typeface="Times New Roman"/>
              </a:rPr>
              <a:t> Kết quả cuối cùng được kết hợp với ưu tiên hệ luật, sau đó LLM được gọi thông qua API key để sinh giải thích cho người dùng.</a:t>
            </a:r>
          </a:p>
          <a:p>
            <a:pPr algn="l">
              <a:lnSpc>
                <a:spcPts val="3063"/>
              </a:lnSpc>
            </a:pPr>
          </a:p>
        </p:txBody>
      </p:sp>
      <p:sp>
        <p:nvSpPr>
          <p:cNvPr name="TextBox 11" id="11"/>
          <p:cNvSpPr txBox="true"/>
          <p:nvPr/>
        </p:nvSpPr>
        <p:spPr>
          <a:xfrm rot="0">
            <a:off x="12395629" y="8158351"/>
            <a:ext cx="5506894" cy="1004699"/>
          </a:xfrm>
          <a:prstGeom prst="rect">
            <a:avLst/>
          </a:prstGeom>
        </p:spPr>
        <p:txBody>
          <a:bodyPr anchor="t" rtlCol="false" tIns="0" lIns="0" bIns="0" rIns="0">
            <a:spAutoFit/>
          </a:bodyPr>
          <a:lstStyle/>
          <a:p>
            <a:pPr algn="ctr">
              <a:lnSpc>
                <a:spcPts val="3984"/>
              </a:lnSpc>
              <a:spcBef>
                <a:spcPct val="0"/>
              </a:spcBef>
            </a:pPr>
            <a:r>
              <a:rPr lang="en-US" sz="2788">
                <a:solidFill>
                  <a:srgbClr val="E22424"/>
                </a:solidFill>
                <a:latin typeface="Times New Roman"/>
                <a:ea typeface="Times New Roman"/>
                <a:cs typeface="Times New Roman"/>
                <a:sym typeface="Times New Roman"/>
              </a:rPr>
              <a:t>LLM không tham gia suy diễn mà chỉ đóng vai trò diễn giải kết quả.</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17028" t="0" r="-17028" b="0"/>
              </a:stretch>
            </a:blipFill>
          </p:spPr>
        </p:sp>
      </p:grpSp>
      <p:sp>
        <p:nvSpPr>
          <p:cNvPr name="Freeform 4" id="4"/>
          <p:cNvSpPr/>
          <p:nvPr/>
        </p:nvSpPr>
        <p:spPr>
          <a:xfrm flipH="false" flipV="false" rot="0">
            <a:off x="1882793" y="686718"/>
            <a:ext cx="15093694" cy="9435256"/>
          </a:xfrm>
          <a:custGeom>
            <a:avLst/>
            <a:gdLst/>
            <a:ahLst/>
            <a:cxnLst/>
            <a:rect r="r" b="b" t="t" l="l"/>
            <a:pathLst>
              <a:path h="9435256" w="15093694">
                <a:moveTo>
                  <a:pt x="0" y="0"/>
                </a:moveTo>
                <a:lnTo>
                  <a:pt x="15093694" y="0"/>
                </a:lnTo>
                <a:lnTo>
                  <a:pt x="15093694" y="9435256"/>
                </a:lnTo>
                <a:lnTo>
                  <a:pt x="0" y="94352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true" rot="0">
            <a:off x="231709" y="260318"/>
            <a:ext cx="3388214" cy="3320453"/>
          </a:xfrm>
          <a:custGeom>
            <a:avLst/>
            <a:gdLst/>
            <a:ahLst/>
            <a:cxnLst/>
            <a:rect r="r" b="b" t="t" l="l"/>
            <a:pathLst>
              <a:path h="3320453" w="3388214">
                <a:moveTo>
                  <a:pt x="0" y="3320453"/>
                </a:moveTo>
                <a:lnTo>
                  <a:pt x="3388213" y="3320453"/>
                </a:lnTo>
                <a:lnTo>
                  <a:pt x="3388213" y="0"/>
                </a:lnTo>
                <a:lnTo>
                  <a:pt x="0" y="0"/>
                </a:lnTo>
                <a:lnTo>
                  <a:pt x="0" y="3320453"/>
                </a:lnTo>
                <a:close/>
              </a:path>
            </a:pathLst>
          </a:custGeom>
          <a:blipFill>
            <a:blip r:embed="rId5">
              <a:extLst>
                <a:ext uri="{96DAC541-7B7A-43D3-8B79-37D633B846F1}">
                  <asvg:svgBlip xmlns:asvg="http://schemas.microsoft.com/office/drawing/2016/SVG/main" r:embed="rId6"/>
                </a:ext>
              </a:extLst>
            </a:blip>
            <a:stretch>
              <a:fillRect l="0" t="-160" r="0" b="-160"/>
            </a:stretch>
          </a:blipFill>
        </p:spPr>
      </p:sp>
      <p:sp>
        <p:nvSpPr>
          <p:cNvPr name="Freeform 6" id="6"/>
          <p:cNvSpPr/>
          <p:nvPr/>
        </p:nvSpPr>
        <p:spPr>
          <a:xfrm flipH="true" flipV="true" rot="0">
            <a:off x="14579965" y="260318"/>
            <a:ext cx="3388214" cy="3320453"/>
          </a:xfrm>
          <a:custGeom>
            <a:avLst/>
            <a:gdLst/>
            <a:ahLst/>
            <a:cxnLst/>
            <a:rect r="r" b="b" t="t" l="l"/>
            <a:pathLst>
              <a:path h="3320453" w="3388214">
                <a:moveTo>
                  <a:pt x="3388214" y="3320453"/>
                </a:moveTo>
                <a:lnTo>
                  <a:pt x="0" y="3320453"/>
                </a:lnTo>
                <a:lnTo>
                  <a:pt x="0" y="0"/>
                </a:lnTo>
                <a:lnTo>
                  <a:pt x="3388214" y="0"/>
                </a:lnTo>
                <a:lnTo>
                  <a:pt x="3388214" y="3320453"/>
                </a:lnTo>
                <a:close/>
              </a:path>
            </a:pathLst>
          </a:custGeom>
          <a:blipFill>
            <a:blip r:embed="rId5">
              <a:extLst>
                <a:ext uri="{96DAC541-7B7A-43D3-8B79-37D633B846F1}">
                  <asvg:svgBlip xmlns:asvg="http://schemas.microsoft.com/office/drawing/2016/SVG/main" r:embed="rId6"/>
                </a:ext>
              </a:extLst>
            </a:blip>
            <a:stretch>
              <a:fillRect l="0" t="-160" r="0" b="-160"/>
            </a:stretch>
          </a:blipFill>
        </p:spPr>
      </p:sp>
      <p:sp>
        <p:nvSpPr>
          <p:cNvPr name="TextBox 7" id="7"/>
          <p:cNvSpPr txBox="true"/>
          <p:nvPr/>
        </p:nvSpPr>
        <p:spPr>
          <a:xfrm rot="0">
            <a:off x="2349044" y="2025320"/>
            <a:ext cx="10634524" cy="8096654"/>
          </a:xfrm>
          <a:prstGeom prst="rect">
            <a:avLst/>
          </a:prstGeom>
        </p:spPr>
        <p:txBody>
          <a:bodyPr anchor="t" rtlCol="false" tIns="0" lIns="0" bIns="0" rIns="0">
            <a:spAutoFit/>
          </a:bodyPr>
          <a:lstStyle/>
          <a:p>
            <a:pPr algn="l">
              <a:lnSpc>
                <a:spcPts val="5036"/>
              </a:lnSpc>
            </a:pPr>
            <a:r>
              <a:rPr lang="en-US" sz="3524">
                <a:solidFill>
                  <a:srgbClr val="473821"/>
                </a:solidFill>
                <a:latin typeface="Times New Roman"/>
                <a:ea typeface="Times New Roman"/>
                <a:cs typeface="Times New Roman"/>
                <a:sym typeface="Times New Roman"/>
              </a:rPr>
              <a:t>Tri thức miền: đánh giá tín dụng cá nhân</a:t>
            </a:r>
          </a:p>
          <a:p>
            <a:pPr algn="l">
              <a:lnSpc>
                <a:spcPts val="5036"/>
              </a:lnSpc>
            </a:pPr>
            <a:r>
              <a:rPr lang="en-US" sz="3524">
                <a:solidFill>
                  <a:srgbClr val="473821"/>
                </a:solidFill>
                <a:latin typeface="Times New Roman"/>
                <a:ea typeface="Times New Roman"/>
                <a:cs typeface="Times New Roman"/>
                <a:sym typeface="Times New Roman"/>
              </a:rPr>
              <a:t>Tri thức được biểu diễn dưới dạng facts</a:t>
            </a:r>
          </a:p>
          <a:p>
            <a:pPr algn="l">
              <a:lnSpc>
                <a:spcPts val="5036"/>
              </a:lnSpc>
            </a:pPr>
            <a:r>
              <a:rPr lang="en-US" sz="3524">
                <a:solidFill>
                  <a:srgbClr val="473821"/>
                </a:solidFill>
                <a:latin typeface="Times New Roman"/>
                <a:ea typeface="Times New Roman"/>
                <a:cs typeface="Times New Roman"/>
                <a:sym typeface="Times New Roman"/>
              </a:rPr>
              <a:t>Facts là các thuộc tính của khách hàng sau tiền xử lý:</a:t>
            </a:r>
          </a:p>
          <a:p>
            <a:pPr algn="l" marL="760884" indent="-380442" lvl="1">
              <a:lnSpc>
                <a:spcPts val="5036"/>
              </a:lnSpc>
              <a:buFont typeface="Arial"/>
              <a:buChar char="•"/>
            </a:pPr>
            <a:r>
              <a:rPr lang="en-US" sz="3524">
                <a:solidFill>
                  <a:srgbClr val="473821"/>
                </a:solidFill>
                <a:latin typeface="Times New Roman"/>
                <a:ea typeface="Times New Roman"/>
                <a:cs typeface="Times New Roman"/>
                <a:sym typeface="Times New Roman"/>
              </a:rPr>
              <a:t>Thu nhập, chi tiêu, nợ</a:t>
            </a:r>
          </a:p>
          <a:p>
            <a:pPr algn="l" marL="760884" indent="-380442" lvl="1">
              <a:lnSpc>
                <a:spcPts val="5036"/>
              </a:lnSpc>
              <a:buFont typeface="Arial"/>
              <a:buChar char="•"/>
            </a:pPr>
            <a:r>
              <a:rPr lang="en-US" sz="3524">
                <a:solidFill>
                  <a:srgbClr val="473821"/>
                </a:solidFill>
                <a:latin typeface="Times New Roman"/>
                <a:ea typeface="Times New Roman"/>
                <a:cs typeface="Times New Roman"/>
                <a:sym typeface="Times New Roman"/>
              </a:rPr>
              <a:t>Số lần trả chậm, lịch sử tín dụng</a:t>
            </a:r>
          </a:p>
          <a:p>
            <a:pPr algn="l" marL="760884" indent="-380442" lvl="1">
              <a:lnSpc>
                <a:spcPts val="5036"/>
              </a:lnSpc>
              <a:buFont typeface="Arial"/>
              <a:buChar char="•"/>
            </a:pPr>
            <a:r>
              <a:rPr lang="en-US" sz="3524">
                <a:solidFill>
                  <a:srgbClr val="473821"/>
                </a:solidFill>
                <a:latin typeface="Times New Roman"/>
                <a:ea typeface="Times New Roman"/>
                <a:cs typeface="Times New Roman"/>
                <a:sym typeface="Times New Roman"/>
              </a:rPr>
              <a:t>Các chỉ số suy ra:</a:t>
            </a:r>
          </a:p>
          <a:p>
            <a:pPr algn="l" marL="1521768" indent="-507256" lvl="2">
              <a:lnSpc>
                <a:spcPts val="5036"/>
              </a:lnSpc>
              <a:buFont typeface="Arial"/>
              <a:buChar char="⚬"/>
            </a:pPr>
            <a:r>
              <a:rPr lang="en-US" sz="3524">
                <a:solidFill>
                  <a:srgbClr val="473821"/>
                </a:solidFill>
                <a:latin typeface="Times New Roman"/>
                <a:ea typeface="Times New Roman"/>
                <a:cs typeface="Times New Roman"/>
                <a:sym typeface="Times New Roman"/>
              </a:rPr>
              <a:t>income_expense_ratio: tỷ lệ giữa thu nhập và chi tiêu hàng tháng</a:t>
            </a:r>
          </a:p>
          <a:p>
            <a:pPr algn="l" marL="1521768" indent="-507256" lvl="2">
              <a:lnSpc>
                <a:spcPts val="5036"/>
              </a:lnSpc>
              <a:buFont typeface="Arial"/>
              <a:buChar char="⚬"/>
            </a:pPr>
            <a:r>
              <a:rPr lang="en-US" sz="3524">
                <a:solidFill>
                  <a:srgbClr val="473821"/>
                </a:solidFill>
                <a:latin typeface="Times New Roman"/>
                <a:ea typeface="Times New Roman"/>
                <a:cs typeface="Times New Roman"/>
                <a:sym typeface="Times New Roman"/>
              </a:rPr>
              <a:t>debt_ratio: tỷ lệ giữa tổng nợ và thu nhập hàng tháng</a:t>
            </a:r>
          </a:p>
          <a:p>
            <a:pPr algn="l">
              <a:lnSpc>
                <a:spcPts val="5036"/>
              </a:lnSpc>
            </a:pPr>
            <a:r>
              <a:rPr lang="en-US" sz="3524">
                <a:solidFill>
                  <a:srgbClr val="473821"/>
                </a:solidFill>
                <a:latin typeface="Times New Roman"/>
                <a:ea typeface="Times New Roman"/>
                <a:cs typeface="Times New Roman"/>
                <a:sym typeface="Times New Roman"/>
              </a:rPr>
              <a:t>Mỗi fact có dạng:</a:t>
            </a:r>
          </a:p>
          <a:p>
            <a:pPr algn="l" marL="760884" indent="-380442" lvl="1">
              <a:lnSpc>
                <a:spcPts val="5036"/>
              </a:lnSpc>
              <a:buFont typeface="Arial"/>
              <a:buChar char="•"/>
            </a:pPr>
            <a:r>
              <a:rPr lang="en-US" sz="3524">
                <a:solidFill>
                  <a:srgbClr val="473821"/>
                </a:solidFill>
                <a:latin typeface="Times New Roman"/>
                <a:ea typeface="Times New Roman"/>
                <a:cs typeface="Times New Roman"/>
                <a:sym typeface="Times New Roman"/>
              </a:rPr>
              <a:t>tên thuộc tính → giá trị</a:t>
            </a:r>
          </a:p>
          <a:p>
            <a:pPr algn="l">
              <a:lnSpc>
                <a:spcPts val="3346"/>
              </a:lnSpc>
            </a:pPr>
          </a:p>
        </p:txBody>
      </p:sp>
      <p:sp>
        <p:nvSpPr>
          <p:cNvPr name="Freeform 8" id="8"/>
          <p:cNvSpPr/>
          <p:nvPr/>
        </p:nvSpPr>
        <p:spPr>
          <a:xfrm flipH="false" flipV="false" rot="0">
            <a:off x="12030853" y="3086100"/>
            <a:ext cx="1539621" cy="4114800"/>
          </a:xfrm>
          <a:custGeom>
            <a:avLst/>
            <a:gdLst/>
            <a:ahLst/>
            <a:cxnLst/>
            <a:rect r="r" b="b" t="t" l="l"/>
            <a:pathLst>
              <a:path h="4114800" w="1539621">
                <a:moveTo>
                  <a:pt x="0" y="0"/>
                </a:moveTo>
                <a:lnTo>
                  <a:pt x="1539621" y="0"/>
                </a:lnTo>
                <a:lnTo>
                  <a:pt x="1539621"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3454072" y="220911"/>
            <a:ext cx="11125893" cy="807789"/>
          </a:xfrm>
          <a:prstGeom prst="rect">
            <a:avLst/>
          </a:prstGeom>
        </p:spPr>
        <p:txBody>
          <a:bodyPr anchor="t" rtlCol="false" tIns="0" lIns="0" bIns="0" rIns="0">
            <a:spAutoFit/>
          </a:bodyPr>
          <a:lstStyle/>
          <a:p>
            <a:pPr algn="ctr">
              <a:lnSpc>
                <a:spcPts val="6453"/>
              </a:lnSpc>
            </a:pPr>
            <a:r>
              <a:rPr lang="en-US" sz="4515">
                <a:solidFill>
                  <a:srgbClr val="473821"/>
                </a:solidFill>
                <a:latin typeface="Times New Roman"/>
                <a:ea typeface="Times New Roman"/>
                <a:cs typeface="Times New Roman"/>
                <a:sym typeface="Times New Roman"/>
              </a:rPr>
              <a:t>I</a:t>
            </a:r>
            <a:r>
              <a:rPr lang="en-US" sz="4515">
                <a:solidFill>
                  <a:srgbClr val="473821"/>
                </a:solidFill>
                <a:latin typeface="Times New Roman"/>
                <a:ea typeface="Times New Roman"/>
                <a:cs typeface="Times New Roman"/>
                <a:sym typeface="Times New Roman"/>
              </a:rPr>
              <a:t>V. HỆ LUẬT &amp; THUẬT GIẢI SUY LUẬN</a:t>
            </a:r>
          </a:p>
        </p:txBody>
      </p:sp>
      <p:sp>
        <p:nvSpPr>
          <p:cNvPr name="TextBox 10" id="10"/>
          <p:cNvSpPr txBox="true"/>
          <p:nvPr/>
        </p:nvSpPr>
        <p:spPr>
          <a:xfrm rot="0">
            <a:off x="3619922" y="1112755"/>
            <a:ext cx="9363645" cy="807789"/>
          </a:xfrm>
          <a:prstGeom prst="rect">
            <a:avLst/>
          </a:prstGeom>
        </p:spPr>
        <p:txBody>
          <a:bodyPr anchor="t" rtlCol="false" tIns="0" lIns="0" bIns="0" rIns="0">
            <a:spAutoFit/>
          </a:bodyPr>
          <a:lstStyle/>
          <a:p>
            <a:pPr algn="ctr">
              <a:lnSpc>
                <a:spcPts val="6453"/>
              </a:lnSpc>
            </a:pPr>
            <a:r>
              <a:rPr lang="en-US" sz="4515">
                <a:solidFill>
                  <a:srgbClr val="473821"/>
                </a:solidFill>
                <a:latin typeface="Times New Roman"/>
                <a:ea typeface="Times New Roman"/>
                <a:cs typeface="Times New Roman"/>
                <a:sym typeface="Times New Roman"/>
              </a:rPr>
              <a:t>2. Biểu diễn tri thức miền: Facts</a:t>
            </a:r>
          </a:p>
        </p:txBody>
      </p:sp>
      <p:sp>
        <p:nvSpPr>
          <p:cNvPr name="TextBox 11" id="11"/>
          <p:cNvSpPr txBox="true"/>
          <p:nvPr/>
        </p:nvSpPr>
        <p:spPr>
          <a:xfrm rot="0">
            <a:off x="13822519" y="2234079"/>
            <a:ext cx="2066636" cy="5888169"/>
          </a:xfrm>
          <a:prstGeom prst="rect">
            <a:avLst/>
          </a:prstGeom>
        </p:spPr>
        <p:txBody>
          <a:bodyPr anchor="t" rtlCol="false" tIns="0" lIns="0" bIns="0" rIns="0">
            <a:spAutoFit/>
          </a:bodyPr>
          <a:lstStyle/>
          <a:p>
            <a:pPr algn="l">
              <a:lnSpc>
                <a:spcPts val="4701"/>
              </a:lnSpc>
            </a:pPr>
            <a:r>
              <a:rPr lang="en-US" sz="3289">
                <a:solidFill>
                  <a:srgbClr val="473821"/>
                </a:solidFill>
                <a:latin typeface="Times New Roman"/>
                <a:ea typeface="Times New Roman"/>
                <a:cs typeface="Times New Roman"/>
                <a:sym typeface="Times New Roman"/>
              </a:rPr>
              <a:t>Facts chính là cách chuyển tri thức về khách hàng từ thế giới thực sang dạng máy có thể suy luận</a:t>
            </a:r>
          </a:p>
        </p:txBody>
      </p:sp>
      <p:sp>
        <p:nvSpPr>
          <p:cNvPr name="TextBox 12" id="12"/>
          <p:cNvSpPr txBox="true"/>
          <p:nvPr/>
        </p:nvSpPr>
        <p:spPr>
          <a:xfrm rot="0">
            <a:off x="17143019" y="9067800"/>
            <a:ext cx="759504" cy="804545"/>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19</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81" y="0"/>
            <a:ext cx="18640450" cy="10287000"/>
            <a:chOff x="0" y="0"/>
            <a:chExt cx="24853933" cy="13716000"/>
          </a:xfrm>
        </p:grpSpPr>
        <p:sp>
          <p:nvSpPr>
            <p:cNvPr name="Freeform 3" id="3"/>
            <p:cNvSpPr/>
            <p:nvPr/>
          </p:nvSpPr>
          <p:spPr>
            <a:xfrm flipH="false" flipV="false" rot="0">
              <a:off x="0" y="0"/>
              <a:ext cx="24853933" cy="13716000"/>
            </a:xfrm>
            <a:custGeom>
              <a:avLst/>
              <a:gdLst/>
              <a:ahLst/>
              <a:cxnLst/>
              <a:rect r="r" b="b" t="t" l="l"/>
              <a:pathLst>
                <a:path h="13716000" w="24853933">
                  <a:moveTo>
                    <a:pt x="0" y="0"/>
                  </a:moveTo>
                  <a:lnTo>
                    <a:pt x="24853933" y="0"/>
                  </a:lnTo>
                  <a:lnTo>
                    <a:pt x="24853933" y="13716000"/>
                  </a:lnTo>
                  <a:lnTo>
                    <a:pt x="0" y="13716000"/>
                  </a:lnTo>
                  <a:lnTo>
                    <a:pt x="0" y="0"/>
                  </a:lnTo>
                  <a:close/>
                </a:path>
              </a:pathLst>
            </a:custGeom>
            <a:blipFill>
              <a:blip r:embed="rId2"/>
              <a:stretch>
                <a:fillRect l="-15760" t="0" r="-15760" b="0"/>
              </a:stretch>
            </a:blipFill>
          </p:spPr>
        </p:sp>
      </p:grpSp>
      <p:sp>
        <p:nvSpPr>
          <p:cNvPr name="Freeform 4" id="4"/>
          <p:cNvSpPr/>
          <p:nvPr/>
        </p:nvSpPr>
        <p:spPr>
          <a:xfrm flipH="false" flipV="false" rot="0">
            <a:off x="2114502" y="686718"/>
            <a:ext cx="14522414" cy="9078141"/>
          </a:xfrm>
          <a:custGeom>
            <a:avLst/>
            <a:gdLst/>
            <a:ahLst/>
            <a:cxnLst/>
            <a:rect r="r" b="b" t="t" l="l"/>
            <a:pathLst>
              <a:path h="9078141" w="14522414">
                <a:moveTo>
                  <a:pt x="0" y="0"/>
                </a:moveTo>
                <a:lnTo>
                  <a:pt x="14522413" y="0"/>
                </a:lnTo>
                <a:lnTo>
                  <a:pt x="14522413" y="9078141"/>
                </a:lnTo>
                <a:lnTo>
                  <a:pt x="0" y="90781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true" rot="0">
            <a:off x="231709" y="260318"/>
            <a:ext cx="3388214" cy="3320453"/>
          </a:xfrm>
          <a:custGeom>
            <a:avLst/>
            <a:gdLst/>
            <a:ahLst/>
            <a:cxnLst/>
            <a:rect r="r" b="b" t="t" l="l"/>
            <a:pathLst>
              <a:path h="3320453" w="3388214">
                <a:moveTo>
                  <a:pt x="0" y="3320453"/>
                </a:moveTo>
                <a:lnTo>
                  <a:pt x="3388213" y="3320453"/>
                </a:lnTo>
                <a:lnTo>
                  <a:pt x="3388213" y="0"/>
                </a:lnTo>
                <a:lnTo>
                  <a:pt x="0" y="0"/>
                </a:lnTo>
                <a:lnTo>
                  <a:pt x="0" y="3320453"/>
                </a:lnTo>
                <a:close/>
              </a:path>
            </a:pathLst>
          </a:custGeom>
          <a:blipFill>
            <a:blip r:embed="rId5">
              <a:extLst>
                <a:ext uri="{96DAC541-7B7A-43D3-8B79-37D633B846F1}">
                  <asvg:svgBlip xmlns:asvg="http://schemas.microsoft.com/office/drawing/2016/SVG/main" r:embed="rId6"/>
                </a:ext>
              </a:extLst>
            </a:blip>
            <a:stretch>
              <a:fillRect l="0" t="-160" r="0" b="-160"/>
            </a:stretch>
          </a:blipFill>
        </p:spPr>
      </p:sp>
      <p:sp>
        <p:nvSpPr>
          <p:cNvPr name="Freeform 6" id="6"/>
          <p:cNvSpPr/>
          <p:nvPr/>
        </p:nvSpPr>
        <p:spPr>
          <a:xfrm flipH="true" flipV="true" rot="0">
            <a:off x="14579965" y="260318"/>
            <a:ext cx="3388214" cy="3320453"/>
          </a:xfrm>
          <a:custGeom>
            <a:avLst/>
            <a:gdLst/>
            <a:ahLst/>
            <a:cxnLst/>
            <a:rect r="r" b="b" t="t" l="l"/>
            <a:pathLst>
              <a:path h="3320453" w="3388214">
                <a:moveTo>
                  <a:pt x="3388214" y="3320453"/>
                </a:moveTo>
                <a:lnTo>
                  <a:pt x="0" y="3320453"/>
                </a:lnTo>
                <a:lnTo>
                  <a:pt x="0" y="0"/>
                </a:lnTo>
                <a:lnTo>
                  <a:pt x="3388214" y="0"/>
                </a:lnTo>
                <a:lnTo>
                  <a:pt x="3388214" y="3320453"/>
                </a:lnTo>
                <a:close/>
              </a:path>
            </a:pathLst>
          </a:custGeom>
          <a:blipFill>
            <a:blip r:embed="rId5">
              <a:extLst>
                <a:ext uri="{96DAC541-7B7A-43D3-8B79-37D633B846F1}">
                  <asvg:svgBlip xmlns:asvg="http://schemas.microsoft.com/office/drawing/2016/SVG/main" r:embed="rId6"/>
                </a:ext>
              </a:extLst>
            </a:blip>
            <a:stretch>
              <a:fillRect l="0" t="-160" r="0" b="-160"/>
            </a:stretch>
          </a:blipFill>
        </p:spPr>
      </p:sp>
      <p:sp>
        <p:nvSpPr>
          <p:cNvPr name="TextBox 7" id="7"/>
          <p:cNvSpPr txBox="true"/>
          <p:nvPr/>
        </p:nvSpPr>
        <p:spPr>
          <a:xfrm rot="0">
            <a:off x="3454072" y="220911"/>
            <a:ext cx="11125893" cy="807789"/>
          </a:xfrm>
          <a:prstGeom prst="rect">
            <a:avLst/>
          </a:prstGeom>
        </p:spPr>
        <p:txBody>
          <a:bodyPr anchor="t" rtlCol="false" tIns="0" lIns="0" bIns="0" rIns="0">
            <a:spAutoFit/>
          </a:bodyPr>
          <a:lstStyle/>
          <a:p>
            <a:pPr algn="ctr">
              <a:lnSpc>
                <a:spcPts val="6453"/>
              </a:lnSpc>
            </a:pPr>
            <a:r>
              <a:rPr lang="en-US" sz="4515">
                <a:solidFill>
                  <a:srgbClr val="473821"/>
                </a:solidFill>
                <a:latin typeface="Times New Roman"/>
                <a:ea typeface="Times New Roman"/>
                <a:cs typeface="Times New Roman"/>
                <a:sym typeface="Times New Roman"/>
              </a:rPr>
              <a:t>I</a:t>
            </a:r>
            <a:r>
              <a:rPr lang="en-US" sz="4515">
                <a:solidFill>
                  <a:srgbClr val="473821"/>
                </a:solidFill>
                <a:latin typeface="Times New Roman"/>
                <a:ea typeface="Times New Roman"/>
                <a:cs typeface="Times New Roman"/>
                <a:sym typeface="Times New Roman"/>
              </a:rPr>
              <a:t>V. HỆ LUẬT &amp; THUẬT GIẢI SUY LUẬN</a:t>
            </a:r>
          </a:p>
        </p:txBody>
      </p:sp>
      <p:sp>
        <p:nvSpPr>
          <p:cNvPr name="TextBox 8" id="8"/>
          <p:cNvSpPr txBox="true"/>
          <p:nvPr/>
        </p:nvSpPr>
        <p:spPr>
          <a:xfrm rot="0">
            <a:off x="3619922" y="1112755"/>
            <a:ext cx="9363645" cy="807789"/>
          </a:xfrm>
          <a:prstGeom prst="rect">
            <a:avLst/>
          </a:prstGeom>
        </p:spPr>
        <p:txBody>
          <a:bodyPr anchor="t" rtlCol="false" tIns="0" lIns="0" bIns="0" rIns="0">
            <a:spAutoFit/>
          </a:bodyPr>
          <a:lstStyle/>
          <a:p>
            <a:pPr algn="ctr">
              <a:lnSpc>
                <a:spcPts val="6453"/>
              </a:lnSpc>
            </a:pPr>
            <a:r>
              <a:rPr lang="en-US" sz="4515">
                <a:solidFill>
                  <a:srgbClr val="473821"/>
                </a:solidFill>
                <a:latin typeface="Times New Roman"/>
                <a:ea typeface="Times New Roman"/>
                <a:cs typeface="Times New Roman"/>
                <a:sym typeface="Times New Roman"/>
              </a:rPr>
              <a:t>2. Biểu diễn tri thức miền: Facts</a:t>
            </a:r>
          </a:p>
        </p:txBody>
      </p:sp>
      <p:sp>
        <p:nvSpPr>
          <p:cNvPr name="TextBox 9" id="9"/>
          <p:cNvSpPr txBox="true"/>
          <p:nvPr/>
        </p:nvSpPr>
        <p:spPr>
          <a:xfrm rot="0">
            <a:off x="2522106" y="2234079"/>
            <a:ext cx="4313502" cy="588365"/>
          </a:xfrm>
          <a:prstGeom prst="rect">
            <a:avLst/>
          </a:prstGeom>
        </p:spPr>
        <p:txBody>
          <a:bodyPr anchor="t" rtlCol="false" tIns="0" lIns="0" bIns="0" rIns="0">
            <a:spAutoFit/>
          </a:bodyPr>
          <a:lstStyle/>
          <a:p>
            <a:pPr algn="l">
              <a:lnSpc>
                <a:spcPts val="4701"/>
              </a:lnSpc>
            </a:pPr>
            <a:r>
              <a:rPr lang="en-US" sz="3289">
                <a:solidFill>
                  <a:srgbClr val="473821"/>
                </a:solidFill>
                <a:latin typeface="Times New Roman"/>
                <a:ea typeface="Times New Roman"/>
                <a:cs typeface="Times New Roman"/>
                <a:sym typeface="Times New Roman"/>
              </a:rPr>
              <a:t>Có hai nhóm fact chính</a:t>
            </a:r>
          </a:p>
        </p:txBody>
      </p:sp>
      <p:sp>
        <p:nvSpPr>
          <p:cNvPr name="TextBox 10" id="10"/>
          <p:cNvSpPr txBox="true"/>
          <p:nvPr/>
        </p:nvSpPr>
        <p:spPr>
          <a:xfrm rot="0">
            <a:off x="2522106" y="2936744"/>
            <a:ext cx="5238682" cy="5299337"/>
          </a:xfrm>
          <a:prstGeom prst="rect">
            <a:avLst/>
          </a:prstGeom>
        </p:spPr>
        <p:txBody>
          <a:bodyPr anchor="t" rtlCol="false" tIns="0" lIns="0" bIns="0" rIns="0">
            <a:spAutoFit/>
          </a:bodyPr>
          <a:lstStyle/>
          <a:p>
            <a:pPr algn="l">
              <a:lnSpc>
                <a:spcPts val="4701"/>
              </a:lnSpc>
            </a:pPr>
            <a:r>
              <a:rPr lang="en-US" sz="3289">
                <a:solidFill>
                  <a:srgbClr val="473821"/>
                </a:solidFill>
                <a:latin typeface="Times New Roman"/>
                <a:ea typeface="Times New Roman"/>
                <a:cs typeface="Times New Roman"/>
                <a:sym typeface="Times New Roman"/>
              </a:rPr>
              <a:t>Nhóm facts đầu vào (ví dụ):</a:t>
            </a:r>
          </a:p>
          <a:p>
            <a:pPr algn="l" marL="710303" indent="-355151" lvl="1">
              <a:lnSpc>
                <a:spcPts val="4701"/>
              </a:lnSpc>
              <a:buFont typeface="Arial"/>
              <a:buChar char="•"/>
            </a:pPr>
            <a:r>
              <a:rPr lang="en-US" sz="3289">
                <a:solidFill>
                  <a:srgbClr val="473821"/>
                </a:solidFill>
                <a:latin typeface="Times New Roman"/>
                <a:ea typeface="Times New Roman"/>
                <a:cs typeface="Times New Roman"/>
                <a:sym typeface="Times New Roman"/>
              </a:rPr>
              <a:t>income_monthly, expense_monthly, debt_amount</a:t>
            </a:r>
          </a:p>
          <a:p>
            <a:pPr algn="l" marL="710303" indent="-355151" lvl="1">
              <a:lnSpc>
                <a:spcPts val="4701"/>
              </a:lnSpc>
              <a:buFont typeface="Arial"/>
              <a:buChar char="•"/>
            </a:pPr>
            <a:r>
              <a:rPr lang="en-US" sz="3289">
                <a:solidFill>
                  <a:srgbClr val="473821"/>
                </a:solidFill>
                <a:latin typeface="Times New Roman"/>
                <a:ea typeface="Times New Roman"/>
                <a:cs typeface="Times New Roman"/>
                <a:sym typeface="Times New Roman"/>
              </a:rPr>
              <a:t>late_payments_12m, credit_history_length_years</a:t>
            </a:r>
          </a:p>
          <a:p>
            <a:pPr algn="l" marL="710303" indent="-355151" lvl="1">
              <a:lnSpc>
                <a:spcPts val="4701"/>
              </a:lnSpc>
              <a:buFont typeface="Arial"/>
              <a:buChar char="•"/>
            </a:pPr>
            <a:r>
              <a:rPr lang="en-US" sz="3289">
                <a:solidFill>
                  <a:srgbClr val="473821"/>
                </a:solidFill>
                <a:latin typeface="Times New Roman"/>
                <a:ea typeface="Times New Roman"/>
                <a:cs typeface="Times New Roman"/>
                <a:sym typeface="Times New Roman"/>
              </a:rPr>
              <a:t>new_credit_accounts, credit_mix</a:t>
            </a:r>
          </a:p>
        </p:txBody>
      </p:sp>
      <p:sp>
        <p:nvSpPr>
          <p:cNvPr name="TextBox 11" id="11"/>
          <p:cNvSpPr txBox="true"/>
          <p:nvPr/>
        </p:nvSpPr>
        <p:spPr>
          <a:xfrm rot="0">
            <a:off x="9635384" y="2936744"/>
            <a:ext cx="5238682" cy="1766134"/>
          </a:xfrm>
          <a:prstGeom prst="rect">
            <a:avLst/>
          </a:prstGeom>
        </p:spPr>
        <p:txBody>
          <a:bodyPr anchor="t" rtlCol="false" tIns="0" lIns="0" bIns="0" rIns="0">
            <a:spAutoFit/>
          </a:bodyPr>
          <a:lstStyle/>
          <a:p>
            <a:pPr algn="l">
              <a:lnSpc>
                <a:spcPts val="4701"/>
              </a:lnSpc>
            </a:pPr>
            <a:r>
              <a:rPr lang="en-US" sz="3289">
                <a:solidFill>
                  <a:srgbClr val="473821"/>
                </a:solidFill>
                <a:latin typeface="Times New Roman"/>
                <a:ea typeface="Times New Roman"/>
                <a:cs typeface="Times New Roman"/>
                <a:sym typeface="Times New Roman"/>
              </a:rPr>
              <a:t>Facts suy ra (derived facts):</a:t>
            </a:r>
          </a:p>
          <a:p>
            <a:pPr algn="l" marL="710303" indent="-355151" lvl="1">
              <a:lnSpc>
                <a:spcPts val="4701"/>
              </a:lnSpc>
              <a:buFont typeface="Arial"/>
              <a:buChar char="•"/>
            </a:pPr>
            <a:r>
              <a:rPr lang="en-US" sz="3289">
                <a:solidFill>
                  <a:srgbClr val="473821"/>
                </a:solidFill>
                <a:latin typeface="Times New Roman"/>
                <a:ea typeface="Times New Roman"/>
                <a:cs typeface="Times New Roman"/>
                <a:sym typeface="Times New Roman"/>
              </a:rPr>
              <a:t>income_expense_ratio </a:t>
            </a:r>
          </a:p>
          <a:p>
            <a:pPr algn="l" marL="710303" indent="-355151" lvl="1">
              <a:lnSpc>
                <a:spcPts val="4701"/>
              </a:lnSpc>
              <a:buFont typeface="Arial"/>
              <a:buChar char="•"/>
            </a:pPr>
            <a:r>
              <a:rPr lang="en-US" sz="3289">
                <a:solidFill>
                  <a:srgbClr val="473821"/>
                </a:solidFill>
                <a:latin typeface="Times New Roman"/>
                <a:ea typeface="Times New Roman"/>
                <a:cs typeface="Times New Roman"/>
                <a:sym typeface="Times New Roman"/>
              </a:rPr>
              <a:t>debt_ratio </a:t>
            </a:r>
          </a:p>
        </p:txBody>
      </p:sp>
      <p:grpSp>
        <p:nvGrpSpPr>
          <p:cNvPr name="Group 12" id="12"/>
          <p:cNvGrpSpPr/>
          <p:nvPr/>
        </p:nvGrpSpPr>
        <p:grpSpPr>
          <a:xfrm rot="0">
            <a:off x="9635384" y="5225789"/>
            <a:ext cx="5421078" cy="3658830"/>
            <a:chOff x="0" y="0"/>
            <a:chExt cx="7228104" cy="4878441"/>
          </a:xfrm>
        </p:grpSpPr>
        <p:grpSp>
          <p:nvGrpSpPr>
            <p:cNvPr name="Group 13" id="13"/>
            <p:cNvGrpSpPr/>
            <p:nvPr/>
          </p:nvGrpSpPr>
          <p:grpSpPr>
            <a:xfrm rot="0">
              <a:off x="0" y="0"/>
              <a:ext cx="7228104" cy="4878441"/>
              <a:chOff x="0" y="0"/>
              <a:chExt cx="1427774" cy="963643"/>
            </a:xfrm>
          </p:grpSpPr>
          <p:sp>
            <p:nvSpPr>
              <p:cNvPr name="Freeform 14" id="14"/>
              <p:cNvSpPr/>
              <p:nvPr/>
            </p:nvSpPr>
            <p:spPr>
              <a:xfrm flipH="false" flipV="false" rot="0">
                <a:off x="0" y="0"/>
                <a:ext cx="1427774" cy="963643"/>
              </a:xfrm>
              <a:custGeom>
                <a:avLst/>
                <a:gdLst/>
                <a:ahLst/>
                <a:cxnLst/>
                <a:rect r="r" b="b" t="t" l="l"/>
                <a:pathLst>
                  <a:path h="963643" w="1427774">
                    <a:moveTo>
                      <a:pt x="0" y="0"/>
                    </a:moveTo>
                    <a:lnTo>
                      <a:pt x="1427774" y="0"/>
                    </a:lnTo>
                    <a:lnTo>
                      <a:pt x="1427774" y="963643"/>
                    </a:lnTo>
                    <a:lnTo>
                      <a:pt x="0" y="963643"/>
                    </a:lnTo>
                    <a:close/>
                  </a:path>
                </a:pathLst>
              </a:custGeom>
              <a:solidFill>
                <a:srgbClr val="FFBD59"/>
              </a:solidFill>
            </p:spPr>
          </p:sp>
          <p:sp>
            <p:nvSpPr>
              <p:cNvPr name="TextBox 15" id="15"/>
              <p:cNvSpPr txBox="true"/>
              <p:nvPr/>
            </p:nvSpPr>
            <p:spPr>
              <a:xfrm>
                <a:off x="0" y="-38100"/>
                <a:ext cx="1427774" cy="1001743"/>
              </a:xfrm>
              <a:prstGeom prst="rect">
                <a:avLst/>
              </a:prstGeom>
            </p:spPr>
            <p:txBody>
              <a:bodyPr anchor="ctr" rtlCol="false" tIns="50800" lIns="50800" bIns="50800" rIns="50800"/>
              <a:lstStyle/>
              <a:p>
                <a:pPr algn="ctr">
                  <a:lnSpc>
                    <a:spcPts val="2660"/>
                  </a:lnSpc>
                </a:pPr>
              </a:p>
            </p:txBody>
          </p:sp>
        </p:grpSp>
        <p:sp>
          <p:nvSpPr>
            <p:cNvPr name="TextBox 16" id="16"/>
            <p:cNvSpPr txBox="true"/>
            <p:nvPr/>
          </p:nvSpPr>
          <p:spPr>
            <a:xfrm rot="0">
              <a:off x="0" y="-95250"/>
              <a:ext cx="6984909" cy="4678564"/>
            </a:xfrm>
            <a:prstGeom prst="rect">
              <a:avLst/>
            </a:prstGeom>
          </p:spPr>
          <p:txBody>
            <a:bodyPr anchor="t" rtlCol="false" tIns="0" lIns="0" bIns="0" rIns="0">
              <a:spAutoFit/>
            </a:bodyPr>
            <a:lstStyle/>
            <a:p>
              <a:pPr algn="l">
                <a:lnSpc>
                  <a:spcPts val="4701"/>
                </a:lnSpc>
              </a:pPr>
              <a:r>
                <a:rPr lang="en-US" sz="3289">
                  <a:solidFill>
                    <a:srgbClr val="473821"/>
                  </a:solidFill>
                  <a:latin typeface="Times New Roman"/>
                  <a:ea typeface="Times New Roman"/>
                  <a:cs typeface="Times New Roman"/>
                  <a:sym typeface="Times New Roman"/>
                </a:rPr>
                <a:t>Working Memory (Bộ nhớ làm việc):</a:t>
              </a:r>
            </a:p>
            <a:p>
              <a:pPr algn="l" marL="710303" indent="-355151" lvl="1">
                <a:lnSpc>
                  <a:spcPts val="4701"/>
                </a:lnSpc>
                <a:buFont typeface="Arial"/>
                <a:buChar char="•"/>
              </a:pPr>
              <a:r>
                <a:rPr lang="en-US" sz="3289">
                  <a:solidFill>
                    <a:srgbClr val="473821"/>
                  </a:solidFill>
                  <a:latin typeface="Times New Roman"/>
                  <a:ea typeface="Times New Roman"/>
                  <a:cs typeface="Times New Roman"/>
                  <a:sym typeface="Times New Roman"/>
                </a:rPr>
                <a:t>Ban đầu chứa facts nhập + facts suy ra</a:t>
              </a:r>
            </a:p>
            <a:p>
              <a:pPr algn="l" marL="710303" indent="-355151" lvl="1">
                <a:lnSpc>
                  <a:spcPts val="4701"/>
                </a:lnSpc>
                <a:buFont typeface="Arial"/>
                <a:buChar char="•"/>
              </a:pPr>
              <a:r>
                <a:rPr lang="en-US" sz="3289">
                  <a:solidFill>
                    <a:srgbClr val="473821"/>
                  </a:solidFill>
                  <a:latin typeface="Times New Roman"/>
                  <a:ea typeface="Times New Roman"/>
                  <a:cs typeface="Times New Roman"/>
                  <a:sym typeface="Times New Roman"/>
                </a:rPr>
                <a:t>Trong suy diễn sẽ được bổ sung thêm kết luận mới</a:t>
              </a:r>
            </a:p>
          </p:txBody>
        </p:sp>
      </p:grpSp>
      <p:sp>
        <p:nvSpPr>
          <p:cNvPr name="TextBox 17" id="17"/>
          <p:cNvSpPr txBox="true"/>
          <p:nvPr/>
        </p:nvSpPr>
        <p:spPr>
          <a:xfrm rot="0">
            <a:off x="17143019" y="9067800"/>
            <a:ext cx="759504" cy="804545"/>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20</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17028" t="0" r="-17028" b="0"/>
              </a:stretch>
            </a:blipFill>
          </p:spPr>
        </p:sp>
      </p:grpSp>
      <p:grpSp>
        <p:nvGrpSpPr>
          <p:cNvPr name="Group 4" id="4"/>
          <p:cNvGrpSpPr/>
          <p:nvPr/>
        </p:nvGrpSpPr>
        <p:grpSpPr>
          <a:xfrm rot="0">
            <a:off x="9523665" y="2371175"/>
            <a:ext cx="1960500" cy="636685"/>
            <a:chOff x="0" y="0"/>
            <a:chExt cx="516346" cy="167687"/>
          </a:xfrm>
        </p:grpSpPr>
        <p:sp>
          <p:nvSpPr>
            <p:cNvPr name="Freeform 5" id="5"/>
            <p:cNvSpPr/>
            <p:nvPr/>
          </p:nvSpPr>
          <p:spPr>
            <a:xfrm flipH="false" flipV="false" rot="0">
              <a:off x="0" y="0"/>
              <a:ext cx="516346" cy="167687"/>
            </a:xfrm>
            <a:custGeom>
              <a:avLst/>
              <a:gdLst/>
              <a:ahLst/>
              <a:cxnLst/>
              <a:rect r="r" b="b" t="t" l="l"/>
              <a:pathLst>
                <a:path h="167687" w="516346">
                  <a:moveTo>
                    <a:pt x="0" y="0"/>
                  </a:moveTo>
                  <a:lnTo>
                    <a:pt x="516346" y="0"/>
                  </a:lnTo>
                  <a:lnTo>
                    <a:pt x="516346" y="167687"/>
                  </a:lnTo>
                  <a:lnTo>
                    <a:pt x="0" y="167687"/>
                  </a:lnTo>
                  <a:close/>
                </a:path>
              </a:pathLst>
            </a:custGeom>
            <a:solidFill>
              <a:srgbClr val="E22424"/>
            </a:solidFill>
          </p:spPr>
        </p:sp>
        <p:sp>
          <p:nvSpPr>
            <p:cNvPr name="TextBox 6" id="6"/>
            <p:cNvSpPr txBox="true"/>
            <p:nvPr/>
          </p:nvSpPr>
          <p:spPr>
            <a:xfrm>
              <a:off x="0" y="-38100"/>
              <a:ext cx="516346" cy="205787"/>
            </a:xfrm>
            <a:prstGeom prst="rect">
              <a:avLst/>
            </a:prstGeom>
          </p:spPr>
          <p:txBody>
            <a:bodyPr anchor="ctr" rtlCol="false" tIns="50800" lIns="50800" bIns="50800" rIns="50800"/>
            <a:lstStyle/>
            <a:p>
              <a:pPr algn="ctr">
                <a:lnSpc>
                  <a:spcPts val="2660"/>
                </a:lnSpc>
              </a:pPr>
            </a:p>
          </p:txBody>
        </p:sp>
      </p:grpSp>
      <p:sp>
        <p:nvSpPr>
          <p:cNvPr name="Freeform 7" id="7"/>
          <p:cNvSpPr/>
          <p:nvPr/>
        </p:nvSpPr>
        <p:spPr>
          <a:xfrm flipH="false" flipV="false" rot="0">
            <a:off x="1882793" y="686718"/>
            <a:ext cx="14522414" cy="9078141"/>
          </a:xfrm>
          <a:custGeom>
            <a:avLst/>
            <a:gdLst/>
            <a:ahLst/>
            <a:cxnLst/>
            <a:rect r="r" b="b" t="t" l="l"/>
            <a:pathLst>
              <a:path h="9078141" w="14522414">
                <a:moveTo>
                  <a:pt x="0" y="0"/>
                </a:moveTo>
                <a:lnTo>
                  <a:pt x="14522414" y="0"/>
                </a:lnTo>
                <a:lnTo>
                  <a:pt x="14522414" y="9078141"/>
                </a:lnTo>
                <a:lnTo>
                  <a:pt x="0" y="90781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true" rot="0">
            <a:off x="231709" y="260318"/>
            <a:ext cx="3388214" cy="3320453"/>
          </a:xfrm>
          <a:custGeom>
            <a:avLst/>
            <a:gdLst/>
            <a:ahLst/>
            <a:cxnLst/>
            <a:rect r="r" b="b" t="t" l="l"/>
            <a:pathLst>
              <a:path h="3320453" w="3388214">
                <a:moveTo>
                  <a:pt x="0" y="3320453"/>
                </a:moveTo>
                <a:lnTo>
                  <a:pt x="3388213" y="3320453"/>
                </a:lnTo>
                <a:lnTo>
                  <a:pt x="3388213" y="0"/>
                </a:lnTo>
                <a:lnTo>
                  <a:pt x="0" y="0"/>
                </a:lnTo>
                <a:lnTo>
                  <a:pt x="0" y="3320453"/>
                </a:lnTo>
                <a:close/>
              </a:path>
            </a:pathLst>
          </a:custGeom>
          <a:blipFill>
            <a:blip r:embed="rId5">
              <a:extLst>
                <a:ext uri="{96DAC541-7B7A-43D3-8B79-37D633B846F1}">
                  <asvg:svgBlip xmlns:asvg="http://schemas.microsoft.com/office/drawing/2016/SVG/main" r:embed="rId6"/>
                </a:ext>
              </a:extLst>
            </a:blip>
            <a:stretch>
              <a:fillRect l="0" t="-160" r="0" b="-160"/>
            </a:stretch>
          </a:blipFill>
        </p:spPr>
      </p:sp>
      <p:sp>
        <p:nvSpPr>
          <p:cNvPr name="Freeform 9" id="9"/>
          <p:cNvSpPr/>
          <p:nvPr/>
        </p:nvSpPr>
        <p:spPr>
          <a:xfrm flipH="true" flipV="true" rot="0">
            <a:off x="14579965" y="260318"/>
            <a:ext cx="3388214" cy="3320453"/>
          </a:xfrm>
          <a:custGeom>
            <a:avLst/>
            <a:gdLst/>
            <a:ahLst/>
            <a:cxnLst/>
            <a:rect r="r" b="b" t="t" l="l"/>
            <a:pathLst>
              <a:path h="3320453" w="3388214">
                <a:moveTo>
                  <a:pt x="3388214" y="3320453"/>
                </a:moveTo>
                <a:lnTo>
                  <a:pt x="0" y="3320453"/>
                </a:lnTo>
                <a:lnTo>
                  <a:pt x="0" y="0"/>
                </a:lnTo>
                <a:lnTo>
                  <a:pt x="3388214" y="0"/>
                </a:lnTo>
                <a:lnTo>
                  <a:pt x="3388214" y="3320453"/>
                </a:lnTo>
                <a:close/>
              </a:path>
            </a:pathLst>
          </a:custGeom>
          <a:blipFill>
            <a:blip r:embed="rId5">
              <a:extLst>
                <a:ext uri="{96DAC541-7B7A-43D3-8B79-37D633B846F1}">
                  <asvg:svgBlip xmlns:asvg="http://schemas.microsoft.com/office/drawing/2016/SVG/main" r:embed="rId6"/>
                </a:ext>
              </a:extLst>
            </a:blip>
            <a:stretch>
              <a:fillRect l="0" t="-160" r="0" b="-160"/>
            </a:stretch>
          </a:blipFill>
        </p:spPr>
      </p:sp>
      <p:sp>
        <p:nvSpPr>
          <p:cNvPr name="TextBox 10" id="10"/>
          <p:cNvSpPr txBox="true"/>
          <p:nvPr/>
        </p:nvSpPr>
        <p:spPr>
          <a:xfrm rot="0">
            <a:off x="2286583" y="2342288"/>
            <a:ext cx="9197582" cy="5767386"/>
          </a:xfrm>
          <a:prstGeom prst="rect">
            <a:avLst/>
          </a:prstGeom>
        </p:spPr>
        <p:txBody>
          <a:bodyPr anchor="t" rtlCol="false" tIns="0" lIns="0" bIns="0" rIns="0">
            <a:spAutoFit/>
          </a:bodyPr>
          <a:lstStyle/>
          <a:p>
            <a:pPr algn="l">
              <a:lnSpc>
                <a:spcPts val="4551"/>
              </a:lnSpc>
            </a:pPr>
            <a:r>
              <a:rPr lang="en-US" sz="3185">
                <a:solidFill>
                  <a:srgbClr val="473821"/>
                </a:solidFill>
                <a:latin typeface="Times New Roman"/>
                <a:ea typeface="Times New Roman"/>
                <a:cs typeface="Times New Roman"/>
                <a:sym typeface="Times New Roman"/>
              </a:rPr>
              <a:t>Tri thức chuyên gia được biểu diễn bằng luật IF–THEN</a:t>
            </a:r>
          </a:p>
          <a:p>
            <a:pPr algn="l">
              <a:lnSpc>
                <a:spcPts val="4551"/>
              </a:lnSpc>
            </a:pPr>
            <a:r>
              <a:rPr lang="en-US" sz="3185">
                <a:solidFill>
                  <a:srgbClr val="473821"/>
                </a:solidFill>
                <a:latin typeface="Times New Roman"/>
                <a:ea typeface="Times New Roman"/>
                <a:cs typeface="Times New Roman"/>
                <a:sym typeface="Times New Roman"/>
              </a:rPr>
              <a:t>Cấu trúc một luật gồm:</a:t>
            </a:r>
          </a:p>
          <a:p>
            <a:pPr algn="l" marL="687732" indent="-343866" lvl="1">
              <a:lnSpc>
                <a:spcPts val="4551"/>
              </a:lnSpc>
              <a:buFont typeface="Arial"/>
              <a:buChar char="•"/>
            </a:pPr>
            <a:r>
              <a:rPr lang="en-US" sz="3185">
                <a:solidFill>
                  <a:srgbClr val="473821"/>
                </a:solidFill>
                <a:latin typeface="Times New Roman"/>
                <a:ea typeface="Times New Roman"/>
                <a:cs typeface="Times New Roman"/>
                <a:sym typeface="Times New Roman"/>
              </a:rPr>
              <a:t>Phần điều kiện (IF): kiểm tra các facts</a:t>
            </a:r>
          </a:p>
          <a:p>
            <a:pPr algn="l" marL="687732" indent="-343866" lvl="1">
              <a:lnSpc>
                <a:spcPts val="4551"/>
              </a:lnSpc>
              <a:buFont typeface="Arial"/>
              <a:buChar char="•"/>
            </a:pPr>
            <a:r>
              <a:rPr lang="en-US" sz="3185">
                <a:solidFill>
                  <a:srgbClr val="473821"/>
                </a:solidFill>
                <a:latin typeface="Times New Roman"/>
                <a:ea typeface="Times New Roman"/>
                <a:cs typeface="Times New Roman"/>
                <a:sym typeface="Times New Roman"/>
              </a:rPr>
              <a:t>Phần kết luận (THEN): sinh ra facts mới</a:t>
            </a:r>
          </a:p>
          <a:p>
            <a:pPr algn="l">
              <a:lnSpc>
                <a:spcPts val="4551"/>
              </a:lnSpc>
            </a:pPr>
            <a:r>
              <a:rPr lang="en-US" sz="3185">
                <a:solidFill>
                  <a:srgbClr val="473821"/>
                </a:solidFill>
                <a:latin typeface="Times New Roman"/>
                <a:ea typeface="Times New Roman"/>
                <a:cs typeface="Times New Roman"/>
                <a:sym typeface="Times New Roman"/>
              </a:rPr>
              <a:t>Ví dụ (mô tả khái niệm):</a:t>
            </a:r>
          </a:p>
          <a:p>
            <a:pPr algn="l" marL="687732" indent="-343866" lvl="1">
              <a:lnSpc>
                <a:spcPts val="4551"/>
              </a:lnSpc>
              <a:buFont typeface="Arial"/>
              <a:buChar char="•"/>
            </a:pPr>
            <a:r>
              <a:rPr lang="en-US" sz="3185">
                <a:solidFill>
                  <a:srgbClr val="473821"/>
                </a:solidFill>
                <a:latin typeface="Times New Roman"/>
                <a:ea typeface="Times New Roman"/>
                <a:cs typeface="Times New Roman"/>
                <a:sym typeface="Times New Roman"/>
              </a:rPr>
              <a:t>IF thu nhập/chi tiêu cao AND không trả chậm</a:t>
            </a:r>
          </a:p>
          <a:p>
            <a:pPr algn="l" marL="687732" indent="-343866" lvl="1">
              <a:lnSpc>
                <a:spcPts val="4551"/>
              </a:lnSpc>
              <a:buFont typeface="Arial"/>
              <a:buChar char="•"/>
            </a:pPr>
            <a:r>
              <a:rPr lang="en-US" sz="3185">
                <a:solidFill>
                  <a:srgbClr val="473821"/>
                </a:solidFill>
                <a:latin typeface="Times New Roman"/>
                <a:ea typeface="Times New Roman"/>
                <a:cs typeface="Times New Roman"/>
                <a:sym typeface="Times New Roman"/>
              </a:rPr>
              <a:t> THEN rủi ro thấp, tín dụng tốt</a:t>
            </a:r>
          </a:p>
          <a:p>
            <a:pPr algn="l" marL="687732" indent="-343866" lvl="1">
              <a:lnSpc>
                <a:spcPts val="4551"/>
              </a:lnSpc>
              <a:buFont typeface="Arial"/>
              <a:buChar char="•"/>
            </a:pPr>
            <a:r>
              <a:rPr lang="en-US" sz="3185">
                <a:solidFill>
                  <a:srgbClr val="473821"/>
                </a:solidFill>
                <a:latin typeface="Times New Roman"/>
                <a:ea typeface="Times New Roman"/>
                <a:cs typeface="Times New Roman"/>
                <a:sym typeface="Times New Roman"/>
              </a:rPr>
              <a:t>IF trả chậm nhiều lần</a:t>
            </a:r>
          </a:p>
          <a:p>
            <a:pPr algn="l" marL="687732" indent="-343866" lvl="1">
              <a:lnSpc>
                <a:spcPts val="4551"/>
              </a:lnSpc>
              <a:buFont typeface="Arial"/>
              <a:buChar char="•"/>
            </a:pPr>
            <a:r>
              <a:rPr lang="en-US" sz="3185">
                <a:solidFill>
                  <a:srgbClr val="473821"/>
                </a:solidFill>
                <a:latin typeface="Times New Roman"/>
                <a:ea typeface="Times New Roman"/>
                <a:cs typeface="Times New Roman"/>
                <a:sym typeface="Times New Roman"/>
              </a:rPr>
              <a:t> THEN rủi ro cao, tín dụng xấu</a:t>
            </a:r>
          </a:p>
          <a:p>
            <a:pPr algn="l">
              <a:lnSpc>
                <a:spcPts val="4552"/>
              </a:lnSpc>
            </a:pPr>
          </a:p>
        </p:txBody>
      </p:sp>
      <p:sp>
        <p:nvSpPr>
          <p:cNvPr name="TextBox 11" id="11"/>
          <p:cNvSpPr txBox="true"/>
          <p:nvPr/>
        </p:nvSpPr>
        <p:spPr>
          <a:xfrm rot="0">
            <a:off x="3454072" y="220911"/>
            <a:ext cx="11125893" cy="807789"/>
          </a:xfrm>
          <a:prstGeom prst="rect">
            <a:avLst/>
          </a:prstGeom>
        </p:spPr>
        <p:txBody>
          <a:bodyPr anchor="t" rtlCol="false" tIns="0" lIns="0" bIns="0" rIns="0">
            <a:spAutoFit/>
          </a:bodyPr>
          <a:lstStyle/>
          <a:p>
            <a:pPr algn="ctr">
              <a:lnSpc>
                <a:spcPts val="6453"/>
              </a:lnSpc>
            </a:pPr>
            <a:r>
              <a:rPr lang="en-US" sz="4515">
                <a:solidFill>
                  <a:srgbClr val="473821"/>
                </a:solidFill>
                <a:latin typeface="Times New Roman"/>
                <a:ea typeface="Times New Roman"/>
                <a:cs typeface="Times New Roman"/>
                <a:sym typeface="Times New Roman"/>
              </a:rPr>
              <a:t>I</a:t>
            </a:r>
            <a:r>
              <a:rPr lang="en-US" sz="4515">
                <a:solidFill>
                  <a:srgbClr val="473821"/>
                </a:solidFill>
                <a:latin typeface="Times New Roman"/>
                <a:ea typeface="Times New Roman"/>
                <a:cs typeface="Times New Roman"/>
                <a:sym typeface="Times New Roman"/>
              </a:rPr>
              <a:t>V. HỆ LUẬT &amp; THUẬT GIẢI SUY LUẬN</a:t>
            </a:r>
          </a:p>
        </p:txBody>
      </p:sp>
      <p:sp>
        <p:nvSpPr>
          <p:cNvPr name="TextBox 12" id="12"/>
          <p:cNvSpPr txBox="true"/>
          <p:nvPr/>
        </p:nvSpPr>
        <p:spPr>
          <a:xfrm rot="0">
            <a:off x="6087069" y="1190214"/>
            <a:ext cx="5397096" cy="807789"/>
          </a:xfrm>
          <a:prstGeom prst="rect">
            <a:avLst/>
          </a:prstGeom>
        </p:spPr>
        <p:txBody>
          <a:bodyPr anchor="t" rtlCol="false" tIns="0" lIns="0" bIns="0" rIns="0">
            <a:spAutoFit/>
          </a:bodyPr>
          <a:lstStyle/>
          <a:p>
            <a:pPr algn="ctr">
              <a:lnSpc>
                <a:spcPts val="6453"/>
              </a:lnSpc>
            </a:pPr>
            <a:r>
              <a:rPr lang="en-US" sz="4515">
                <a:solidFill>
                  <a:srgbClr val="473821"/>
                </a:solidFill>
                <a:latin typeface="Times New Roman"/>
                <a:ea typeface="Times New Roman"/>
                <a:cs typeface="Times New Roman"/>
                <a:sym typeface="Times New Roman"/>
              </a:rPr>
              <a:t>3. Cấu trúc hệ luật</a:t>
            </a:r>
          </a:p>
        </p:txBody>
      </p:sp>
      <p:sp>
        <p:nvSpPr>
          <p:cNvPr name="TextBox 13" id="13"/>
          <p:cNvSpPr txBox="true"/>
          <p:nvPr/>
        </p:nvSpPr>
        <p:spPr>
          <a:xfrm rot="0">
            <a:off x="11648398" y="2825188"/>
            <a:ext cx="4452470" cy="4705951"/>
          </a:xfrm>
          <a:prstGeom prst="rect">
            <a:avLst/>
          </a:prstGeom>
        </p:spPr>
        <p:txBody>
          <a:bodyPr anchor="t" rtlCol="false" tIns="0" lIns="0" bIns="0" rIns="0">
            <a:spAutoFit/>
          </a:bodyPr>
          <a:lstStyle/>
          <a:p>
            <a:pPr algn="l">
              <a:lnSpc>
                <a:spcPts val="4644"/>
              </a:lnSpc>
            </a:pPr>
            <a:r>
              <a:rPr lang="en-US" sz="3249">
                <a:solidFill>
                  <a:srgbClr val="E22424"/>
                </a:solidFill>
                <a:latin typeface="Times New Roman"/>
                <a:ea typeface="Times New Roman"/>
                <a:cs typeface="Times New Roman"/>
                <a:sym typeface="Times New Roman"/>
              </a:rPr>
              <a:t>Đặc điểm tập</a:t>
            </a:r>
            <a:r>
              <a:rPr lang="en-US" sz="3249">
                <a:solidFill>
                  <a:srgbClr val="E22424"/>
                </a:solidFill>
                <a:latin typeface="Times New Roman"/>
                <a:ea typeface="Times New Roman"/>
                <a:cs typeface="Times New Roman"/>
                <a:sym typeface="Times New Roman"/>
              </a:rPr>
              <a:t> luật:</a:t>
            </a:r>
          </a:p>
          <a:p>
            <a:pPr algn="l" marL="701661" indent="-350830" lvl="1">
              <a:lnSpc>
                <a:spcPts val="4644"/>
              </a:lnSpc>
              <a:buFont typeface="Arial"/>
              <a:buChar char="•"/>
            </a:pPr>
            <a:r>
              <a:rPr lang="en-US" sz="3249">
                <a:solidFill>
                  <a:srgbClr val="E22424"/>
                </a:solidFill>
                <a:latin typeface="Times New Roman"/>
                <a:ea typeface="Times New Roman"/>
                <a:cs typeface="Times New Roman"/>
                <a:sym typeface="Times New Roman"/>
              </a:rPr>
              <a:t>K</a:t>
            </a:r>
            <a:r>
              <a:rPr lang="en-US" sz="3249">
                <a:solidFill>
                  <a:srgbClr val="E22424"/>
                </a:solidFill>
                <a:latin typeface="Times New Roman"/>
                <a:ea typeface="Times New Roman"/>
                <a:cs typeface="Times New Roman"/>
                <a:sym typeface="Times New Roman"/>
              </a:rPr>
              <a:t>hông học từ dữ liệu</a:t>
            </a:r>
          </a:p>
          <a:p>
            <a:pPr algn="l" marL="701661" indent="-350830" lvl="1">
              <a:lnSpc>
                <a:spcPts val="4644"/>
              </a:lnSpc>
              <a:buFont typeface="Arial"/>
              <a:buChar char="•"/>
            </a:pPr>
            <a:r>
              <a:rPr lang="en-US" sz="3249">
                <a:solidFill>
                  <a:srgbClr val="E22424"/>
                </a:solidFill>
                <a:latin typeface="Times New Roman"/>
                <a:ea typeface="Times New Roman"/>
                <a:cs typeface="Times New Roman"/>
                <a:sym typeface="Times New Roman"/>
              </a:rPr>
              <a:t>Phản ánh tri thức và kinh nghiệm của chuyên gia</a:t>
            </a:r>
          </a:p>
          <a:p>
            <a:pPr algn="l" marL="701661" indent="-350830" lvl="1">
              <a:lnSpc>
                <a:spcPts val="4644"/>
              </a:lnSpc>
              <a:buFont typeface="Arial"/>
              <a:buChar char="•"/>
            </a:pPr>
            <a:r>
              <a:rPr lang="en-US" sz="3249">
                <a:solidFill>
                  <a:srgbClr val="E22424"/>
                </a:solidFill>
                <a:latin typeface="Times New Roman"/>
                <a:ea typeface="Times New Roman"/>
                <a:cs typeface="Times New Roman"/>
                <a:sym typeface="Times New Roman"/>
              </a:rPr>
              <a:t>Có thể mở rộng, chỉnh sửa độc lập</a:t>
            </a:r>
          </a:p>
          <a:p>
            <a:pPr algn="l">
              <a:lnSpc>
                <a:spcPts val="4644"/>
              </a:lnSpc>
            </a:pPr>
          </a:p>
        </p:txBody>
      </p:sp>
      <p:sp>
        <p:nvSpPr>
          <p:cNvPr name="TextBox 14" id="14"/>
          <p:cNvSpPr txBox="true"/>
          <p:nvPr/>
        </p:nvSpPr>
        <p:spPr>
          <a:xfrm rot="0">
            <a:off x="17143019" y="9067800"/>
            <a:ext cx="759504" cy="804545"/>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21</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319821" y="260318"/>
            <a:ext cx="3388214" cy="3320453"/>
          </a:xfrm>
          <a:custGeom>
            <a:avLst/>
            <a:gdLst/>
            <a:ahLst/>
            <a:cxnLst/>
            <a:rect r="r" b="b" t="t" l="l"/>
            <a:pathLst>
              <a:path h="3320453" w="3388214">
                <a:moveTo>
                  <a:pt x="0" y="3320453"/>
                </a:moveTo>
                <a:lnTo>
                  <a:pt x="3388214" y="3320453"/>
                </a:lnTo>
                <a:lnTo>
                  <a:pt x="3388214" y="0"/>
                </a:lnTo>
                <a:lnTo>
                  <a:pt x="0" y="0"/>
                </a:lnTo>
                <a:lnTo>
                  <a:pt x="0" y="3320453"/>
                </a:lnTo>
                <a:close/>
              </a:path>
            </a:pathLst>
          </a:custGeom>
          <a:blipFill>
            <a:blip r:embed="rId2">
              <a:extLst>
                <a:ext uri="{96DAC541-7B7A-43D3-8B79-37D633B846F1}">
                  <asvg:svgBlip xmlns:asvg="http://schemas.microsoft.com/office/drawing/2016/SVG/main" r:embed="rId3"/>
                </a:ext>
              </a:extLst>
            </a:blip>
            <a:stretch>
              <a:fillRect l="0" t="-160" r="0" b="-160"/>
            </a:stretch>
          </a:blipFill>
        </p:spPr>
      </p:sp>
      <p:sp>
        <p:nvSpPr>
          <p:cNvPr name="Freeform 3" id="3"/>
          <p:cNvSpPr/>
          <p:nvPr/>
        </p:nvSpPr>
        <p:spPr>
          <a:xfrm flipH="true" flipV="true" rot="0">
            <a:off x="14579965" y="260318"/>
            <a:ext cx="3388214" cy="3320453"/>
          </a:xfrm>
          <a:custGeom>
            <a:avLst/>
            <a:gdLst/>
            <a:ahLst/>
            <a:cxnLst/>
            <a:rect r="r" b="b" t="t" l="l"/>
            <a:pathLst>
              <a:path h="3320453" w="3388214">
                <a:moveTo>
                  <a:pt x="3388214" y="3320453"/>
                </a:moveTo>
                <a:lnTo>
                  <a:pt x="0" y="3320453"/>
                </a:lnTo>
                <a:lnTo>
                  <a:pt x="0" y="0"/>
                </a:lnTo>
                <a:lnTo>
                  <a:pt x="3388214" y="0"/>
                </a:lnTo>
                <a:lnTo>
                  <a:pt x="3388214" y="3320453"/>
                </a:lnTo>
                <a:close/>
              </a:path>
            </a:pathLst>
          </a:custGeom>
          <a:blipFill>
            <a:blip r:embed="rId2">
              <a:extLst>
                <a:ext uri="{96DAC541-7B7A-43D3-8B79-37D633B846F1}">
                  <asvg:svgBlip xmlns:asvg="http://schemas.microsoft.com/office/drawing/2016/SVG/main" r:embed="rId3"/>
                </a:ext>
              </a:extLst>
            </a:blip>
            <a:stretch>
              <a:fillRect l="0" t="-160" r="0" b="-160"/>
            </a:stretch>
          </a:blipFill>
        </p:spPr>
      </p:sp>
      <p:grpSp>
        <p:nvGrpSpPr>
          <p:cNvPr name="Group 4" id="4"/>
          <p:cNvGrpSpPr/>
          <p:nvPr/>
        </p:nvGrpSpPr>
        <p:grpSpPr>
          <a:xfrm rot="0">
            <a:off x="2171842" y="896453"/>
            <a:ext cx="14382640" cy="2874330"/>
            <a:chOff x="0" y="0"/>
            <a:chExt cx="19176854" cy="3832440"/>
          </a:xfrm>
        </p:grpSpPr>
        <p:grpSp>
          <p:nvGrpSpPr>
            <p:cNvPr name="Group 5" id="5"/>
            <p:cNvGrpSpPr/>
            <p:nvPr/>
          </p:nvGrpSpPr>
          <p:grpSpPr>
            <a:xfrm rot="0">
              <a:off x="0" y="0"/>
              <a:ext cx="5574458" cy="3832440"/>
              <a:chOff x="0" y="0"/>
              <a:chExt cx="609600" cy="419100"/>
            </a:xfrm>
          </p:grpSpPr>
          <p:sp>
            <p:nvSpPr>
              <p:cNvPr name="Freeform 6" id="6"/>
              <p:cNvSpPr/>
              <p:nvPr/>
            </p:nvSpPr>
            <p:spPr>
              <a:xfrm flipH="false" flipV="false" rot="0">
                <a:off x="0" y="0"/>
                <a:ext cx="609600" cy="419100"/>
              </a:xfrm>
              <a:custGeom>
                <a:avLst/>
                <a:gdLst/>
                <a:ahLst/>
                <a:cxnLst/>
                <a:rect r="r" b="b" t="t" l="l"/>
                <a:pathLst>
                  <a:path h="419100" w="609600">
                    <a:moveTo>
                      <a:pt x="47037" y="0"/>
                    </a:moveTo>
                    <a:lnTo>
                      <a:pt x="397565" y="0"/>
                    </a:lnTo>
                    <a:cubicBezTo>
                      <a:pt x="514669" y="0"/>
                      <a:pt x="609600" y="93819"/>
                      <a:pt x="609600" y="209550"/>
                    </a:cubicBezTo>
                    <a:cubicBezTo>
                      <a:pt x="609600" y="325281"/>
                      <a:pt x="514669" y="419100"/>
                      <a:pt x="397565" y="419100"/>
                    </a:cubicBezTo>
                    <a:lnTo>
                      <a:pt x="47037" y="419100"/>
                    </a:lnTo>
                    <a:cubicBezTo>
                      <a:pt x="34562" y="419100"/>
                      <a:pt x="22598" y="414144"/>
                      <a:pt x="13777" y="405323"/>
                    </a:cubicBezTo>
                    <a:cubicBezTo>
                      <a:pt x="4956" y="396502"/>
                      <a:pt x="0" y="384538"/>
                      <a:pt x="0" y="372063"/>
                    </a:cubicBezTo>
                    <a:lnTo>
                      <a:pt x="0" y="47037"/>
                    </a:lnTo>
                    <a:cubicBezTo>
                      <a:pt x="0" y="34562"/>
                      <a:pt x="4956" y="22598"/>
                      <a:pt x="13777" y="13777"/>
                    </a:cubicBezTo>
                    <a:cubicBezTo>
                      <a:pt x="22598" y="4956"/>
                      <a:pt x="34562" y="0"/>
                      <a:pt x="47037" y="0"/>
                    </a:cubicBezTo>
                    <a:close/>
                  </a:path>
                </a:pathLst>
              </a:custGeom>
              <a:solidFill>
                <a:srgbClr val="FFBD59"/>
              </a:solidFill>
            </p:spPr>
          </p:sp>
          <p:sp>
            <p:nvSpPr>
              <p:cNvPr name="TextBox 7" id="7"/>
              <p:cNvSpPr txBox="true"/>
              <p:nvPr/>
            </p:nvSpPr>
            <p:spPr>
              <a:xfrm>
                <a:off x="25400" y="-38100"/>
                <a:ext cx="381000" cy="457200"/>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665520" y="534208"/>
              <a:ext cx="4174194" cy="2372967"/>
            </a:xfrm>
            <a:prstGeom prst="rect">
              <a:avLst/>
            </a:prstGeom>
          </p:spPr>
          <p:txBody>
            <a:bodyPr anchor="t" rtlCol="false" tIns="0" lIns="0" bIns="0" rIns="0">
              <a:spAutoFit/>
            </a:bodyPr>
            <a:lstStyle/>
            <a:p>
              <a:pPr algn="ctr">
                <a:lnSpc>
                  <a:spcPts val="7278"/>
                </a:lnSpc>
              </a:pPr>
              <a:r>
                <a:rPr lang="en-US" sz="5198">
                  <a:solidFill>
                    <a:srgbClr val="000000"/>
                  </a:solidFill>
                  <a:latin typeface="DejaVu Serif"/>
                  <a:ea typeface="DejaVu Serif"/>
                  <a:cs typeface="DejaVu Serif"/>
                  <a:sym typeface="DejaVu Serif"/>
                </a:rPr>
                <a:t>Cấu trúc </a:t>
              </a:r>
            </a:p>
            <a:p>
              <a:pPr algn="ctr">
                <a:lnSpc>
                  <a:spcPts val="7278"/>
                </a:lnSpc>
                <a:spcBef>
                  <a:spcPct val="0"/>
                </a:spcBef>
              </a:pPr>
              <a:r>
                <a:rPr lang="en-US" sz="5198">
                  <a:solidFill>
                    <a:srgbClr val="000000"/>
                  </a:solidFill>
                  <a:latin typeface="DejaVu Serif"/>
                  <a:ea typeface="DejaVu Serif"/>
                  <a:cs typeface="DejaVu Serif"/>
                  <a:sym typeface="DejaVu Serif"/>
                </a:rPr>
                <a:t>hệ luật </a:t>
              </a:r>
            </a:p>
          </p:txBody>
        </p:sp>
        <p:sp>
          <p:nvSpPr>
            <p:cNvPr name="TextBox 9" id="9"/>
            <p:cNvSpPr txBox="true"/>
            <p:nvPr/>
          </p:nvSpPr>
          <p:spPr>
            <a:xfrm rot="0">
              <a:off x="6516902" y="1036526"/>
              <a:ext cx="12659952" cy="600710"/>
            </a:xfrm>
            <a:prstGeom prst="rect">
              <a:avLst/>
            </a:prstGeom>
          </p:spPr>
          <p:txBody>
            <a:bodyPr anchor="t" rtlCol="false" tIns="0" lIns="0" bIns="0" rIns="0">
              <a:spAutoFit/>
            </a:bodyPr>
            <a:lstStyle/>
            <a:p>
              <a:pPr algn="ctr">
                <a:lnSpc>
                  <a:spcPts val="3780"/>
                </a:lnSpc>
                <a:spcBef>
                  <a:spcPct val="0"/>
                </a:spcBef>
              </a:pPr>
              <a:r>
                <a:rPr lang="en-US" b="true" sz="2700">
                  <a:solidFill>
                    <a:srgbClr val="000000"/>
                  </a:solidFill>
                  <a:latin typeface="DejaVu Serif Bold"/>
                  <a:ea typeface="DejaVu Serif Bold"/>
                  <a:cs typeface="DejaVu Serif Bold"/>
                  <a:sym typeface="DejaVu Serif Bold"/>
                </a:rPr>
                <a:t>Có tất cả 27 luật. Bao gồm 4 tầng luật chính</a:t>
              </a:r>
            </a:p>
          </p:txBody>
        </p:sp>
      </p:grpSp>
      <p:grpSp>
        <p:nvGrpSpPr>
          <p:cNvPr name="Group 10" id="10"/>
          <p:cNvGrpSpPr/>
          <p:nvPr/>
        </p:nvGrpSpPr>
        <p:grpSpPr>
          <a:xfrm rot="0">
            <a:off x="525185" y="4786254"/>
            <a:ext cx="3293315" cy="5179742"/>
            <a:chOff x="0" y="0"/>
            <a:chExt cx="4391086" cy="6906323"/>
          </a:xfrm>
        </p:grpSpPr>
        <p:grpSp>
          <p:nvGrpSpPr>
            <p:cNvPr name="Group 11" id="11"/>
            <p:cNvGrpSpPr/>
            <p:nvPr/>
          </p:nvGrpSpPr>
          <p:grpSpPr>
            <a:xfrm rot="0">
              <a:off x="0" y="0"/>
              <a:ext cx="4391086" cy="6906323"/>
              <a:chOff x="0" y="0"/>
              <a:chExt cx="792107" cy="1245830"/>
            </a:xfrm>
          </p:grpSpPr>
          <p:sp>
            <p:nvSpPr>
              <p:cNvPr name="Freeform 12" id="12"/>
              <p:cNvSpPr/>
              <p:nvPr/>
            </p:nvSpPr>
            <p:spPr>
              <a:xfrm flipH="false" flipV="false" rot="0">
                <a:off x="0" y="0"/>
                <a:ext cx="792107" cy="1245830"/>
              </a:xfrm>
              <a:custGeom>
                <a:avLst/>
                <a:gdLst/>
                <a:ahLst/>
                <a:cxnLst/>
                <a:rect r="r" b="b" t="t" l="l"/>
                <a:pathLst>
                  <a:path h="1245830" w="792107">
                    <a:moveTo>
                      <a:pt x="119891" y="0"/>
                    </a:moveTo>
                    <a:lnTo>
                      <a:pt x="672216" y="0"/>
                    </a:lnTo>
                    <a:cubicBezTo>
                      <a:pt x="704013" y="0"/>
                      <a:pt x="734508" y="12631"/>
                      <a:pt x="756992" y="35115"/>
                    </a:cubicBezTo>
                    <a:cubicBezTo>
                      <a:pt x="779476" y="57599"/>
                      <a:pt x="792107" y="88094"/>
                      <a:pt x="792107" y="119891"/>
                    </a:cubicBezTo>
                    <a:lnTo>
                      <a:pt x="792107" y="1125939"/>
                    </a:lnTo>
                    <a:cubicBezTo>
                      <a:pt x="792107" y="1157736"/>
                      <a:pt x="779476" y="1188231"/>
                      <a:pt x="756992" y="1210715"/>
                    </a:cubicBezTo>
                    <a:cubicBezTo>
                      <a:pt x="734508" y="1233199"/>
                      <a:pt x="704013" y="1245830"/>
                      <a:pt x="672216" y="1245830"/>
                    </a:cubicBezTo>
                    <a:lnTo>
                      <a:pt x="119891" y="1245830"/>
                    </a:lnTo>
                    <a:cubicBezTo>
                      <a:pt x="88094" y="1245830"/>
                      <a:pt x="57599" y="1233199"/>
                      <a:pt x="35115" y="1210715"/>
                    </a:cubicBezTo>
                    <a:cubicBezTo>
                      <a:pt x="12631" y="1188231"/>
                      <a:pt x="0" y="1157736"/>
                      <a:pt x="0" y="1125939"/>
                    </a:cubicBezTo>
                    <a:lnTo>
                      <a:pt x="0" y="119891"/>
                    </a:lnTo>
                    <a:cubicBezTo>
                      <a:pt x="0" y="88094"/>
                      <a:pt x="12631" y="57599"/>
                      <a:pt x="35115" y="35115"/>
                    </a:cubicBezTo>
                    <a:cubicBezTo>
                      <a:pt x="57599" y="12631"/>
                      <a:pt x="88094" y="0"/>
                      <a:pt x="119891" y="0"/>
                    </a:cubicBezTo>
                    <a:close/>
                  </a:path>
                </a:pathLst>
              </a:custGeom>
              <a:solidFill>
                <a:srgbClr val="FFDE59"/>
              </a:solidFill>
            </p:spPr>
          </p:sp>
          <p:sp>
            <p:nvSpPr>
              <p:cNvPr name="TextBox 13" id="13"/>
              <p:cNvSpPr txBox="true"/>
              <p:nvPr/>
            </p:nvSpPr>
            <p:spPr>
              <a:xfrm>
                <a:off x="0" y="-38100"/>
                <a:ext cx="792107" cy="1283930"/>
              </a:xfrm>
              <a:prstGeom prst="rect">
                <a:avLst/>
              </a:prstGeom>
            </p:spPr>
            <p:txBody>
              <a:bodyPr anchor="ctr" rtlCol="false" tIns="55627" lIns="55627" bIns="55627" rIns="55627"/>
              <a:lstStyle/>
              <a:p>
                <a:pPr algn="ctr">
                  <a:lnSpc>
                    <a:spcPts val="2660"/>
                  </a:lnSpc>
                </a:pPr>
              </a:p>
            </p:txBody>
          </p:sp>
        </p:grpSp>
        <p:sp>
          <p:nvSpPr>
            <p:cNvPr name="TextBox 14" id="14"/>
            <p:cNvSpPr txBox="true"/>
            <p:nvPr/>
          </p:nvSpPr>
          <p:spPr>
            <a:xfrm rot="0">
              <a:off x="227462" y="262988"/>
              <a:ext cx="3848714" cy="3140710"/>
            </a:xfrm>
            <a:prstGeom prst="rect">
              <a:avLst/>
            </a:prstGeom>
          </p:spPr>
          <p:txBody>
            <a:bodyPr anchor="t" rtlCol="false" tIns="0" lIns="0" bIns="0" rIns="0">
              <a:spAutoFit/>
            </a:bodyPr>
            <a:lstStyle/>
            <a:p>
              <a:pPr algn="ctr">
                <a:lnSpc>
                  <a:spcPts val="3779"/>
                </a:lnSpc>
                <a:spcBef>
                  <a:spcPct val="0"/>
                </a:spcBef>
              </a:pPr>
              <a:r>
                <a:rPr lang="en-US" b="true" sz="2700">
                  <a:solidFill>
                    <a:srgbClr val="000000"/>
                  </a:solidFill>
                  <a:latin typeface="DejaVu Serif Bold"/>
                  <a:ea typeface="DejaVu Serif Bold"/>
                  <a:cs typeface="DejaVu Serif Bold"/>
                  <a:sym typeface="DejaVu Serif Bold"/>
                </a:rPr>
                <a:t>L</a:t>
              </a:r>
              <a:r>
                <a:rPr lang="en-US" b="true" sz="2700">
                  <a:solidFill>
                    <a:srgbClr val="000000"/>
                  </a:solidFill>
                  <a:latin typeface="DejaVu Serif Bold"/>
                  <a:ea typeface="DejaVu Serif Bold"/>
                  <a:cs typeface="DejaVu Serif Bold"/>
                  <a:sym typeface="DejaVu Serif Bold"/>
                </a:rPr>
                <a:t>uật đánh giá năng lực tài chính từ income_expense_ratio</a:t>
              </a:r>
            </a:p>
          </p:txBody>
        </p:sp>
        <p:sp>
          <p:nvSpPr>
            <p:cNvPr name="TextBox 15" id="15"/>
            <p:cNvSpPr txBox="true"/>
            <p:nvPr/>
          </p:nvSpPr>
          <p:spPr>
            <a:xfrm rot="0">
              <a:off x="271186" y="3768964"/>
              <a:ext cx="3848714" cy="2505710"/>
            </a:xfrm>
            <a:prstGeom prst="rect">
              <a:avLst/>
            </a:prstGeom>
          </p:spPr>
          <p:txBody>
            <a:bodyPr anchor="t" rtlCol="false" tIns="0" lIns="0" bIns="0" rIns="0">
              <a:spAutoFit/>
            </a:bodyPr>
            <a:lstStyle/>
            <a:p>
              <a:pPr algn="ctr">
                <a:lnSpc>
                  <a:spcPts val="3779"/>
                </a:lnSpc>
                <a:spcBef>
                  <a:spcPct val="0"/>
                </a:spcBef>
              </a:pPr>
              <a:r>
                <a:rPr lang="en-US" sz="2700">
                  <a:solidFill>
                    <a:srgbClr val="000000"/>
                  </a:solidFill>
                  <a:latin typeface="DejaVu Serif"/>
                  <a:ea typeface="DejaVu Serif"/>
                  <a:cs typeface="DejaVu Serif"/>
                  <a:sym typeface="DejaVu Serif"/>
                </a:rPr>
                <a:t>R1,</a:t>
              </a:r>
              <a:r>
                <a:rPr lang="en-US" sz="2700">
                  <a:solidFill>
                    <a:srgbClr val="000000"/>
                  </a:solidFill>
                  <a:latin typeface="DejaVu Serif"/>
                  <a:ea typeface="DejaVu Serif"/>
                  <a:cs typeface="DejaVu Serif"/>
                  <a:sym typeface="DejaVu Serif"/>
                </a:rPr>
                <a:t> R2, R3 → financial_capacity ∈ {strong, stable, weak}</a:t>
              </a:r>
            </a:p>
          </p:txBody>
        </p:sp>
      </p:grpSp>
      <p:grpSp>
        <p:nvGrpSpPr>
          <p:cNvPr name="Group 16" id="16"/>
          <p:cNvGrpSpPr/>
          <p:nvPr/>
        </p:nvGrpSpPr>
        <p:grpSpPr>
          <a:xfrm rot="0">
            <a:off x="4262264" y="4786254"/>
            <a:ext cx="3246683" cy="5181344"/>
            <a:chOff x="0" y="0"/>
            <a:chExt cx="4328910" cy="6908459"/>
          </a:xfrm>
        </p:grpSpPr>
        <p:grpSp>
          <p:nvGrpSpPr>
            <p:cNvPr name="Group 17" id="17"/>
            <p:cNvGrpSpPr/>
            <p:nvPr/>
          </p:nvGrpSpPr>
          <p:grpSpPr>
            <a:xfrm rot="0">
              <a:off x="0" y="0"/>
              <a:ext cx="4328910" cy="6908459"/>
              <a:chOff x="0" y="0"/>
              <a:chExt cx="816310" cy="1302739"/>
            </a:xfrm>
          </p:grpSpPr>
          <p:sp>
            <p:nvSpPr>
              <p:cNvPr name="Freeform 18" id="18"/>
              <p:cNvSpPr/>
              <p:nvPr/>
            </p:nvSpPr>
            <p:spPr>
              <a:xfrm flipH="false" flipV="false" rot="0">
                <a:off x="0" y="0"/>
                <a:ext cx="816310" cy="1302739"/>
              </a:xfrm>
              <a:custGeom>
                <a:avLst/>
                <a:gdLst/>
                <a:ahLst/>
                <a:cxnLst/>
                <a:rect r="r" b="b" t="t" l="l"/>
                <a:pathLst>
                  <a:path h="1302739" w="816310">
                    <a:moveTo>
                      <a:pt x="127391" y="0"/>
                    </a:moveTo>
                    <a:lnTo>
                      <a:pt x="688919" y="0"/>
                    </a:lnTo>
                    <a:cubicBezTo>
                      <a:pt x="722705" y="0"/>
                      <a:pt x="755107" y="13421"/>
                      <a:pt x="778998" y="37312"/>
                    </a:cubicBezTo>
                    <a:cubicBezTo>
                      <a:pt x="802888" y="61202"/>
                      <a:pt x="816310" y="93605"/>
                      <a:pt x="816310" y="127391"/>
                    </a:cubicBezTo>
                    <a:lnTo>
                      <a:pt x="816310" y="1175349"/>
                    </a:lnTo>
                    <a:cubicBezTo>
                      <a:pt x="816310" y="1209135"/>
                      <a:pt x="802888" y="1241537"/>
                      <a:pt x="778998" y="1265427"/>
                    </a:cubicBezTo>
                    <a:cubicBezTo>
                      <a:pt x="755107" y="1289318"/>
                      <a:pt x="722705" y="1302739"/>
                      <a:pt x="688919" y="1302739"/>
                    </a:cubicBezTo>
                    <a:lnTo>
                      <a:pt x="127391" y="1302739"/>
                    </a:lnTo>
                    <a:cubicBezTo>
                      <a:pt x="57035" y="1302739"/>
                      <a:pt x="0" y="1245704"/>
                      <a:pt x="0" y="1175349"/>
                    </a:cubicBezTo>
                    <a:lnTo>
                      <a:pt x="0" y="127391"/>
                    </a:lnTo>
                    <a:cubicBezTo>
                      <a:pt x="0" y="93605"/>
                      <a:pt x="13421" y="61202"/>
                      <a:pt x="37312" y="37312"/>
                    </a:cubicBezTo>
                    <a:cubicBezTo>
                      <a:pt x="61202" y="13421"/>
                      <a:pt x="93605" y="0"/>
                      <a:pt x="127391" y="0"/>
                    </a:cubicBezTo>
                    <a:close/>
                  </a:path>
                </a:pathLst>
              </a:custGeom>
              <a:solidFill>
                <a:srgbClr val="FFDE59"/>
              </a:solidFill>
            </p:spPr>
          </p:sp>
          <p:sp>
            <p:nvSpPr>
              <p:cNvPr name="TextBox 19" id="19"/>
              <p:cNvSpPr txBox="true"/>
              <p:nvPr/>
            </p:nvSpPr>
            <p:spPr>
              <a:xfrm>
                <a:off x="0" y="-38100"/>
                <a:ext cx="816310" cy="1340839"/>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267346" y="438101"/>
              <a:ext cx="3794218" cy="5045710"/>
            </a:xfrm>
            <a:prstGeom prst="rect">
              <a:avLst/>
            </a:prstGeom>
          </p:spPr>
          <p:txBody>
            <a:bodyPr anchor="t" rtlCol="false" tIns="0" lIns="0" bIns="0" rIns="0">
              <a:spAutoFit/>
            </a:bodyPr>
            <a:lstStyle/>
            <a:p>
              <a:pPr algn="ctr">
                <a:lnSpc>
                  <a:spcPts val="3780"/>
                </a:lnSpc>
                <a:spcBef>
                  <a:spcPct val="0"/>
                </a:spcBef>
              </a:pPr>
              <a:r>
                <a:rPr lang="en-US" b="true" sz="2700">
                  <a:solidFill>
                    <a:srgbClr val="000000"/>
                  </a:solidFill>
                  <a:latin typeface="DejaVu Serif Bold"/>
                  <a:ea typeface="DejaVu Serif Bold"/>
                  <a:cs typeface="DejaVu Serif Bold"/>
                  <a:sym typeface="DejaVu Serif Bold"/>
                </a:rPr>
                <a:t>L</a:t>
              </a:r>
              <a:r>
                <a:rPr lang="en-US" b="true" sz="2700">
                  <a:solidFill>
                    <a:srgbClr val="000000"/>
                  </a:solidFill>
                  <a:latin typeface="DejaVu Serif Bold"/>
                  <a:ea typeface="DejaVu Serif Bold"/>
                  <a:cs typeface="DejaVu Serif Bold"/>
                  <a:sym typeface="DejaVu Serif Bold"/>
                </a:rPr>
                <a:t>uật đánh giá rủi ro nợ từ debt_ratio</a:t>
              </a:r>
            </a:p>
            <a:p>
              <a:pPr algn="ctr">
                <a:lnSpc>
                  <a:spcPts val="3780"/>
                </a:lnSpc>
                <a:spcBef>
                  <a:spcPct val="0"/>
                </a:spcBef>
              </a:pPr>
            </a:p>
            <a:p>
              <a:pPr algn="ctr">
                <a:lnSpc>
                  <a:spcPts val="3780"/>
                </a:lnSpc>
                <a:spcBef>
                  <a:spcPct val="0"/>
                </a:spcBef>
              </a:pPr>
              <a:r>
                <a:rPr lang="en-US" sz="2700">
                  <a:solidFill>
                    <a:srgbClr val="000000"/>
                  </a:solidFill>
                  <a:latin typeface="DejaVu Serif"/>
                  <a:ea typeface="DejaVu Serif"/>
                  <a:cs typeface="DejaVu Serif"/>
                  <a:sym typeface="DejaVu Serif"/>
                </a:rPr>
                <a:t>- R4, R5, R6 → debt_risk ∈ {low, medium, high}</a:t>
              </a:r>
            </a:p>
          </p:txBody>
        </p:sp>
      </p:grpSp>
      <p:grpSp>
        <p:nvGrpSpPr>
          <p:cNvPr name="Group 21" id="21"/>
          <p:cNvGrpSpPr/>
          <p:nvPr/>
        </p:nvGrpSpPr>
        <p:grpSpPr>
          <a:xfrm rot="0">
            <a:off x="8180012" y="3709316"/>
            <a:ext cx="4046742" cy="6267888"/>
            <a:chOff x="0" y="0"/>
            <a:chExt cx="5395656" cy="8357184"/>
          </a:xfrm>
        </p:grpSpPr>
        <p:grpSp>
          <p:nvGrpSpPr>
            <p:cNvPr name="Group 22" id="22"/>
            <p:cNvGrpSpPr/>
            <p:nvPr/>
          </p:nvGrpSpPr>
          <p:grpSpPr>
            <a:xfrm rot="0">
              <a:off x="0" y="0"/>
              <a:ext cx="5395656" cy="8357184"/>
              <a:chOff x="0" y="0"/>
              <a:chExt cx="976713" cy="1512804"/>
            </a:xfrm>
          </p:grpSpPr>
          <p:sp>
            <p:nvSpPr>
              <p:cNvPr name="Freeform 23" id="23"/>
              <p:cNvSpPr/>
              <p:nvPr/>
            </p:nvSpPr>
            <p:spPr>
              <a:xfrm flipH="false" flipV="false" rot="0">
                <a:off x="0" y="0"/>
                <a:ext cx="976713" cy="1512804"/>
              </a:xfrm>
              <a:custGeom>
                <a:avLst/>
                <a:gdLst/>
                <a:ahLst/>
                <a:cxnLst/>
                <a:rect r="r" b="b" t="t" l="l"/>
                <a:pathLst>
                  <a:path h="1512804" w="976713">
                    <a:moveTo>
                      <a:pt x="97569" y="0"/>
                    </a:moveTo>
                    <a:lnTo>
                      <a:pt x="879144" y="0"/>
                    </a:lnTo>
                    <a:cubicBezTo>
                      <a:pt x="905021" y="0"/>
                      <a:pt x="929838" y="10280"/>
                      <a:pt x="948136" y="28577"/>
                    </a:cubicBezTo>
                    <a:cubicBezTo>
                      <a:pt x="966433" y="46875"/>
                      <a:pt x="976713" y="71692"/>
                      <a:pt x="976713" y="97569"/>
                    </a:cubicBezTo>
                    <a:lnTo>
                      <a:pt x="976713" y="1415235"/>
                    </a:lnTo>
                    <a:cubicBezTo>
                      <a:pt x="976713" y="1441112"/>
                      <a:pt x="966433" y="1465929"/>
                      <a:pt x="948136" y="1484227"/>
                    </a:cubicBezTo>
                    <a:cubicBezTo>
                      <a:pt x="929838" y="1502525"/>
                      <a:pt x="905021" y="1512804"/>
                      <a:pt x="879144" y="1512804"/>
                    </a:cubicBezTo>
                    <a:lnTo>
                      <a:pt x="97569" y="1512804"/>
                    </a:lnTo>
                    <a:cubicBezTo>
                      <a:pt x="71692" y="1512804"/>
                      <a:pt x="46875" y="1502525"/>
                      <a:pt x="28577" y="1484227"/>
                    </a:cubicBezTo>
                    <a:cubicBezTo>
                      <a:pt x="10280" y="1465929"/>
                      <a:pt x="0" y="1441112"/>
                      <a:pt x="0" y="1415235"/>
                    </a:cubicBezTo>
                    <a:lnTo>
                      <a:pt x="0" y="97569"/>
                    </a:lnTo>
                    <a:cubicBezTo>
                      <a:pt x="0" y="71692"/>
                      <a:pt x="10280" y="46875"/>
                      <a:pt x="28577" y="28577"/>
                    </a:cubicBezTo>
                    <a:cubicBezTo>
                      <a:pt x="46875" y="10280"/>
                      <a:pt x="71692" y="0"/>
                      <a:pt x="97569" y="0"/>
                    </a:cubicBezTo>
                    <a:close/>
                  </a:path>
                </a:pathLst>
              </a:custGeom>
              <a:solidFill>
                <a:srgbClr val="FFDE59"/>
              </a:solidFill>
            </p:spPr>
          </p:sp>
          <p:sp>
            <p:nvSpPr>
              <p:cNvPr name="TextBox 24" id="24"/>
              <p:cNvSpPr txBox="true"/>
              <p:nvPr/>
            </p:nvSpPr>
            <p:spPr>
              <a:xfrm>
                <a:off x="0" y="-38100"/>
                <a:ext cx="976713" cy="1550904"/>
              </a:xfrm>
              <a:prstGeom prst="rect">
                <a:avLst/>
              </a:prstGeom>
            </p:spPr>
            <p:txBody>
              <a:bodyPr anchor="ctr" rtlCol="false" tIns="55434" lIns="55434" bIns="55434" rIns="55434"/>
              <a:lstStyle/>
              <a:p>
                <a:pPr algn="ctr">
                  <a:lnSpc>
                    <a:spcPts val="2659"/>
                  </a:lnSpc>
                </a:pPr>
              </a:p>
            </p:txBody>
          </p:sp>
        </p:grpSp>
        <p:sp>
          <p:nvSpPr>
            <p:cNvPr name="TextBox 25" id="25"/>
            <p:cNvSpPr txBox="true"/>
            <p:nvPr/>
          </p:nvSpPr>
          <p:spPr>
            <a:xfrm rot="0">
              <a:off x="333227" y="208685"/>
              <a:ext cx="4729202" cy="7585710"/>
            </a:xfrm>
            <a:prstGeom prst="rect">
              <a:avLst/>
            </a:prstGeom>
          </p:spPr>
          <p:txBody>
            <a:bodyPr anchor="t" rtlCol="false" tIns="0" lIns="0" bIns="0" rIns="0">
              <a:spAutoFit/>
            </a:bodyPr>
            <a:lstStyle/>
            <a:p>
              <a:pPr algn="ctr">
                <a:lnSpc>
                  <a:spcPts val="3779"/>
                </a:lnSpc>
                <a:spcBef>
                  <a:spcPct val="0"/>
                </a:spcBef>
              </a:pPr>
              <a:r>
                <a:rPr lang="en-US" b="true" sz="2700">
                  <a:solidFill>
                    <a:srgbClr val="000000"/>
                  </a:solidFill>
                  <a:latin typeface="DejaVu Serif Bold"/>
                  <a:ea typeface="DejaVu Serif Bold"/>
                  <a:cs typeface="DejaVu Serif Bold"/>
                  <a:sym typeface="DejaVu Serif Bold"/>
                </a:rPr>
                <a:t>L</a:t>
              </a:r>
              <a:r>
                <a:rPr lang="en-US" b="true" sz="2700">
                  <a:solidFill>
                    <a:srgbClr val="000000"/>
                  </a:solidFill>
                  <a:latin typeface="DejaVu Serif Bold"/>
                  <a:ea typeface="DejaVu Serif Bold"/>
                  <a:cs typeface="DejaVu Serif Bold"/>
                  <a:sym typeface="DejaVu Serif Bold"/>
                </a:rPr>
                <a:t>uật đánh giá hành vi trả nợ , lịch sử tín dụng , tài khoản mới , credit_mix</a:t>
              </a:r>
            </a:p>
            <a:p>
              <a:pPr algn="ctr">
                <a:lnSpc>
                  <a:spcPts val="3779"/>
                </a:lnSpc>
                <a:spcBef>
                  <a:spcPct val="0"/>
                </a:spcBef>
              </a:pPr>
              <a:r>
                <a:rPr lang="en-US" sz="2700">
                  <a:solidFill>
                    <a:srgbClr val="000000"/>
                  </a:solidFill>
                  <a:latin typeface="DejaVu Serif"/>
                  <a:ea typeface="DejaVu Serif"/>
                  <a:cs typeface="DejaVu Serif"/>
                  <a:sym typeface="DejaVu Serif"/>
                </a:rPr>
                <a:t>- R7–R18 → sinh ra các khái niệm trung gian như payment_behavior , credit_history_quality , newcredit_risk , credit_mix_quality</a:t>
              </a:r>
            </a:p>
          </p:txBody>
        </p:sp>
      </p:grpSp>
      <p:grpSp>
        <p:nvGrpSpPr>
          <p:cNvPr name="Group 26" id="26"/>
          <p:cNvGrpSpPr/>
          <p:nvPr/>
        </p:nvGrpSpPr>
        <p:grpSpPr>
          <a:xfrm rot="0">
            <a:off x="12897819" y="3575174"/>
            <a:ext cx="4195597" cy="6390822"/>
            <a:chOff x="0" y="0"/>
            <a:chExt cx="5594129" cy="8521096"/>
          </a:xfrm>
        </p:grpSpPr>
        <p:grpSp>
          <p:nvGrpSpPr>
            <p:cNvPr name="Group 27" id="27"/>
            <p:cNvGrpSpPr/>
            <p:nvPr/>
          </p:nvGrpSpPr>
          <p:grpSpPr>
            <a:xfrm rot="0">
              <a:off x="0" y="0"/>
              <a:ext cx="5594129" cy="8521096"/>
              <a:chOff x="0" y="0"/>
              <a:chExt cx="826488" cy="1258924"/>
            </a:xfrm>
          </p:grpSpPr>
          <p:sp>
            <p:nvSpPr>
              <p:cNvPr name="Freeform 28" id="28"/>
              <p:cNvSpPr/>
              <p:nvPr/>
            </p:nvSpPr>
            <p:spPr>
              <a:xfrm flipH="false" flipV="false" rot="0">
                <a:off x="0" y="0"/>
                <a:ext cx="826488" cy="1258924"/>
              </a:xfrm>
              <a:custGeom>
                <a:avLst/>
                <a:gdLst/>
                <a:ahLst/>
                <a:cxnLst/>
                <a:rect r="r" b="b" t="t" l="l"/>
                <a:pathLst>
                  <a:path h="1258924" w="826488">
                    <a:moveTo>
                      <a:pt x="94108" y="0"/>
                    </a:moveTo>
                    <a:lnTo>
                      <a:pt x="732380" y="0"/>
                    </a:lnTo>
                    <a:cubicBezTo>
                      <a:pt x="757339" y="0"/>
                      <a:pt x="781276" y="9915"/>
                      <a:pt x="798924" y="27564"/>
                    </a:cubicBezTo>
                    <a:cubicBezTo>
                      <a:pt x="816573" y="45212"/>
                      <a:pt x="826488" y="69149"/>
                      <a:pt x="826488" y="94108"/>
                    </a:cubicBezTo>
                    <a:lnTo>
                      <a:pt x="826488" y="1164816"/>
                    </a:lnTo>
                    <a:cubicBezTo>
                      <a:pt x="826488" y="1189775"/>
                      <a:pt x="816573" y="1213712"/>
                      <a:pt x="798924" y="1231361"/>
                    </a:cubicBezTo>
                    <a:cubicBezTo>
                      <a:pt x="781276" y="1249009"/>
                      <a:pt x="757339" y="1258924"/>
                      <a:pt x="732380" y="1258924"/>
                    </a:cubicBezTo>
                    <a:lnTo>
                      <a:pt x="94108" y="1258924"/>
                    </a:lnTo>
                    <a:cubicBezTo>
                      <a:pt x="69149" y="1258924"/>
                      <a:pt x="45212" y="1249009"/>
                      <a:pt x="27564" y="1231361"/>
                    </a:cubicBezTo>
                    <a:cubicBezTo>
                      <a:pt x="9915" y="1213712"/>
                      <a:pt x="0" y="1189775"/>
                      <a:pt x="0" y="1164816"/>
                    </a:cubicBezTo>
                    <a:lnTo>
                      <a:pt x="0" y="94108"/>
                    </a:lnTo>
                    <a:cubicBezTo>
                      <a:pt x="0" y="69149"/>
                      <a:pt x="9915" y="45212"/>
                      <a:pt x="27564" y="27564"/>
                    </a:cubicBezTo>
                    <a:cubicBezTo>
                      <a:pt x="45212" y="9915"/>
                      <a:pt x="69149" y="0"/>
                      <a:pt x="94108" y="0"/>
                    </a:cubicBezTo>
                    <a:close/>
                  </a:path>
                </a:pathLst>
              </a:custGeom>
              <a:solidFill>
                <a:srgbClr val="FFBD59"/>
              </a:solidFill>
            </p:spPr>
          </p:sp>
          <p:sp>
            <p:nvSpPr>
              <p:cNvPr name="TextBox 29" id="29"/>
              <p:cNvSpPr txBox="true"/>
              <p:nvPr/>
            </p:nvSpPr>
            <p:spPr>
              <a:xfrm>
                <a:off x="0" y="-47625"/>
                <a:ext cx="826488" cy="1306549"/>
              </a:xfrm>
              <a:prstGeom prst="rect">
                <a:avLst/>
              </a:prstGeom>
            </p:spPr>
            <p:txBody>
              <a:bodyPr anchor="ctr" rtlCol="false" tIns="67920" lIns="67920" bIns="67920" rIns="67920"/>
              <a:lstStyle/>
              <a:p>
                <a:pPr algn="ctr">
                  <a:lnSpc>
                    <a:spcPts val="3779"/>
                  </a:lnSpc>
                </a:pPr>
              </a:p>
            </p:txBody>
          </p:sp>
        </p:grpSp>
        <p:sp>
          <p:nvSpPr>
            <p:cNvPr name="TextBox 30" id="30"/>
            <p:cNvSpPr txBox="true"/>
            <p:nvPr/>
          </p:nvSpPr>
          <p:spPr>
            <a:xfrm rot="0">
              <a:off x="700385" y="756618"/>
              <a:ext cx="4214599" cy="6950710"/>
            </a:xfrm>
            <a:prstGeom prst="rect">
              <a:avLst/>
            </a:prstGeom>
          </p:spPr>
          <p:txBody>
            <a:bodyPr anchor="t" rtlCol="false" tIns="0" lIns="0" bIns="0" rIns="0">
              <a:spAutoFit/>
            </a:bodyPr>
            <a:lstStyle/>
            <a:p>
              <a:pPr algn="ctr">
                <a:lnSpc>
                  <a:spcPts val="3779"/>
                </a:lnSpc>
                <a:spcBef>
                  <a:spcPct val="0"/>
                </a:spcBef>
              </a:pPr>
              <a:r>
                <a:rPr lang="en-US" b="true" sz="2700">
                  <a:solidFill>
                    <a:srgbClr val="000000"/>
                  </a:solidFill>
                  <a:latin typeface="DejaVu Serif Bold"/>
                  <a:ea typeface="DejaVu Serif Bold"/>
                  <a:cs typeface="DejaVu Serif Bold"/>
                  <a:sym typeface="DejaVu Serif Bold"/>
                </a:rPr>
                <a:t>L</a:t>
              </a:r>
              <a:r>
                <a:rPr lang="en-US" b="true" sz="2700">
                  <a:solidFill>
                    <a:srgbClr val="000000"/>
                  </a:solidFill>
                  <a:latin typeface="DejaVu Serif Bold"/>
                  <a:ea typeface="DejaVu Serif Bold"/>
                  <a:cs typeface="DejaVu Serif Bold"/>
                  <a:sym typeface="DejaVu Serif Bold"/>
                </a:rPr>
                <a:t>uật tổng hợp rủi ro và phân lớp tín dụng</a:t>
              </a:r>
            </a:p>
            <a:p>
              <a:pPr algn="ctr">
                <a:lnSpc>
                  <a:spcPts val="3779"/>
                </a:lnSpc>
                <a:spcBef>
                  <a:spcPct val="0"/>
                </a:spcBef>
              </a:pPr>
              <a:r>
                <a:rPr lang="en-US" b="true" sz="2700">
                  <a:solidFill>
                    <a:srgbClr val="000000"/>
                  </a:solidFill>
                  <a:latin typeface="DejaVu Serif Bold"/>
                  <a:ea typeface="DejaVu Serif Bold"/>
                  <a:cs typeface="DejaVu Serif Bold"/>
                  <a:sym typeface="DejaVu Serif Bold"/>
                </a:rPr>
                <a:t>- </a:t>
              </a:r>
              <a:r>
                <a:rPr lang="en-US" sz="2700">
                  <a:solidFill>
                    <a:srgbClr val="000000"/>
                  </a:solidFill>
                  <a:latin typeface="DejaVu Serif"/>
                  <a:ea typeface="DejaVu Serif"/>
                  <a:cs typeface="DejaVu Serif"/>
                  <a:sym typeface="DejaVu Serif"/>
                </a:rPr>
                <a:t>R19–R21 → overall_risk ∈ {low, medium, high}</a:t>
              </a:r>
            </a:p>
            <a:p>
              <a:pPr algn="ctr">
                <a:lnSpc>
                  <a:spcPts val="3779"/>
                </a:lnSpc>
                <a:spcBef>
                  <a:spcPct val="0"/>
                </a:spcBef>
              </a:pPr>
              <a:r>
                <a:rPr lang="en-US" sz="2700">
                  <a:solidFill>
                    <a:srgbClr val="000000"/>
                  </a:solidFill>
                  <a:latin typeface="DejaVu Serif"/>
                  <a:ea typeface="DejaVu Serif"/>
                  <a:cs typeface="DejaVu Serif"/>
                  <a:sym typeface="DejaVu Serif"/>
                </a:rPr>
                <a:t>- R22–R27 → rule_credit_class ∈ {good, fair, bad}</a:t>
              </a:r>
            </a:p>
          </p:txBody>
        </p:sp>
      </p:grpSp>
      <p:sp>
        <p:nvSpPr>
          <p:cNvPr name="TextBox 31" id="31"/>
          <p:cNvSpPr txBox="true"/>
          <p:nvPr/>
        </p:nvSpPr>
        <p:spPr>
          <a:xfrm rot="0">
            <a:off x="17259300" y="9067800"/>
            <a:ext cx="759504" cy="804545"/>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22</a:t>
            </a: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387681" y="1028700"/>
          <a:ext cx="17512638" cy="8968664"/>
        </p:xfrm>
        <a:graphic>
          <a:graphicData uri="http://schemas.openxmlformats.org/drawingml/2006/table">
            <a:tbl>
              <a:tblPr/>
              <a:tblGrid>
                <a:gridCol w="2240482"/>
                <a:gridCol w="4278340"/>
                <a:gridCol w="6476057"/>
                <a:gridCol w="4517759"/>
              </a:tblGrid>
              <a:tr h="899170">
                <a:tc>
                  <a:txBody>
                    <a:bodyPr anchor="t" rtlCol="false"/>
                    <a:lstStyle/>
                    <a:p>
                      <a:pPr algn="ctr">
                        <a:lnSpc>
                          <a:spcPts val="3360"/>
                        </a:lnSpc>
                        <a:defRPr/>
                      </a:pPr>
                      <a:r>
                        <a:rPr lang="en-US" sz="2400" b="true">
                          <a:solidFill>
                            <a:srgbClr val="000000"/>
                          </a:solidFill>
                          <a:latin typeface="Montserrat Bold"/>
                          <a:ea typeface="Montserrat Bold"/>
                          <a:cs typeface="Montserrat Bold"/>
                          <a:sym typeface="Montserrat Bold"/>
                        </a:rPr>
                        <a:t>Loại luật </a:t>
                      </a:r>
                      <a:endParaRPr lang="en-US" sz="1100"/>
                    </a:p>
                  </a:txBody>
                  <a:tcPr marL="190500" marR="190500" marT="190500" marB="190500" anchor="ctr">
                    <a:lnL cmpd="sng" algn="ctr" cap="flat" w="38100">
                      <a:solidFill>
                        <a:srgbClr val="E22424"/>
                      </a:solidFill>
                      <a:prstDash val="solid"/>
                      <a:round/>
                      <a:headEnd type="none" w="med" len="med"/>
                      <a:tailEnd type="none" w="med" len="med"/>
                    </a:lnL>
                    <a:lnR cmpd="sng" algn="ctr" cap="flat" w="38100">
                      <a:solidFill>
                        <a:srgbClr val="E22424"/>
                      </a:solidFill>
                      <a:prstDash val="solid"/>
                      <a:round/>
                      <a:headEnd type="none" w="med" len="med"/>
                      <a:tailEnd type="none" w="med" len="med"/>
                    </a:lnR>
                    <a:lnT cmpd="sng" algn="ctr" cap="flat" w="38100">
                      <a:solidFill>
                        <a:srgbClr val="E22424"/>
                      </a:solidFill>
                      <a:prstDash val="solid"/>
                      <a:round/>
                      <a:headEnd type="none" w="med" len="med"/>
                      <a:tailEnd type="none" w="med" len="med"/>
                    </a:lnT>
                    <a:lnB cmpd="sng" algn="ctr" cap="flat" w="38100">
                      <a:solidFill>
                        <a:srgbClr val="E22424"/>
                      </a:solidFill>
                      <a:prstDash val="solid"/>
                      <a:round/>
                      <a:headEnd type="none" w="med" len="med"/>
                      <a:tailEnd type="none" w="med" len="med"/>
                    </a:lnB>
                  </a:tcPr>
                </a:tc>
                <a:tc>
                  <a:txBody>
                    <a:bodyPr anchor="t" rtlCol="false"/>
                    <a:lstStyle/>
                    <a:p>
                      <a:pPr algn="ctr">
                        <a:lnSpc>
                          <a:spcPts val="3360"/>
                        </a:lnSpc>
                        <a:defRPr/>
                      </a:pPr>
                      <a:r>
                        <a:rPr lang="en-US" sz="2400" b="true">
                          <a:solidFill>
                            <a:srgbClr val="000000"/>
                          </a:solidFill>
                          <a:latin typeface="Montserrat Bold"/>
                          <a:ea typeface="Montserrat Bold"/>
                          <a:cs typeface="Montserrat Bold"/>
                          <a:sym typeface="Montserrat Bold"/>
                        </a:rPr>
                        <a:t>Dạng IF - then </a:t>
                      </a:r>
                      <a:endParaRPr lang="en-US" sz="1100"/>
                    </a:p>
                  </a:txBody>
                  <a:tcPr marL="190500" marR="190500" marT="190500" marB="190500" anchor="ctr">
                    <a:lnL cmpd="sng" algn="ctr" cap="flat" w="38100">
                      <a:solidFill>
                        <a:srgbClr val="E22424"/>
                      </a:solidFill>
                      <a:prstDash val="solid"/>
                      <a:round/>
                      <a:headEnd type="none" w="med" len="med"/>
                      <a:tailEnd type="none" w="med" len="med"/>
                    </a:lnL>
                    <a:lnR cmpd="sng" algn="ctr" cap="flat" w="38100">
                      <a:solidFill>
                        <a:srgbClr val="E22424"/>
                      </a:solidFill>
                      <a:prstDash val="solid"/>
                      <a:round/>
                      <a:headEnd type="none" w="med" len="med"/>
                      <a:tailEnd type="none" w="med" len="med"/>
                    </a:lnR>
                    <a:lnT cmpd="sng" algn="ctr" cap="flat" w="38100">
                      <a:solidFill>
                        <a:srgbClr val="E22424"/>
                      </a:solidFill>
                      <a:prstDash val="solid"/>
                      <a:round/>
                      <a:headEnd type="none" w="med" len="med"/>
                      <a:tailEnd type="none" w="med" len="med"/>
                    </a:lnT>
                    <a:lnB cmpd="sng" algn="ctr" cap="flat" w="38100">
                      <a:solidFill>
                        <a:srgbClr val="E22424"/>
                      </a:solidFill>
                      <a:prstDash val="solid"/>
                      <a:round/>
                      <a:headEnd type="none" w="med" len="med"/>
                      <a:tailEnd type="none" w="med" len="med"/>
                    </a:lnB>
                  </a:tcPr>
                </a:tc>
                <a:tc>
                  <a:txBody>
                    <a:bodyPr anchor="t" rtlCol="false"/>
                    <a:lstStyle/>
                    <a:p>
                      <a:pPr algn="ctr">
                        <a:lnSpc>
                          <a:spcPts val="3360"/>
                        </a:lnSpc>
                        <a:defRPr/>
                      </a:pPr>
                      <a:r>
                        <a:rPr lang="en-US" sz="2400" b="true">
                          <a:solidFill>
                            <a:srgbClr val="000000"/>
                          </a:solidFill>
                          <a:latin typeface="Montserrat Bold"/>
                          <a:ea typeface="Montserrat Bold"/>
                          <a:cs typeface="Montserrat Bold"/>
                          <a:sym typeface="Montserrat Bold"/>
                        </a:rPr>
                        <a:t>Vai trò  </a:t>
                      </a:r>
                      <a:endParaRPr lang="en-US" sz="1100"/>
                    </a:p>
                  </a:txBody>
                  <a:tcPr marL="190500" marR="190500" marT="190500" marB="190500" anchor="ctr">
                    <a:lnL cmpd="sng" algn="ctr" cap="flat" w="38100">
                      <a:solidFill>
                        <a:srgbClr val="E22424"/>
                      </a:solidFill>
                      <a:prstDash val="solid"/>
                      <a:round/>
                      <a:headEnd type="none" w="med" len="med"/>
                      <a:tailEnd type="none" w="med" len="med"/>
                    </a:lnL>
                    <a:lnR cmpd="sng" algn="ctr" cap="flat" w="38100">
                      <a:solidFill>
                        <a:srgbClr val="E22424"/>
                      </a:solidFill>
                      <a:prstDash val="solid"/>
                      <a:round/>
                      <a:headEnd type="none" w="med" len="med"/>
                      <a:tailEnd type="none" w="med" len="med"/>
                    </a:lnR>
                    <a:lnT cmpd="sng" algn="ctr" cap="flat" w="38100">
                      <a:solidFill>
                        <a:srgbClr val="E22424"/>
                      </a:solidFill>
                      <a:prstDash val="solid"/>
                      <a:round/>
                      <a:headEnd type="none" w="med" len="med"/>
                      <a:tailEnd type="none" w="med" len="med"/>
                    </a:lnT>
                    <a:lnB cmpd="sng" algn="ctr" cap="flat" w="38100">
                      <a:solidFill>
                        <a:srgbClr val="E22424"/>
                      </a:solidFill>
                      <a:prstDash val="solid"/>
                      <a:round/>
                      <a:headEnd type="none" w="med" len="med"/>
                      <a:tailEnd type="none" w="med" len="med"/>
                    </a:lnB>
                  </a:tcPr>
                </a:tc>
                <a:tc>
                  <a:txBody>
                    <a:bodyPr anchor="t" rtlCol="false"/>
                    <a:lstStyle/>
                    <a:p>
                      <a:pPr algn="ctr">
                        <a:lnSpc>
                          <a:spcPts val="3360"/>
                        </a:lnSpc>
                        <a:defRPr/>
                      </a:pPr>
                      <a:r>
                        <a:rPr lang="en-US" sz="2400" b="true">
                          <a:solidFill>
                            <a:srgbClr val="000000"/>
                          </a:solidFill>
                          <a:latin typeface="Montserrat Bold"/>
                          <a:ea typeface="Montserrat Bold"/>
                          <a:cs typeface="Montserrat Bold"/>
                          <a:sym typeface="Montserrat Bold"/>
                        </a:rPr>
                        <a:t>Giải thích  </a:t>
                      </a:r>
                      <a:endParaRPr lang="en-US" sz="1100"/>
                    </a:p>
                  </a:txBody>
                  <a:tcPr marL="190500" marR="190500" marT="190500" marB="190500" anchor="ctr">
                    <a:lnL cmpd="sng" algn="ctr" cap="flat" w="38100">
                      <a:solidFill>
                        <a:srgbClr val="E22424"/>
                      </a:solidFill>
                      <a:prstDash val="solid"/>
                      <a:round/>
                      <a:headEnd type="none" w="med" len="med"/>
                      <a:tailEnd type="none" w="med" len="med"/>
                    </a:lnL>
                    <a:lnR cmpd="sng" algn="ctr" cap="flat" w="38100">
                      <a:solidFill>
                        <a:srgbClr val="E22424"/>
                      </a:solidFill>
                      <a:prstDash val="solid"/>
                      <a:round/>
                      <a:headEnd type="none" w="med" len="med"/>
                      <a:tailEnd type="none" w="med" len="med"/>
                    </a:lnR>
                    <a:lnT cmpd="sng" algn="ctr" cap="flat" w="38100">
                      <a:solidFill>
                        <a:srgbClr val="E22424"/>
                      </a:solidFill>
                      <a:prstDash val="solid"/>
                      <a:round/>
                      <a:headEnd type="none" w="med" len="med"/>
                      <a:tailEnd type="none" w="med" len="med"/>
                    </a:lnT>
                    <a:lnB cmpd="sng" algn="ctr" cap="flat" w="38100">
                      <a:solidFill>
                        <a:srgbClr val="E22424"/>
                      </a:solidFill>
                      <a:prstDash val="solid"/>
                      <a:round/>
                      <a:headEnd type="none" w="med" len="med"/>
                      <a:tailEnd type="none" w="med" len="med"/>
                    </a:lnB>
                  </a:tcPr>
                </a:tc>
              </a:tr>
              <a:tr h="1976184">
                <a:tc>
                  <a:txBody>
                    <a:bodyPr anchor="t" rtlCol="false"/>
                    <a:lstStyle/>
                    <a:p>
                      <a:pPr algn="ctr">
                        <a:lnSpc>
                          <a:spcPts val="2660"/>
                        </a:lnSpc>
                        <a:defRPr/>
                      </a:pPr>
                      <a:r>
                        <a:rPr lang="en-US" sz="1900" b="true">
                          <a:solidFill>
                            <a:srgbClr val="000000"/>
                          </a:solidFill>
                          <a:latin typeface="Montserrat Bold"/>
                          <a:ea typeface="Montserrat Bold"/>
                          <a:cs typeface="Montserrat Bold"/>
                          <a:sym typeface="Montserrat Bold"/>
                        </a:rPr>
                        <a:t>Đánh giá năng lực tài chính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E22424"/>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60"/>
                        </a:lnSpc>
                        <a:defRPr/>
                      </a:pPr>
                      <a:r>
                        <a:rPr lang="en-US" sz="1900">
                          <a:solidFill>
                            <a:srgbClr val="000000"/>
                          </a:solidFill>
                          <a:latin typeface="Montserrat"/>
                          <a:ea typeface="Montserrat"/>
                          <a:cs typeface="Montserrat"/>
                          <a:sym typeface="Montserrat"/>
                        </a:rPr>
                        <a:t>IF income_expense_ratio ≥ 1.8</a:t>
                      </a:r>
                      <a:endParaRPr lang="en-US" sz="1100"/>
                    </a:p>
                    <a:p>
                      <a:pPr algn="ctr">
                        <a:lnSpc>
                          <a:spcPts val="2660"/>
                        </a:lnSpc>
                      </a:pPr>
                      <a:r>
                        <a:rPr lang="en-US" sz="1900">
                          <a:solidFill>
                            <a:srgbClr val="000000"/>
                          </a:solidFill>
                          <a:latin typeface="Montserrat"/>
                          <a:ea typeface="Montserrat"/>
                          <a:cs typeface="Montserrat"/>
                          <a:sym typeface="Montserrat"/>
                        </a:rPr>
                        <a:t> THEN financial_capacity = strong</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E22424"/>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60"/>
                        </a:lnSpc>
                        <a:defRPr/>
                      </a:pPr>
                      <a:r>
                        <a:rPr lang="en-US" sz="1900">
                          <a:solidFill>
                            <a:srgbClr val="000000"/>
                          </a:solidFill>
                          <a:latin typeface="Montserrat"/>
                          <a:ea typeface="Montserrat"/>
                          <a:cs typeface="Montserrat"/>
                          <a:sym typeface="Montserrat"/>
                        </a:rPr>
                        <a:t>Luật sinh ra kết luận trung gian financial_capacity, được dùng làm cơ sở cho các luật tổng hợp mức rủi ro tín dụng.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E22424"/>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60"/>
                        </a:lnSpc>
                        <a:defRPr/>
                      </a:pPr>
                      <a:r>
                        <a:rPr lang="en-US" sz="1900">
                          <a:solidFill>
                            <a:srgbClr val="000000"/>
                          </a:solidFill>
                          <a:latin typeface="Montserrat"/>
                          <a:ea typeface="Montserrat"/>
                          <a:cs typeface="Montserrat"/>
                          <a:sym typeface="Montserrat"/>
                        </a:rPr>
                        <a:t>Luật này phản ánh tri thức chuyên gia rằng khách hàng có thu nhập cao hơn đáng kể so với chi tiêu hàng tháng thì được xem là có năng lực tài chính tốt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E22424"/>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807905">
                <a:tc>
                  <a:txBody>
                    <a:bodyPr anchor="t" rtlCol="false"/>
                    <a:lstStyle/>
                    <a:p>
                      <a:pPr algn="ctr">
                        <a:lnSpc>
                          <a:spcPts val="2660"/>
                        </a:lnSpc>
                        <a:defRPr/>
                      </a:pPr>
                      <a:r>
                        <a:rPr lang="en-US" sz="1900" b="true">
                          <a:solidFill>
                            <a:srgbClr val="000000"/>
                          </a:solidFill>
                          <a:latin typeface="Montserrat Bold"/>
                          <a:ea typeface="Montserrat Bold"/>
                          <a:cs typeface="Montserrat Bold"/>
                          <a:sym typeface="Montserrat Bold"/>
                        </a:rPr>
                        <a:t>Đánh giá rủi ro nợ</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60"/>
                        </a:lnSpc>
                        <a:defRPr/>
                      </a:pPr>
                      <a:r>
                        <a:rPr lang="en-US" sz="1900">
                          <a:solidFill>
                            <a:srgbClr val="000000"/>
                          </a:solidFill>
                          <a:latin typeface="Montserrat"/>
                          <a:ea typeface="Montserrat"/>
                          <a:cs typeface="Montserrat"/>
                          <a:sym typeface="Montserrat"/>
                        </a:rPr>
                        <a:t>IF debt_ratio &lt; 0.2</a:t>
                      </a:r>
                      <a:endParaRPr lang="en-US" sz="1100"/>
                    </a:p>
                    <a:p>
                      <a:pPr algn="ctr">
                        <a:lnSpc>
                          <a:spcPts val="2660"/>
                        </a:lnSpc>
                      </a:pPr>
                      <a:r>
                        <a:rPr lang="en-US" sz="1900">
                          <a:solidFill>
                            <a:srgbClr val="000000"/>
                          </a:solidFill>
                          <a:latin typeface="Montserrat"/>
                          <a:ea typeface="Montserrat"/>
                          <a:cs typeface="Montserrat"/>
                          <a:sym typeface="Montserrat"/>
                        </a:rPr>
                        <a:t> THEN debt_risk = low</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60"/>
                        </a:lnSpc>
                        <a:defRPr/>
                      </a:pPr>
                      <a:r>
                        <a:rPr lang="en-US" sz="1900">
                          <a:solidFill>
                            <a:srgbClr val="000000"/>
                          </a:solidFill>
                          <a:latin typeface="Montserrat"/>
                          <a:ea typeface="Montserrat"/>
                          <a:cs typeface="Montserrat"/>
                          <a:sym typeface="Montserrat"/>
                        </a:rPr>
                        <a:t>Kết luận debt_risk được kết hợp với các yếu tố khác để xác định rủi ro tổng thể.</a:t>
                      </a:r>
                      <a:endParaRPr lang="en-US" sz="1100"/>
                    </a:p>
                    <a:p>
                      <a:pPr algn="ctr">
                        <a:lnSpc>
                          <a:spcPts val="2660"/>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60"/>
                        </a:lnSpc>
                        <a:defRPr/>
                      </a:pPr>
                      <a:r>
                        <a:rPr lang="en-US" sz="1900">
                          <a:solidFill>
                            <a:srgbClr val="000000"/>
                          </a:solidFill>
                          <a:latin typeface="Montserrat"/>
                          <a:ea typeface="Montserrat"/>
                          <a:cs typeface="Montserrat"/>
                          <a:sym typeface="Montserrat"/>
                        </a:rPr>
                        <a:t>Luật thể hiện quan điểm rằng mức nợ thấp so với thu nhập cho thấy gánh nặng tài chính không lớn, rủi ro nợ ở mức an toàn.</a:t>
                      </a:r>
                      <a:endParaRPr lang="en-US" sz="1100"/>
                    </a:p>
                    <a:p>
                      <a:pPr algn="ctr">
                        <a:lnSpc>
                          <a:spcPts val="2660"/>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142702">
                <a:tc>
                  <a:txBody>
                    <a:bodyPr anchor="t" rtlCol="false"/>
                    <a:lstStyle/>
                    <a:p>
                      <a:pPr algn="ctr">
                        <a:lnSpc>
                          <a:spcPts val="2660"/>
                        </a:lnSpc>
                        <a:defRPr/>
                      </a:pPr>
                      <a:r>
                        <a:rPr lang="en-US" sz="1900" b="true">
                          <a:solidFill>
                            <a:srgbClr val="000000"/>
                          </a:solidFill>
                          <a:latin typeface="Montserrat Bold"/>
                          <a:ea typeface="Montserrat Bold"/>
                          <a:cs typeface="Montserrat Bold"/>
                          <a:sym typeface="Montserrat Bold"/>
                        </a:rPr>
                        <a:t>Đánh giá hành vi trả nợ</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60"/>
                        </a:lnSpc>
                        <a:defRPr/>
                      </a:pPr>
                      <a:r>
                        <a:rPr lang="en-US" sz="1900">
                          <a:solidFill>
                            <a:srgbClr val="000000"/>
                          </a:solidFill>
                          <a:latin typeface="Montserrat"/>
                          <a:ea typeface="Montserrat"/>
                          <a:cs typeface="Montserrat"/>
                          <a:sym typeface="Montserrat"/>
                        </a:rPr>
                        <a:t>IF late_payments_12m &gt; 2</a:t>
                      </a:r>
                      <a:endParaRPr lang="en-US" sz="1100"/>
                    </a:p>
                    <a:p>
                      <a:pPr algn="ctr">
                        <a:lnSpc>
                          <a:spcPts val="2660"/>
                        </a:lnSpc>
                      </a:pPr>
                      <a:r>
                        <a:rPr lang="en-US" sz="1900">
                          <a:solidFill>
                            <a:srgbClr val="000000"/>
                          </a:solidFill>
                          <a:latin typeface="Montserrat"/>
                          <a:ea typeface="Montserrat"/>
                          <a:cs typeface="Montserrat"/>
                          <a:sym typeface="Montserrat"/>
                        </a:rPr>
                        <a:t> THEN payment_risk = high</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60"/>
                        </a:lnSpc>
                        <a:defRPr/>
                      </a:pPr>
                      <a:r>
                        <a:rPr lang="en-US" sz="1900">
                          <a:solidFill>
                            <a:srgbClr val="000000"/>
                          </a:solidFill>
                          <a:latin typeface="Montserrat"/>
                          <a:ea typeface="Montserrat"/>
                          <a:cs typeface="Montserrat"/>
                          <a:sym typeface="Montserrat"/>
                        </a:rPr>
                        <a:t>Luật có mức ưu tiên cao, vì hành vi trả nợ kém thường ảnh hưởng trực tiếp đến quyết định tín dụng cuối cùng.</a:t>
                      </a:r>
                      <a:endParaRPr lang="en-US" sz="1100"/>
                    </a:p>
                    <a:p>
                      <a:pPr algn="ctr">
                        <a:lnSpc>
                          <a:spcPts val="2660"/>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60"/>
                        </a:lnSpc>
                        <a:defRPr/>
                      </a:pPr>
                      <a:r>
                        <a:rPr lang="en-US" sz="1900">
                          <a:solidFill>
                            <a:srgbClr val="000000"/>
                          </a:solidFill>
                          <a:latin typeface="Montserrat"/>
                          <a:ea typeface="Montserrat"/>
                          <a:cs typeface="Montserrat"/>
                          <a:sym typeface="Montserrat"/>
                        </a:rPr>
                        <a:t>Luật này phản ánh tri thức rằng hành vi trả chậm nhiều lần trong thời gian gần đây là chỉ báo mạnh của rủi ro tín dụng.</a:t>
                      </a:r>
                      <a:endParaRPr lang="en-US" sz="1100"/>
                    </a:p>
                    <a:p>
                      <a:pPr algn="ctr">
                        <a:lnSpc>
                          <a:spcPts val="2660"/>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142702">
                <a:tc>
                  <a:txBody>
                    <a:bodyPr anchor="t" rtlCol="false"/>
                    <a:lstStyle/>
                    <a:p>
                      <a:pPr algn="ctr">
                        <a:lnSpc>
                          <a:spcPts val="2660"/>
                        </a:lnSpc>
                        <a:defRPr/>
                      </a:pPr>
                      <a:r>
                        <a:rPr lang="en-US" sz="1900" b="true">
                          <a:solidFill>
                            <a:srgbClr val="000000"/>
                          </a:solidFill>
                          <a:latin typeface="Montserrat Bold"/>
                          <a:ea typeface="Montserrat Bold"/>
                          <a:cs typeface="Montserrat Bold"/>
                          <a:sym typeface="Montserrat Bold"/>
                        </a:rPr>
                        <a:t>Tổng hợp quyết định tín dụng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60"/>
                        </a:lnSpc>
                        <a:defRPr/>
                      </a:pPr>
                      <a:r>
                        <a:rPr lang="en-US" sz="1900">
                          <a:solidFill>
                            <a:srgbClr val="000000"/>
                          </a:solidFill>
                          <a:latin typeface="Montserrat"/>
                          <a:ea typeface="Montserrat"/>
                          <a:cs typeface="Montserrat"/>
                          <a:sym typeface="Montserrat"/>
                        </a:rPr>
                        <a:t>IF financial_capacity = strong AND debt_risk = low AND payment_risk = low</a:t>
                      </a:r>
                      <a:endParaRPr lang="en-US" sz="1100"/>
                    </a:p>
                    <a:p>
                      <a:pPr algn="ctr">
                        <a:lnSpc>
                          <a:spcPts val="2660"/>
                        </a:lnSpc>
                      </a:pPr>
                      <a:r>
                        <a:rPr lang="en-US" sz="1900">
                          <a:solidFill>
                            <a:srgbClr val="000000"/>
                          </a:solidFill>
                          <a:latin typeface="Montserrat"/>
                          <a:ea typeface="Montserrat"/>
                          <a:cs typeface="Montserrat"/>
                          <a:sym typeface="Montserrat"/>
                        </a:rPr>
                        <a:t> THEN rule_credit_class = good</a:t>
                      </a:r>
                    </a:p>
                    <a:p>
                      <a:pPr algn="ctr">
                        <a:lnSpc>
                          <a:spcPts val="2660"/>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60"/>
                        </a:lnSpc>
                        <a:defRPr/>
                      </a:pPr>
                      <a:r>
                        <a:rPr lang="en-US" sz="1900">
                          <a:solidFill>
                            <a:srgbClr val="000000"/>
                          </a:solidFill>
                          <a:latin typeface="Montserrat"/>
                          <a:ea typeface="Montserrat"/>
                          <a:cs typeface="Montserrat"/>
                          <a:sym typeface="Montserrat"/>
                        </a:rPr>
                        <a:t>Đây là luật mục tiêu (goal rule), tạo ra kết luận cuối cùng của hệ luật.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60"/>
                        </a:lnSpc>
                        <a:defRPr/>
                      </a:pPr>
                      <a:r>
                        <a:rPr lang="en-US" sz="1900">
                          <a:solidFill>
                            <a:srgbClr val="000000"/>
                          </a:solidFill>
                          <a:latin typeface="Montserrat"/>
                          <a:ea typeface="Montserrat"/>
                          <a:cs typeface="Montserrat"/>
                          <a:sym typeface="Montserrat"/>
                        </a:rPr>
                        <a:t>Luật tổng hợp nhiều kết luận trung gian để đưa ra quyết định tín dụng ở mức cao.</a:t>
                      </a:r>
                      <a:endParaRPr lang="en-US" sz="1100"/>
                    </a:p>
                    <a:p>
                      <a:pPr algn="ctr">
                        <a:lnSpc>
                          <a:spcPts val="2660"/>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3818175" y="139376"/>
            <a:ext cx="11192928" cy="889324"/>
          </a:xfrm>
          <a:prstGeom prst="rect">
            <a:avLst/>
          </a:prstGeom>
        </p:spPr>
        <p:txBody>
          <a:bodyPr anchor="t" rtlCol="false" tIns="0" lIns="0" bIns="0" rIns="0">
            <a:spAutoFit/>
          </a:bodyPr>
          <a:lstStyle/>
          <a:p>
            <a:pPr algn="ctr">
              <a:lnSpc>
                <a:spcPts val="7278"/>
              </a:lnSpc>
              <a:spcBef>
                <a:spcPct val="0"/>
              </a:spcBef>
            </a:pPr>
            <a:r>
              <a:rPr lang="en-US" sz="5198">
                <a:solidFill>
                  <a:srgbClr val="000000"/>
                </a:solidFill>
                <a:latin typeface="DejaVu Serif"/>
                <a:ea typeface="DejaVu Serif"/>
                <a:cs typeface="DejaVu Serif"/>
                <a:sym typeface="DejaVu Serif"/>
              </a:rPr>
              <a:t>Làm rõ một số luật trong hệ luật</a:t>
            </a:r>
          </a:p>
        </p:txBody>
      </p:sp>
      <p:sp>
        <p:nvSpPr>
          <p:cNvPr name="TextBox 4" id="4"/>
          <p:cNvSpPr txBox="true"/>
          <p:nvPr/>
        </p:nvSpPr>
        <p:spPr>
          <a:xfrm rot="0">
            <a:off x="16879548" y="9192819"/>
            <a:ext cx="759504" cy="804545"/>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23</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17028" t="0" r="-17028" b="0"/>
              </a:stretch>
            </a:blipFill>
          </p:spPr>
        </p:sp>
      </p:grpSp>
      <p:sp>
        <p:nvSpPr>
          <p:cNvPr name="Freeform 4" id="4"/>
          <p:cNvSpPr/>
          <p:nvPr/>
        </p:nvSpPr>
        <p:spPr>
          <a:xfrm flipH="false" flipV="false" rot="0">
            <a:off x="1882793" y="686718"/>
            <a:ext cx="14522414" cy="9078141"/>
          </a:xfrm>
          <a:custGeom>
            <a:avLst/>
            <a:gdLst/>
            <a:ahLst/>
            <a:cxnLst/>
            <a:rect r="r" b="b" t="t" l="l"/>
            <a:pathLst>
              <a:path h="9078141" w="14522414">
                <a:moveTo>
                  <a:pt x="0" y="0"/>
                </a:moveTo>
                <a:lnTo>
                  <a:pt x="14522414" y="0"/>
                </a:lnTo>
                <a:lnTo>
                  <a:pt x="14522414" y="9078141"/>
                </a:lnTo>
                <a:lnTo>
                  <a:pt x="0" y="90781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true" rot="0">
            <a:off x="231709" y="260318"/>
            <a:ext cx="3388214" cy="3320453"/>
          </a:xfrm>
          <a:custGeom>
            <a:avLst/>
            <a:gdLst/>
            <a:ahLst/>
            <a:cxnLst/>
            <a:rect r="r" b="b" t="t" l="l"/>
            <a:pathLst>
              <a:path h="3320453" w="3388214">
                <a:moveTo>
                  <a:pt x="0" y="3320453"/>
                </a:moveTo>
                <a:lnTo>
                  <a:pt x="3388213" y="3320453"/>
                </a:lnTo>
                <a:lnTo>
                  <a:pt x="3388213" y="0"/>
                </a:lnTo>
                <a:lnTo>
                  <a:pt x="0" y="0"/>
                </a:lnTo>
                <a:lnTo>
                  <a:pt x="0" y="3320453"/>
                </a:lnTo>
                <a:close/>
              </a:path>
            </a:pathLst>
          </a:custGeom>
          <a:blipFill>
            <a:blip r:embed="rId5">
              <a:extLst>
                <a:ext uri="{96DAC541-7B7A-43D3-8B79-37D633B846F1}">
                  <asvg:svgBlip xmlns:asvg="http://schemas.microsoft.com/office/drawing/2016/SVG/main" r:embed="rId6"/>
                </a:ext>
              </a:extLst>
            </a:blip>
            <a:stretch>
              <a:fillRect l="0" t="-160" r="0" b="-160"/>
            </a:stretch>
          </a:blipFill>
        </p:spPr>
      </p:sp>
      <p:sp>
        <p:nvSpPr>
          <p:cNvPr name="Freeform 6" id="6"/>
          <p:cNvSpPr/>
          <p:nvPr/>
        </p:nvSpPr>
        <p:spPr>
          <a:xfrm flipH="true" flipV="true" rot="0">
            <a:off x="14579965" y="260318"/>
            <a:ext cx="3388214" cy="3320453"/>
          </a:xfrm>
          <a:custGeom>
            <a:avLst/>
            <a:gdLst/>
            <a:ahLst/>
            <a:cxnLst/>
            <a:rect r="r" b="b" t="t" l="l"/>
            <a:pathLst>
              <a:path h="3320453" w="3388214">
                <a:moveTo>
                  <a:pt x="3388214" y="3320453"/>
                </a:moveTo>
                <a:lnTo>
                  <a:pt x="0" y="3320453"/>
                </a:lnTo>
                <a:lnTo>
                  <a:pt x="0" y="0"/>
                </a:lnTo>
                <a:lnTo>
                  <a:pt x="3388214" y="0"/>
                </a:lnTo>
                <a:lnTo>
                  <a:pt x="3388214" y="3320453"/>
                </a:lnTo>
                <a:close/>
              </a:path>
            </a:pathLst>
          </a:custGeom>
          <a:blipFill>
            <a:blip r:embed="rId5">
              <a:extLst>
                <a:ext uri="{96DAC541-7B7A-43D3-8B79-37D633B846F1}">
                  <asvg:svgBlip xmlns:asvg="http://schemas.microsoft.com/office/drawing/2016/SVG/main" r:embed="rId6"/>
                </a:ext>
              </a:extLst>
            </a:blip>
            <a:stretch>
              <a:fillRect l="0" t="-160" r="0" b="-160"/>
            </a:stretch>
          </a:blipFill>
        </p:spPr>
      </p:sp>
      <p:sp>
        <p:nvSpPr>
          <p:cNvPr name="TextBox 7" id="7"/>
          <p:cNvSpPr txBox="true"/>
          <p:nvPr/>
        </p:nvSpPr>
        <p:spPr>
          <a:xfrm rot="0">
            <a:off x="3454072" y="220911"/>
            <a:ext cx="11125893" cy="807789"/>
          </a:xfrm>
          <a:prstGeom prst="rect">
            <a:avLst/>
          </a:prstGeom>
        </p:spPr>
        <p:txBody>
          <a:bodyPr anchor="t" rtlCol="false" tIns="0" lIns="0" bIns="0" rIns="0">
            <a:spAutoFit/>
          </a:bodyPr>
          <a:lstStyle/>
          <a:p>
            <a:pPr algn="ctr">
              <a:lnSpc>
                <a:spcPts val="6453"/>
              </a:lnSpc>
            </a:pPr>
            <a:r>
              <a:rPr lang="en-US" sz="4515">
                <a:solidFill>
                  <a:srgbClr val="473821"/>
                </a:solidFill>
                <a:latin typeface="Times New Roman"/>
                <a:ea typeface="Times New Roman"/>
                <a:cs typeface="Times New Roman"/>
                <a:sym typeface="Times New Roman"/>
              </a:rPr>
              <a:t>I</a:t>
            </a:r>
            <a:r>
              <a:rPr lang="en-US" sz="4515">
                <a:solidFill>
                  <a:srgbClr val="473821"/>
                </a:solidFill>
                <a:latin typeface="Times New Roman"/>
                <a:ea typeface="Times New Roman"/>
                <a:cs typeface="Times New Roman"/>
                <a:sym typeface="Times New Roman"/>
              </a:rPr>
              <a:t>V. HỆ LUẬT &amp; THUẬT GIẢI SUY LUẬN</a:t>
            </a:r>
          </a:p>
        </p:txBody>
      </p:sp>
      <p:sp>
        <p:nvSpPr>
          <p:cNvPr name="TextBox 8" id="8"/>
          <p:cNvSpPr txBox="true"/>
          <p:nvPr/>
        </p:nvSpPr>
        <p:spPr>
          <a:xfrm rot="0">
            <a:off x="3092793" y="1278326"/>
            <a:ext cx="12102413" cy="807789"/>
          </a:xfrm>
          <a:prstGeom prst="rect">
            <a:avLst/>
          </a:prstGeom>
        </p:spPr>
        <p:txBody>
          <a:bodyPr anchor="t" rtlCol="false" tIns="0" lIns="0" bIns="0" rIns="0">
            <a:spAutoFit/>
          </a:bodyPr>
          <a:lstStyle/>
          <a:p>
            <a:pPr algn="ctr">
              <a:lnSpc>
                <a:spcPts val="6453"/>
              </a:lnSpc>
            </a:pPr>
            <a:r>
              <a:rPr lang="en-US" sz="4515">
                <a:solidFill>
                  <a:srgbClr val="473821"/>
                </a:solidFill>
                <a:latin typeface="Times New Roman"/>
                <a:ea typeface="Times New Roman"/>
                <a:cs typeface="Times New Roman"/>
                <a:sym typeface="Times New Roman"/>
              </a:rPr>
              <a:t>4. Mô hình suy diễn được sử dụng: Suy diễn tiến</a:t>
            </a:r>
          </a:p>
        </p:txBody>
      </p:sp>
      <p:sp>
        <p:nvSpPr>
          <p:cNvPr name="TextBox 9" id="9"/>
          <p:cNvSpPr txBox="true"/>
          <p:nvPr/>
        </p:nvSpPr>
        <p:spPr>
          <a:xfrm rot="0">
            <a:off x="9452240" y="3077744"/>
            <a:ext cx="6511120" cy="4757801"/>
          </a:xfrm>
          <a:prstGeom prst="rect">
            <a:avLst/>
          </a:prstGeom>
        </p:spPr>
        <p:txBody>
          <a:bodyPr anchor="t" rtlCol="false" tIns="0" lIns="0" bIns="0" rIns="0">
            <a:spAutoFit/>
          </a:bodyPr>
          <a:lstStyle/>
          <a:p>
            <a:pPr algn="just">
              <a:lnSpc>
                <a:spcPts val="3747"/>
              </a:lnSpc>
            </a:pPr>
            <a:r>
              <a:rPr lang="en-US" sz="2622">
                <a:solidFill>
                  <a:srgbClr val="473821"/>
                </a:solidFill>
                <a:latin typeface="Times New Roman"/>
                <a:ea typeface="Times New Roman"/>
                <a:cs typeface="Times New Roman"/>
                <a:sym typeface="Times New Roman"/>
              </a:rPr>
              <a:t>Lý do:</a:t>
            </a:r>
          </a:p>
          <a:p>
            <a:pPr algn="just" marL="566240" indent="-283120" lvl="1">
              <a:lnSpc>
                <a:spcPts val="3747"/>
              </a:lnSpc>
              <a:buFont typeface="Arial"/>
              <a:buChar char="•"/>
            </a:pPr>
            <a:r>
              <a:rPr lang="en-US" sz="2622">
                <a:solidFill>
                  <a:srgbClr val="473821"/>
                </a:solidFill>
                <a:latin typeface="Times New Roman"/>
                <a:ea typeface="Times New Roman"/>
                <a:cs typeface="Times New Roman"/>
                <a:sym typeface="Times New Roman"/>
              </a:rPr>
              <a:t>Facts có sẵn từ đầu (dữ liệu khách hàng)</a:t>
            </a:r>
          </a:p>
          <a:p>
            <a:pPr algn="just" marL="566240" indent="-283120" lvl="1">
              <a:lnSpc>
                <a:spcPts val="3747"/>
              </a:lnSpc>
              <a:buFont typeface="Arial"/>
              <a:buChar char="•"/>
            </a:pPr>
            <a:r>
              <a:rPr lang="en-US" sz="2622">
                <a:solidFill>
                  <a:srgbClr val="473821"/>
                </a:solidFill>
                <a:latin typeface="Times New Roman"/>
                <a:ea typeface="Times New Roman"/>
                <a:cs typeface="Times New Roman"/>
                <a:sym typeface="Times New Roman"/>
              </a:rPr>
              <a:t>Đi từ dữ liệu → kết luận</a:t>
            </a:r>
          </a:p>
          <a:p>
            <a:pPr algn="just">
              <a:lnSpc>
                <a:spcPts val="3747"/>
              </a:lnSpc>
            </a:pPr>
            <a:r>
              <a:rPr lang="en-US" sz="2622">
                <a:solidFill>
                  <a:srgbClr val="473821"/>
                </a:solidFill>
                <a:latin typeface="Times New Roman"/>
                <a:ea typeface="Times New Roman"/>
                <a:cs typeface="Times New Roman"/>
                <a:sym typeface="Times New Roman"/>
              </a:rPr>
              <a:t>Cơ chế:</a:t>
            </a:r>
          </a:p>
          <a:p>
            <a:pPr algn="just" marL="566240" indent="-283120" lvl="1">
              <a:lnSpc>
                <a:spcPts val="3747"/>
              </a:lnSpc>
              <a:buFont typeface="Arial"/>
              <a:buChar char="•"/>
            </a:pPr>
            <a:r>
              <a:rPr lang="en-US" sz="2622">
                <a:solidFill>
                  <a:srgbClr val="473821"/>
                </a:solidFill>
                <a:latin typeface="Times New Roman"/>
                <a:ea typeface="Times New Roman"/>
                <a:cs typeface="Times New Roman"/>
                <a:sym typeface="Times New Roman"/>
              </a:rPr>
              <a:t>Dựa trên facts hiện có</a:t>
            </a:r>
          </a:p>
          <a:p>
            <a:pPr algn="just" marL="566240" indent="-283120" lvl="1">
              <a:lnSpc>
                <a:spcPts val="3747"/>
              </a:lnSpc>
              <a:buFont typeface="Arial"/>
              <a:buChar char="•"/>
            </a:pPr>
            <a:r>
              <a:rPr lang="en-US" sz="2622">
                <a:solidFill>
                  <a:srgbClr val="473821"/>
                </a:solidFill>
                <a:latin typeface="Times New Roman"/>
                <a:ea typeface="Times New Roman"/>
                <a:cs typeface="Times New Roman"/>
                <a:sym typeface="Times New Roman"/>
              </a:rPr>
              <a:t>Tìm luật thỏa điều kiện</a:t>
            </a:r>
          </a:p>
          <a:p>
            <a:pPr algn="just" marL="566240" indent="-283120" lvl="1">
              <a:lnSpc>
                <a:spcPts val="3747"/>
              </a:lnSpc>
              <a:buFont typeface="Arial"/>
              <a:buChar char="•"/>
            </a:pPr>
            <a:r>
              <a:rPr lang="en-US" sz="2622">
                <a:solidFill>
                  <a:srgbClr val="473821"/>
                </a:solidFill>
                <a:latin typeface="Times New Roman"/>
                <a:ea typeface="Times New Roman"/>
                <a:cs typeface="Times New Roman"/>
                <a:sym typeface="Times New Roman"/>
              </a:rPr>
              <a:t>Kích hoạt luật → sinh fact mới → cập nhật Working Memory</a:t>
            </a:r>
          </a:p>
          <a:p>
            <a:pPr algn="just">
              <a:lnSpc>
                <a:spcPts val="3747"/>
              </a:lnSpc>
            </a:pPr>
            <a:r>
              <a:rPr lang="en-US" sz="2622">
                <a:solidFill>
                  <a:srgbClr val="473821"/>
                </a:solidFill>
                <a:latin typeface="Times New Roman"/>
                <a:ea typeface="Times New Roman"/>
                <a:cs typeface="Times New Roman"/>
                <a:sym typeface="Times New Roman"/>
              </a:rPr>
              <a:t>Lặp đến khi không còn luật kích hoạt được</a:t>
            </a:r>
          </a:p>
          <a:p>
            <a:pPr algn="just">
              <a:lnSpc>
                <a:spcPts val="3748"/>
              </a:lnSpc>
            </a:pPr>
          </a:p>
        </p:txBody>
      </p:sp>
      <p:sp>
        <p:nvSpPr>
          <p:cNvPr name="TextBox 10" id="10"/>
          <p:cNvSpPr txBox="true"/>
          <p:nvPr/>
        </p:nvSpPr>
        <p:spPr>
          <a:xfrm rot="0">
            <a:off x="17143019" y="9067800"/>
            <a:ext cx="759504" cy="804545"/>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24</a:t>
            </a:r>
          </a:p>
        </p:txBody>
      </p:sp>
      <p:sp>
        <p:nvSpPr>
          <p:cNvPr name="TextBox 11" id="11"/>
          <p:cNvSpPr txBox="true"/>
          <p:nvPr/>
        </p:nvSpPr>
        <p:spPr>
          <a:xfrm rot="0">
            <a:off x="2075311" y="2119267"/>
            <a:ext cx="6511120" cy="3806220"/>
          </a:xfrm>
          <a:prstGeom prst="rect">
            <a:avLst/>
          </a:prstGeom>
        </p:spPr>
        <p:txBody>
          <a:bodyPr anchor="t" rtlCol="false" tIns="0" lIns="0" bIns="0" rIns="0">
            <a:spAutoFit/>
          </a:bodyPr>
          <a:lstStyle/>
          <a:p>
            <a:pPr algn="just">
              <a:lnSpc>
                <a:spcPts val="3747"/>
              </a:lnSpc>
            </a:pPr>
            <a:r>
              <a:rPr lang="en-US" sz="2622">
                <a:solidFill>
                  <a:srgbClr val="473821"/>
                </a:solidFill>
                <a:latin typeface="Times New Roman"/>
                <a:ea typeface="Times New Roman"/>
                <a:cs typeface="Times New Roman"/>
                <a:sym typeface="Times New Roman"/>
              </a:rPr>
              <a:t>Rule Engine (Máy suy diễn)</a:t>
            </a:r>
          </a:p>
          <a:p>
            <a:pPr algn="just" marL="566240" indent="-283120" lvl="1">
              <a:lnSpc>
                <a:spcPts val="3747"/>
              </a:lnSpc>
              <a:buFont typeface="Arial"/>
              <a:buChar char="•"/>
            </a:pPr>
            <a:r>
              <a:rPr lang="en-US" sz="2622">
                <a:solidFill>
                  <a:srgbClr val="473821"/>
                </a:solidFill>
                <a:latin typeface="Times New Roman"/>
                <a:ea typeface="Times New Roman"/>
                <a:cs typeface="Times New Roman"/>
                <a:sym typeface="Times New Roman"/>
              </a:rPr>
              <a:t>Nhận f</a:t>
            </a:r>
            <a:r>
              <a:rPr lang="en-US" sz="2622">
                <a:solidFill>
                  <a:srgbClr val="473821"/>
                </a:solidFill>
                <a:latin typeface="Times New Roman"/>
                <a:ea typeface="Times New Roman"/>
                <a:cs typeface="Times New Roman"/>
                <a:sym typeface="Times New Roman"/>
              </a:rPr>
              <a:t>acts (thu nhập, nợ, lịch sử tín dụng…) làm working memory</a:t>
            </a:r>
          </a:p>
          <a:p>
            <a:pPr algn="just" marL="566240" indent="-283120" lvl="1">
              <a:lnSpc>
                <a:spcPts val="3747"/>
              </a:lnSpc>
              <a:buFont typeface="Arial"/>
              <a:buChar char="•"/>
            </a:pPr>
            <a:r>
              <a:rPr lang="en-US" sz="2622">
                <a:solidFill>
                  <a:srgbClr val="473821"/>
                </a:solidFill>
                <a:latin typeface="Times New Roman"/>
                <a:ea typeface="Times New Roman"/>
                <a:cs typeface="Times New Roman"/>
                <a:sym typeface="Times New Roman"/>
              </a:rPr>
              <a:t>Chứa tập luật IF–THEN biểu diễn tri thức chuyên gia</a:t>
            </a:r>
          </a:p>
          <a:p>
            <a:pPr algn="just" marL="566240" indent="-283120" lvl="1">
              <a:lnSpc>
                <a:spcPts val="3747"/>
              </a:lnSpc>
              <a:buFont typeface="Arial"/>
              <a:buChar char="•"/>
            </a:pPr>
            <a:r>
              <a:rPr lang="en-US" sz="2622">
                <a:solidFill>
                  <a:srgbClr val="473821"/>
                </a:solidFill>
                <a:latin typeface="Times New Roman"/>
                <a:ea typeface="Times New Roman"/>
                <a:cs typeface="Times New Roman"/>
                <a:sym typeface="Times New Roman"/>
              </a:rPr>
              <a:t>Áp</a:t>
            </a:r>
            <a:r>
              <a:rPr lang="en-US" sz="2622">
                <a:solidFill>
                  <a:srgbClr val="473821"/>
                </a:solidFill>
                <a:latin typeface="Times New Roman"/>
                <a:ea typeface="Times New Roman"/>
                <a:cs typeface="Times New Roman"/>
                <a:sym typeface="Times New Roman"/>
              </a:rPr>
              <a:t> dụng luật để sinh ra kết luận logic và lưu vết các luật đã kích hoạt (fired rules)</a:t>
            </a:r>
          </a:p>
          <a:p>
            <a:pPr algn="just">
              <a:lnSpc>
                <a:spcPts val="3748"/>
              </a:lnSpc>
            </a:pPr>
          </a:p>
        </p:txBody>
      </p:sp>
      <p:sp>
        <p:nvSpPr>
          <p:cNvPr name="TextBox 12" id="12"/>
          <p:cNvSpPr txBox="true"/>
          <p:nvPr/>
        </p:nvSpPr>
        <p:spPr>
          <a:xfrm rot="0">
            <a:off x="2274492" y="5832648"/>
            <a:ext cx="6511120" cy="3330402"/>
          </a:xfrm>
          <a:prstGeom prst="rect">
            <a:avLst/>
          </a:prstGeom>
        </p:spPr>
        <p:txBody>
          <a:bodyPr anchor="t" rtlCol="false" tIns="0" lIns="0" bIns="0" rIns="0">
            <a:spAutoFit/>
          </a:bodyPr>
          <a:lstStyle/>
          <a:p>
            <a:pPr algn="just">
              <a:lnSpc>
                <a:spcPts val="3748"/>
              </a:lnSpc>
            </a:pPr>
            <a:r>
              <a:rPr lang="en-US" sz="2622">
                <a:solidFill>
                  <a:srgbClr val="473821"/>
                </a:solidFill>
                <a:latin typeface="Times New Roman"/>
                <a:ea typeface="Times New Roman"/>
                <a:cs typeface="Times New Roman"/>
                <a:sym typeface="Times New Roman"/>
              </a:rPr>
              <a:t> ⟶ Rule Engine là máy suy diễn của hệ luật. </a:t>
            </a:r>
            <a:r>
              <a:rPr lang="en-US" sz="2622">
                <a:solidFill>
                  <a:srgbClr val="473821"/>
                </a:solidFill>
                <a:latin typeface="Times New Roman"/>
                <a:ea typeface="Times New Roman"/>
                <a:cs typeface="Times New Roman"/>
                <a:sym typeface="Times New Roman"/>
              </a:rPr>
              <a:t>Nó nhận f</a:t>
            </a:r>
            <a:r>
              <a:rPr lang="en-US" sz="2622">
                <a:solidFill>
                  <a:srgbClr val="473821"/>
                </a:solidFill>
                <a:latin typeface="Times New Roman"/>
                <a:ea typeface="Times New Roman"/>
                <a:cs typeface="Times New Roman"/>
                <a:sym typeface="Times New Roman"/>
              </a:rPr>
              <a:t>acts của khách hàng làm working memory và áp dụng các luật IF–THEN theo thuật giải suy diễn tiến. Quá trình này lặp lại cho đến khi không còn luật nào kích hoạt nữa, từ đó sinh ra các kết luận logic và cho phép truy vết lại các luật đã được áp dụng</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4579965" y="260318"/>
            <a:ext cx="3388214" cy="3320453"/>
          </a:xfrm>
          <a:custGeom>
            <a:avLst/>
            <a:gdLst/>
            <a:ahLst/>
            <a:cxnLst/>
            <a:rect r="r" b="b" t="t" l="l"/>
            <a:pathLst>
              <a:path h="3320453" w="3388214">
                <a:moveTo>
                  <a:pt x="3388214" y="3320453"/>
                </a:moveTo>
                <a:lnTo>
                  <a:pt x="0" y="3320453"/>
                </a:lnTo>
                <a:lnTo>
                  <a:pt x="0" y="0"/>
                </a:lnTo>
                <a:lnTo>
                  <a:pt x="3388214" y="0"/>
                </a:lnTo>
                <a:lnTo>
                  <a:pt x="3388214" y="3320453"/>
                </a:lnTo>
                <a:close/>
              </a:path>
            </a:pathLst>
          </a:custGeom>
          <a:blipFill>
            <a:blip r:embed="rId2">
              <a:extLst>
                <a:ext uri="{96DAC541-7B7A-43D3-8B79-37D633B846F1}">
                  <asvg:svgBlip xmlns:asvg="http://schemas.microsoft.com/office/drawing/2016/SVG/main" r:embed="rId3"/>
                </a:ext>
              </a:extLst>
            </a:blip>
            <a:stretch>
              <a:fillRect l="0" t="-160" r="0" b="-160"/>
            </a:stretch>
          </a:blipFill>
        </p:spPr>
      </p:sp>
      <p:sp>
        <p:nvSpPr>
          <p:cNvPr name="Freeform 3" id="3"/>
          <p:cNvSpPr/>
          <p:nvPr/>
        </p:nvSpPr>
        <p:spPr>
          <a:xfrm flipH="false" flipV="false" rot="0">
            <a:off x="1028700" y="1348102"/>
            <a:ext cx="4190109" cy="8938898"/>
          </a:xfrm>
          <a:custGeom>
            <a:avLst/>
            <a:gdLst/>
            <a:ahLst/>
            <a:cxnLst/>
            <a:rect r="r" b="b" t="t" l="l"/>
            <a:pathLst>
              <a:path h="8938898" w="4190109">
                <a:moveTo>
                  <a:pt x="0" y="0"/>
                </a:moveTo>
                <a:lnTo>
                  <a:pt x="4190109" y="0"/>
                </a:lnTo>
                <a:lnTo>
                  <a:pt x="4190109" y="8938898"/>
                </a:lnTo>
                <a:lnTo>
                  <a:pt x="0" y="8938898"/>
                </a:lnTo>
                <a:lnTo>
                  <a:pt x="0" y="0"/>
                </a:lnTo>
                <a:close/>
              </a:path>
            </a:pathLst>
          </a:custGeom>
          <a:blipFill>
            <a:blip r:embed="rId4"/>
            <a:stretch>
              <a:fillRect l="0" t="0" r="0" b="0"/>
            </a:stretch>
          </a:blipFill>
        </p:spPr>
      </p:sp>
      <p:sp>
        <p:nvSpPr>
          <p:cNvPr name="TextBox 4" id="4"/>
          <p:cNvSpPr txBox="true"/>
          <p:nvPr/>
        </p:nvSpPr>
        <p:spPr>
          <a:xfrm rot="0">
            <a:off x="7756964" y="2531561"/>
            <a:ext cx="9386054" cy="5870529"/>
          </a:xfrm>
          <a:prstGeom prst="rect">
            <a:avLst/>
          </a:prstGeom>
        </p:spPr>
        <p:txBody>
          <a:bodyPr anchor="t" rtlCol="false" tIns="0" lIns="0" bIns="0" rIns="0">
            <a:spAutoFit/>
          </a:bodyPr>
          <a:lstStyle/>
          <a:p>
            <a:pPr algn="l" marL="672845" indent="-336423" lvl="1">
              <a:lnSpc>
                <a:spcPts val="5890"/>
              </a:lnSpc>
              <a:buFont typeface="Arial"/>
              <a:buChar char="•"/>
            </a:pPr>
            <a:r>
              <a:rPr lang="en-US" sz="3116">
                <a:solidFill>
                  <a:srgbClr val="000000"/>
                </a:solidFill>
                <a:latin typeface="Montserrat"/>
                <a:ea typeface="Montserrat"/>
                <a:cs typeface="Montserrat"/>
                <a:sym typeface="Montserrat"/>
              </a:rPr>
              <a:t>Nhận facts ban đầu từ dữ liệu người dùng</a:t>
            </a:r>
          </a:p>
          <a:p>
            <a:pPr algn="l" marL="672845" indent="-336423" lvl="1">
              <a:lnSpc>
                <a:spcPts val="5890"/>
              </a:lnSpc>
              <a:buFont typeface="Arial"/>
              <a:buChar char="•"/>
            </a:pPr>
            <a:r>
              <a:rPr lang="en-US" sz="3116">
                <a:solidFill>
                  <a:srgbClr val="000000"/>
                </a:solidFill>
                <a:latin typeface="Montserrat"/>
                <a:ea typeface="Montserrat"/>
                <a:cs typeface="Montserrat"/>
                <a:sym typeface="Montserrat"/>
              </a:rPr>
              <a:t>Tiền xử lý và tính các chỉ số cần thiết</a:t>
            </a:r>
          </a:p>
          <a:p>
            <a:pPr algn="l" marL="672845" indent="-336423" lvl="1">
              <a:lnSpc>
                <a:spcPts val="5890"/>
              </a:lnSpc>
              <a:buFont typeface="Arial"/>
              <a:buChar char="•"/>
            </a:pPr>
            <a:r>
              <a:rPr lang="en-US" sz="3116">
                <a:solidFill>
                  <a:srgbClr val="000000"/>
                </a:solidFill>
                <a:latin typeface="Montserrat"/>
                <a:ea typeface="Montserrat"/>
                <a:cs typeface="Montserrat"/>
                <a:sym typeface="Montserrat"/>
              </a:rPr>
              <a:t>Khởi tạo bộ nhớ làm việc (working memory)</a:t>
            </a:r>
          </a:p>
          <a:p>
            <a:pPr algn="l" marL="672845" indent="-336423" lvl="1">
              <a:lnSpc>
                <a:spcPts val="5890"/>
              </a:lnSpc>
              <a:buFont typeface="Arial"/>
              <a:buChar char="•"/>
            </a:pPr>
            <a:r>
              <a:rPr lang="en-US" sz="3116">
                <a:solidFill>
                  <a:srgbClr val="000000"/>
                </a:solidFill>
                <a:latin typeface="Montserrat"/>
                <a:ea typeface="Montserrat"/>
                <a:cs typeface="Montserrat"/>
                <a:sym typeface="Montserrat"/>
              </a:rPr>
              <a:t>So khớp điều kiện các luật với facts hiện tại</a:t>
            </a:r>
          </a:p>
          <a:p>
            <a:pPr algn="l" marL="672845" indent="-336423" lvl="1">
              <a:lnSpc>
                <a:spcPts val="5890"/>
              </a:lnSpc>
              <a:buFont typeface="Arial"/>
              <a:buChar char="•"/>
            </a:pPr>
            <a:r>
              <a:rPr lang="en-US" sz="3116">
                <a:solidFill>
                  <a:srgbClr val="000000"/>
                </a:solidFill>
                <a:latin typeface="Montserrat"/>
                <a:ea typeface="Montserrat"/>
                <a:cs typeface="Montserrat"/>
                <a:sym typeface="Montserrat"/>
              </a:rPr>
              <a:t>Kích hoạt luật khi điều kiện thỏa mãn</a:t>
            </a:r>
          </a:p>
          <a:p>
            <a:pPr algn="l" marL="672845" indent="-336423" lvl="1">
              <a:lnSpc>
                <a:spcPts val="5890"/>
              </a:lnSpc>
              <a:buFont typeface="Arial"/>
              <a:buChar char="•"/>
            </a:pPr>
            <a:r>
              <a:rPr lang="en-US" sz="3116">
                <a:solidFill>
                  <a:srgbClr val="000000"/>
                </a:solidFill>
                <a:latin typeface="Montserrat"/>
                <a:ea typeface="Montserrat"/>
                <a:cs typeface="Montserrat"/>
                <a:sym typeface="Montserrat"/>
              </a:rPr>
              <a:t>Sinh fact mới và cập nhật bộ nhớ làm việc</a:t>
            </a:r>
          </a:p>
          <a:p>
            <a:pPr algn="l" marL="672845" indent="-336423" lvl="1">
              <a:lnSpc>
                <a:spcPts val="5890"/>
              </a:lnSpc>
              <a:buFont typeface="Arial"/>
              <a:buChar char="•"/>
            </a:pPr>
            <a:r>
              <a:rPr lang="en-US" sz="3116">
                <a:solidFill>
                  <a:srgbClr val="000000"/>
                </a:solidFill>
                <a:latin typeface="Montserrat"/>
                <a:ea typeface="Montserrat"/>
                <a:cs typeface="Montserrat"/>
                <a:sym typeface="Montserrat"/>
              </a:rPr>
              <a:t>Lặp lại cho đến khi không còn fact mới</a:t>
            </a:r>
          </a:p>
          <a:p>
            <a:pPr algn="l" marL="672845" indent="-336423" lvl="1">
              <a:lnSpc>
                <a:spcPts val="5890"/>
              </a:lnSpc>
              <a:buFont typeface="Arial"/>
              <a:buChar char="•"/>
            </a:pPr>
            <a:r>
              <a:rPr lang="en-US" sz="3116">
                <a:solidFill>
                  <a:srgbClr val="000000"/>
                </a:solidFill>
                <a:latin typeface="Montserrat"/>
                <a:ea typeface="Montserrat"/>
                <a:cs typeface="Montserrat"/>
                <a:sym typeface="Montserrat"/>
              </a:rPr>
              <a:t>Xuất ra kết luận cuối cùng</a:t>
            </a:r>
          </a:p>
        </p:txBody>
      </p:sp>
      <p:grpSp>
        <p:nvGrpSpPr>
          <p:cNvPr name="Group 5" id="5"/>
          <p:cNvGrpSpPr/>
          <p:nvPr/>
        </p:nvGrpSpPr>
        <p:grpSpPr>
          <a:xfrm rot="-10800000">
            <a:off x="4494989" y="4296091"/>
            <a:ext cx="3086100" cy="2541494"/>
            <a:chOff x="0" y="0"/>
            <a:chExt cx="647700" cy="533400"/>
          </a:xfrm>
        </p:grpSpPr>
        <p:sp>
          <p:nvSpPr>
            <p:cNvPr name="Freeform 6" id="6"/>
            <p:cNvSpPr/>
            <p:nvPr/>
          </p:nvSpPr>
          <p:spPr>
            <a:xfrm flipH="false" flipV="false" rot="0">
              <a:off x="0" y="0"/>
              <a:ext cx="647700" cy="533400"/>
            </a:xfrm>
            <a:custGeom>
              <a:avLst/>
              <a:gdLst/>
              <a:ahLst/>
              <a:cxnLst/>
              <a:rect r="r" b="b" t="t" l="l"/>
              <a:pathLst>
                <a:path h="533400" w="647700">
                  <a:moveTo>
                    <a:pt x="239386" y="166418"/>
                  </a:moveTo>
                  <a:lnTo>
                    <a:pt x="647700" y="166418"/>
                  </a:lnTo>
                  <a:lnTo>
                    <a:pt x="647700" y="366942"/>
                  </a:lnTo>
                  <a:lnTo>
                    <a:pt x="239373" y="366942"/>
                  </a:lnTo>
                  <a:lnTo>
                    <a:pt x="302255" y="533400"/>
                  </a:lnTo>
                  <a:lnTo>
                    <a:pt x="0" y="266700"/>
                  </a:lnTo>
                  <a:lnTo>
                    <a:pt x="302255" y="0"/>
                  </a:lnTo>
                  <a:lnTo>
                    <a:pt x="239386" y="166418"/>
                  </a:lnTo>
                  <a:close/>
                </a:path>
              </a:pathLst>
            </a:custGeom>
            <a:solidFill>
              <a:srgbClr val="2A2F4F"/>
            </a:solidFill>
          </p:spPr>
        </p:sp>
        <p:sp>
          <p:nvSpPr>
            <p:cNvPr name="TextBox 7" id="7"/>
            <p:cNvSpPr txBox="true"/>
            <p:nvPr/>
          </p:nvSpPr>
          <p:spPr>
            <a:xfrm>
              <a:off x="120650" y="127000"/>
              <a:ext cx="527050" cy="241300"/>
            </a:xfrm>
            <a:prstGeom prst="rect">
              <a:avLst/>
            </a:prstGeom>
          </p:spPr>
          <p:txBody>
            <a:bodyPr anchor="ctr" rtlCol="false" tIns="50800" lIns="50800" bIns="50800" rIns="50800"/>
            <a:lstStyle/>
            <a:p>
              <a:pPr algn="ctr">
                <a:lnSpc>
                  <a:spcPts val="2660"/>
                </a:lnSpc>
              </a:pPr>
            </a:p>
          </p:txBody>
        </p:sp>
      </p:grpSp>
      <p:sp>
        <p:nvSpPr>
          <p:cNvPr name="TextBox 8" id="8"/>
          <p:cNvSpPr txBox="true"/>
          <p:nvPr/>
        </p:nvSpPr>
        <p:spPr>
          <a:xfrm rot="0">
            <a:off x="2692561" y="360756"/>
            <a:ext cx="13302316" cy="987346"/>
          </a:xfrm>
          <a:prstGeom prst="rect">
            <a:avLst/>
          </a:prstGeom>
        </p:spPr>
        <p:txBody>
          <a:bodyPr anchor="t" rtlCol="false" tIns="0" lIns="0" bIns="0" rIns="0">
            <a:spAutoFit/>
          </a:bodyPr>
          <a:lstStyle/>
          <a:p>
            <a:pPr algn="ctr">
              <a:lnSpc>
                <a:spcPts val="7877"/>
              </a:lnSpc>
            </a:pPr>
            <a:r>
              <a:rPr lang="en-US" sz="5512">
                <a:solidFill>
                  <a:srgbClr val="473821"/>
                </a:solidFill>
                <a:latin typeface="Times New Roman"/>
                <a:ea typeface="Times New Roman"/>
                <a:cs typeface="Times New Roman"/>
                <a:sym typeface="Times New Roman"/>
              </a:rPr>
              <a:t>Thuật giải suy diễn tiến (forward chaining)</a:t>
            </a:r>
          </a:p>
        </p:txBody>
      </p:sp>
      <p:sp>
        <p:nvSpPr>
          <p:cNvPr name="TextBox 9" id="9"/>
          <p:cNvSpPr txBox="true"/>
          <p:nvPr/>
        </p:nvSpPr>
        <p:spPr>
          <a:xfrm rot="0">
            <a:off x="17143019" y="9067800"/>
            <a:ext cx="759504" cy="804545"/>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25</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231709" y="260318"/>
            <a:ext cx="3388214" cy="3320453"/>
          </a:xfrm>
          <a:custGeom>
            <a:avLst/>
            <a:gdLst/>
            <a:ahLst/>
            <a:cxnLst/>
            <a:rect r="r" b="b" t="t" l="l"/>
            <a:pathLst>
              <a:path h="3320453" w="3388214">
                <a:moveTo>
                  <a:pt x="0" y="3320453"/>
                </a:moveTo>
                <a:lnTo>
                  <a:pt x="3388213" y="3320453"/>
                </a:lnTo>
                <a:lnTo>
                  <a:pt x="3388213" y="0"/>
                </a:lnTo>
                <a:lnTo>
                  <a:pt x="0" y="0"/>
                </a:lnTo>
                <a:lnTo>
                  <a:pt x="0" y="3320453"/>
                </a:lnTo>
                <a:close/>
              </a:path>
            </a:pathLst>
          </a:custGeom>
          <a:blipFill>
            <a:blip r:embed="rId2">
              <a:extLst>
                <a:ext uri="{96DAC541-7B7A-43D3-8B79-37D633B846F1}">
                  <asvg:svgBlip xmlns:asvg="http://schemas.microsoft.com/office/drawing/2016/SVG/main" r:embed="rId3"/>
                </a:ext>
              </a:extLst>
            </a:blip>
            <a:stretch>
              <a:fillRect l="0" t="-160" r="0" b="-160"/>
            </a:stretch>
          </a:blipFill>
        </p:spPr>
      </p:sp>
      <p:sp>
        <p:nvSpPr>
          <p:cNvPr name="Freeform 3" id="3"/>
          <p:cNvSpPr/>
          <p:nvPr/>
        </p:nvSpPr>
        <p:spPr>
          <a:xfrm flipH="true" flipV="true" rot="0">
            <a:off x="14579965" y="260318"/>
            <a:ext cx="3388214" cy="3320453"/>
          </a:xfrm>
          <a:custGeom>
            <a:avLst/>
            <a:gdLst/>
            <a:ahLst/>
            <a:cxnLst/>
            <a:rect r="r" b="b" t="t" l="l"/>
            <a:pathLst>
              <a:path h="3320453" w="3388214">
                <a:moveTo>
                  <a:pt x="3388214" y="3320453"/>
                </a:moveTo>
                <a:lnTo>
                  <a:pt x="0" y="3320453"/>
                </a:lnTo>
                <a:lnTo>
                  <a:pt x="0" y="0"/>
                </a:lnTo>
                <a:lnTo>
                  <a:pt x="3388214" y="0"/>
                </a:lnTo>
                <a:lnTo>
                  <a:pt x="3388214" y="3320453"/>
                </a:lnTo>
                <a:close/>
              </a:path>
            </a:pathLst>
          </a:custGeom>
          <a:blipFill>
            <a:blip r:embed="rId2">
              <a:extLst>
                <a:ext uri="{96DAC541-7B7A-43D3-8B79-37D633B846F1}">
                  <asvg:svgBlip xmlns:asvg="http://schemas.microsoft.com/office/drawing/2016/SVG/main" r:embed="rId3"/>
                </a:ext>
              </a:extLst>
            </a:blip>
            <a:stretch>
              <a:fillRect l="0" t="-160" r="0" b="-160"/>
            </a:stretch>
          </a:blipFill>
        </p:spPr>
      </p:sp>
      <p:sp>
        <p:nvSpPr>
          <p:cNvPr name="TextBox 4" id="4"/>
          <p:cNvSpPr txBox="true"/>
          <p:nvPr/>
        </p:nvSpPr>
        <p:spPr>
          <a:xfrm rot="0">
            <a:off x="3454072" y="220911"/>
            <a:ext cx="11125893" cy="807789"/>
          </a:xfrm>
          <a:prstGeom prst="rect">
            <a:avLst/>
          </a:prstGeom>
        </p:spPr>
        <p:txBody>
          <a:bodyPr anchor="t" rtlCol="false" tIns="0" lIns="0" bIns="0" rIns="0">
            <a:spAutoFit/>
          </a:bodyPr>
          <a:lstStyle/>
          <a:p>
            <a:pPr algn="ctr">
              <a:lnSpc>
                <a:spcPts val="6453"/>
              </a:lnSpc>
            </a:pPr>
            <a:r>
              <a:rPr lang="en-US" sz="4515">
                <a:solidFill>
                  <a:srgbClr val="473821"/>
                </a:solidFill>
                <a:latin typeface="Times New Roman"/>
                <a:ea typeface="Times New Roman"/>
                <a:cs typeface="Times New Roman"/>
                <a:sym typeface="Times New Roman"/>
              </a:rPr>
              <a:t>I</a:t>
            </a:r>
            <a:r>
              <a:rPr lang="en-US" sz="4515">
                <a:solidFill>
                  <a:srgbClr val="473821"/>
                </a:solidFill>
                <a:latin typeface="Times New Roman"/>
                <a:ea typeface="Times New Roman"/>
                <a:cs typeface="Times New Roman"/>
                <a:sym typeface="Times New Roman"/>
              </a:rPr>
              <a:t>V. HỆ LUẬT &amp; THUẬT GIẢI SUY LUẬN</a:t>
            </a:r>
          </a:p>
        </p:txBody>
      </p:sp>
      <p:sp>
        <p:nvSpPr>
          <p:cNvPr name="TextBox 5" id="5"/>
          <p:cNvSpPr txBox="true"/>
          <p:nvPr/>
        </p:nvSpPr>
        <p:spPr>
          <a:xfrm rot="0">
            <a:off x="4640827" y="1091600"/>
            <a:ext cx="9414986" cy="807789"/>
          </a:xfrm>
          <a:prstGeom prst="rect">
            <a:avLst/>
          </a:prstGeom>
        </p:spPr>
        <p:txBody>
          <a:bodyPr anchor="t" rtlCol="false" tIns="0" lIns="0" bIns="0" rIns="0">
            <a:spAutoFit/>
          </a:bodyPr>
          <a:lstStyle/>
          <a:p>
            <a:pPr algn="ctr">
              <a:lnSpc>
                <a:spcPts val="6453"/>
              </a:lnSpc>
            </a:pPr>
            <a:r>
              <a:rPr lang="en-US" sz="4515">
                <a:solidFill>
                  <a:srgbClr val="473821"/>
                </a:solidFill>
                <a:latin typeface="Times New Roman"/>
                <a:ea typeface="Times New Roman"/>
                <a:cs typeface="Times New Roman"/>
                <a:sym typeface="Times New Roman"/>
              </a:rPr>
              <a:t>5. Vai trò của Bayesian trong hệ thống</a:t>
            </a:r>
          </a:p>
        </p:txBody>
      </p:sp>
      <p:grpSp>
        <p:nvGrpSpPr>
          <p:cNvPr name="Group 6" id="6"/>
          <p:cNvGrpSpPr/>
          <p:nvPr/>
        </p:nvGrpSpPr>
        <p:grpSpPr>
          <a:xfrm rot="0">
            <a:off x="231709" y="2086115"/>
            <a:ext cx="10410625" cy="7071051"/>
            <a:chOff x="0" y="0"/>
            <a:chExt cx="13880834" cy="9428068"/>
          </a:xfrm>
        </p:grpSpPr>
        <p:grpSp>
          <p:nvGrpSpPr>
            <p:cNvPr name="Group 7" id="7"/>
            <p:cNvGrpSpPr/>
            <p:nvPr/>
          </p:nvGrpSpPr>
          <p:grpSpPr>
            <a:xfrm rot="0">
              <a:off x="0" y="5033"/>
              <a:ext cx="13880834" cy="9423035"/>
              <a:chOff x="0" y="0"/>
              <a:chExt cx="2741893" cy="1861340"/>
            </a:xfrm>
          </p:grpSpPr>
          <p:sp>
            <p:nvSpPr>
              <p:cNvPr name="Freeform 8" id="8"/>
              <p:cNvSpPr/>
              <p:nvPr/>
            </p:nvSpPr>
            <p:spPr>
              <a:xfrm flipH="false" flipV="false" rot="0">
                <a:off x="0" y="0"/>
                <a:ext cx="2741893" cy="1861340"/>
              </a:xfrm>
              <a:custGeom>
                <a:avLst/>
                <a:gdLst/>
                <a:ahLst/>
                <a:cxnLst/>
                <a:rect r="r" b="b" t="t" l="l"/>
                <a:pathLst>
                  <a:path h="1861340" w="2741893">
                    <a:moveTo>
                      <a:pt x="0" y="0"/>
                    </a:moveTo>
                    <a:lnTo>
                      <a:pt x="2741893" y="0"/>
                    </a:lnTo>
                    <a:lnTo>
                      <a:pt x="2741893" y="1861340"/>
                    </a:lnTo>
                    <a:lnTo>
                      <a:pt x="0" y="1861340"/>
                    </a:lnTo>
                    <a:close/>
                  </a:path>
                </a:pathLst>
              </a:custGeom>
              <a:solidFill>
                <a:srgbClr val="EFE9D6"/>
              </a:solidFill>
            </p:spPr>
          </p:sp>
          <p:sp>
            <p:nvSpPr>
              <p:cNvPr name="TextBox 9" id="9"/>
              <p:cNvSpPr txBox="true"/>
              <p:nvPr/>
            </p:nvSpPr>
            <p:spPr>
              <a:xfrm>
                <a:off x="0" y="-38100"/>
                <a:ext cx="2741893" cy="1899440"/>
              </a:xfrm>
              <a:prstGeom prst="rect">
                <a:avLst/>
              </a:prstGeom>
            </p:spPr>
            <p:txBody>
              <a:bodyPr anchor="ctr" rtlCol="false" tIns="50800" lIns="50800" bIns="50800" rIns="50800"/>
              <a:lstStyle/>
              <a:p>
                <a:pPr algn="ctr">
                  <a:lnSpc>
                    <a:spcPts val="2660"/>
                  </a:lnSpc>
                </a:pPr>
              </a:p>
            </p:txBody>
          </p:sp>
        </p:grpSp>
        <p:sp>
          <p:nvSpPr>
            <p:cNvPr name="TextBox 10" id="10"/>
            <p:cNvSpPr txBox="true"/>
            <p:nvPr/>
          </p:nvSpPr>
          <p:spPr>
            <a:xfrm rot="0">
              <a:off x="377304" y="-104775"/>
              <a:ext cx="12155482" cy="2600311"/>
            </a:xfrm>
            <a:prstGeom prst="rect">
              <a:avLst/>
            </a:prstGeom>
          </p:spPr>
          <p:txBody>
            <a:bodyPr anchor="t" rtlCol="false" tIns="0" lIns="0" bIns="0" rIns="0">
              <a:spAutoFit/>
            </a:bodyPr>
            <a:lstStyle/>
            <a:p>
              <a:pPr algn="just">
                <a:lnSpc>
                  <a:spcPts val="5191"/>
                </a:lnSpc>
              </a:pPr>
              <a:r>
                <a:rPr lang="en-US" sz="3633">
                  <a:solidFill>
                    <a:srgbClr val="473821"/>
                  </a:solidFill>
                  <a:latin typeface="Times New Roman"/>
                  <a:ea typeface="Times New Roman"/>
                  <a:cs typeface="Times New Roman"/>
                  <a:sym typeface="Times New Roman"/>
                </a:rPr>
                <a:t>- Dự đoán mức tín dụng của khách hàng dựa trên dữ liệu lịch sử</a:t>
              </a:r>
            </a:p>
            <a:p>
              <a:pPr algn="just">
                <a:lnSpc>
                  <a:spcPts val="5192"/>
                </a:lnSpc>
              </a:pPr>
              <a:r>
                <a:rPr lang="en-US" sz="3633">
                  <a:solidFill>
                    <a:srgbClr val="473821"/>
                  </a:solidFill>
                  <a:latin typeface="Times New Roman"/>
                  <a:ea typeface="Times New Roman"/>
                  <a:cs typeface="Times New Roman"/>
                  <a:sym typeface="Times New Roman"/>
                </a:rPr>
                <a:t>- Bổ sung góc nhìn thống kê/xác suất cho hệ luật</a:t>
              </a:r>
            </a:p>
          </p:txBody>
        </p:sp>
        <p:sp>
          <p:nvSpPr>
            <p:cNvPr name="TextBox 11" id="11"/>
            <p:cNvSpPr txBox="true"/>
            <p:nvPr/>
          </p:nvSpPr>
          <p:spPr>
            <a:xfrm rot="0">
              <a:off x="377304" y="3003370"/>
              <a:ext cx="11778178" cy="6115611"/>
            </a:xfrm>
            <a:prstGeom prst="rect">
              <a:avLst/>
            </a:prstGeom>
          </p:spPr>
          <p:txBody>
            <a:bodyPr anchor="t" rtlCol="false" tIns="0" lIns="0" bIns="0" rIns="0">
              <a:spAutoFit/>
            </a:bodyPr>
            <a:lstStyle/>
            <a:p>
              <a:pPr algn="just">
                <a:lnSpc>
                  <a:spcPts val="5191"/>
                </a:lnSpc>
              </a:pPr>
              <a:r>
                <a:rPr lang="en-US" sz="3633">
                  <a:solidFill>
                    <a:srgbClr val="473821"/>
                  </a:solidFill>
                  <a:latin typeface="Times New Roman"/>
                  <a:ea typeface="Times New Roman"/>
                  <a:cs typeface="Times New Roman"/>
                  <a:sym typeface="Times New Roman"/>
                </a:rPr>
                <a:t>Dữ liệu huấn luyện:</a:t>
              </a:r>
            </a:p>
            <a:p>
              <a:pPr algn="just">
                <a:lnSpc>
                  <a:spcPts val="5191"/>
                </a:lnSpc>
              </a:pPr>
              <a:r>
                <a:rPr lang="en-US" sz="3633">
                  <a:solidFill>
                    <a:srgbClr val="473821"/>
                  </a:solidFill>
                  <a:latin typeface="Times New Roman"/>
                  <a:ea typeface="Times New Roman"/>
                  <a:cs typeface="Times New Roman"/>
                  <a:sym typeface="Times New Roman"/>
                </a:rPr>
                <a:t>- File Dataset/simulated_data.csv</a:t>
              </a:r>
            </a:p>
            <a:p>
              <a:pPr algn="just">
                <a:lnSpc>
                  <a:spcPts val="5191"/>
                </a:lnSpc>
              </a:pPr>
              <a:r>
                <a:rPr lang="en-US" sz="3633">
                  <a:solidFill>
                    <a:srgbClr val="473821"/>
                  </a:solidFill>
                  <a:latin typeface="Times New Roman"/>
                  <a:ea typeface="Times New Roman"/>
                  <a:cs typeface="Times New Roman"/>
                  <a:sym typeface="Times New Roman"/>
                </a:rPr>
                <a:t>- Mỗi dòng tương ứng 1 khách hàng, gồm:</a:t>
              </a:r>
            </a:p>
            <a:p>
              <a:pPr algn="just">
                <a:lnSpc>
                  <a:spcPts val="5191"/>
                </a:lnSpc>
              </a:pPr>
              <a:r>
                <a:rPr lang="en-US" sz="3633">
                  <a:solidFill>
                    <a:srgbClr val="473821"/>
                  </a:solidFill>
                  <a:latin typeface="Times New Roman"/>
                  <a:ea typeface="Times New Roman"/>
                  <a:cs typeface="Times New Roman"/>
                  <a:sym typeface="Times New Roman"/>
                </a:rPr>
                <a:t>  - Thu nhập, chi tiêu, nợ, lịch sử tín dụng, số lần trả chậm, …</a:t>
              </a:r>
            </a:p>
            <a:p>
              <a:pPr algn="just">
                <a:lnSpc>
                  <a:spcPts val="5192"/>
                </a:lnSpc>
              </a:pPr>
              <a:r>
                <a:rPr lang="en-US" sz="3633">
                  <a:solidFill>
                    <a:srgbClr val="473821"/>
                  </a:solidFill>
                  <a:latin typeface="Times New Roman"/>
                  <a:ea typeface="Times New Roman"/>
                  <a:cs typeface="Times New Roman"/>
                  <a:sym typeface="Times New Roman"/>
                </a:rPr>
                <a:t>  - Nhãn lớp tín dụng mục tiêu (good/fair/bad) và  điểm số tín dụng(credit_score)</a:t>
              </a:r>
            </a:p>
          </p:txBody>
        </p:sp>
      </p:grpSp>
      <p:grpSp>
        <p:nvGrpSpPr>
          <p:cNvPr name="Group 12" id="12"/>
          <p:cNvGrpSpPr/>
          <p:nvPr/>
        </p:nvGrpSpPr>
        <p:grpSpPr>
          <a:xfrm rot="0">
            <a:off x="11163444" y="2585001"/>
            <a:ext cx="5960950" cy="6340349"/>
            <a:chOff x="0" y="0"/>
            <a:chExt cx="7947934" cy="8453799"/>
          </a:xfrm>
        </p:grpSpPr>
        <p:grpSp>
          <p:nvGrpSpPr>
            <p:cNvPr name="Group 13" id="13"/>
            <p:cNvGrpSpPr/>
            <p:nvPr/>
          </p:nvGrpSpPr>
          <p:grpSpPr>
            <a:xfrm rot="0">
              <a:off x="0" y="0"/>
              <a:ext cx="7947934" cy="8453799"/>
              <a:chOff x="0" y="0"/>
              <a:chExt cx="1569962" cy="1669886"/>
            </a:xfrm>
          </p:grpSpPr>
          <p:sp>
            <p:nvSpPr>
              <p:cNvPr name="Freeform 14" id="14"/>
              <p:cNvSpPr/>
              <p:nvPr/>
            </p:nvSpPr>
            <p:spPr>
              <a:xfrm flipH="false" flipV="false" rot="0">
                <a:off x="0" y="0"/>
                <a:ext cx="1569962" cy="1669886"/>
              </a:xfrm>
              <a:custGeom>
                <a:avLst/>
                <a:gdLst/>
                <a:ahLst/>
                <a:cxnLst/>
                <a:rect r="r" b="b" t="t" l="l"/>
                <a:pathLst>
                  <a:path h="1669886" w="1569962">
                    <a:moveTo>
                      <a:pt x="0" y="0"/>
                    </a:moveTo>
                    <a:lnTo>
                      <a:pt x="1569962" y="0"/>
                    </a:lnTo>
                    <a:lnTo>
                      <a:pt x="1569962" y="1669886"/>
                    </a:lnTo>
                    <a:lnTo>
                      <a:pt x="0" y="1669886"/>
                    </a:lnTo>
                    <a:close/>
                  </a:path>
                </a:pathLst>
              </a:custGeom>
              <a:solidFill>
                <a:srgbClr val="FFDE59"/>
              </a:solidFill>
            </p:spPr>
          </p:sp>
          <p:sp>
            <p:nvSpPr>
              <p:cNvPr name="TextBox 15" id="15"/>
              <p:cNvSpPr txBox="true"/>
              <p:nvPr/>
            </p:nvSpPr>
            <p:spPr>
              <a:xfrm>
                <a:off x="0" y="-38100"/>
                <a:ext cx="1569962" cy="1707986"/>
              </a:xfrm>
              <a:prstGeom prst="rect">
                <a:avLst/>
              </a:prstGeom>
            </p:spPr>
            <p:txBody>
              <a:bodyPr anchor="ctr" rtlCol="false" tIns="50800" lIns="50800" bIns="50800" rIns="50800"/>
              <a:lstStyle/>
              <a:p>
                <a:pPr algn="ctr">
                  <a:lnSpc>
                    <a:spcPts val="2660"/>
                  </a:lnSpc>
                </a:pPr>
              </a:p>
            </p:txBody>
          </p:sp>
        </p:grpSp>
        <p:sp>
          <p:nvSpPr>
            <p:cNvPr name="TextBox 16" id="16"/>
            <p:cNvSpPr txBox="true"/>
            <p:nvPr/>
          </p:nvSpPr>
          <p:spPr>
            <a:xfrm rot="0">
              <a:off x="281666" y="125782"/>
              <a:ext cx="7666267" cy="7873261"/>
            </a:xfrm>
            <a:prstGeom prst="rect">
              <a:avLst/>
            </a:prstGeom>
          </p:spPr>
          <p:txBody>
            <a:bodyPr anchor="t" rtlCol="false" tIns="0" lIns="0" bIns="0" rIns="0">
              <a:spAutoFit/>
            </a:bodyPr>
            <a:lstStyle/>
            <a:p>
              <a:pPr algn="just">
                <a:lnSpc>
                  <a:spcPts val="5191"/>
                </a:lnSpc>
              </a:pPr>
              <a:r>
                <a:rPr lang="en-US" sz="3633">
                  <a:solidFill>
                    <a:srgbClr val="473821"/>
                  </a:solidFill>
                  <a:latin typeface="Times New Roman"/>
                  <a:ea typeface="Times New Roman"/>
                  <a:cs typeface="Times New Roman"/>
                  <a:sym typeface="Times New Roman"/>
                </a:rPr>
                <a:t>- income_monthly</a:t>
              </a:r>
            </a:p>
            <a:p>
              <a:pPr algn="just">
                <a:lnSpc>
                  <a:spcPts val="5191"/>
                </a:lnSpc>
              </a:pPr>
              <a:r>
                <a:rPr lang="en-US" sz="3633">
                  <a:solidFill>
                    <a:srgbClr val="473821"/>
                  </a:solidFill>
                  <a:latin typeface="Times New Roman"/>
                  <a:ea typeface="Times New Roman"/>
                  <a:cs typeface="Times New Roman"/>
                  <a:sym typeface="Times New Roman"/>
                </a:rPr>
                <a:t>- expense_monthly</a:t>
              </a:r>
            </a:p>
            <a:p>
              <a:pPr algn="just">
                <a:lnSpc>
                  <a:spcPts val="5191"/>
                </a:lnSpc>
              </a:pPr>
              <a:r>
                <a:rPr lang="en-US" sz="3633">
                  <a:solidFill>
                    <a:srgbClr val="473821"/>
                  </a:solidFill>
                  <a:latin typeface="Times New Roman"/>
                  <a:ea typeface="Times New Roman"/>
                  <a:cs typeface="Times New Roman"/>
                  <a:sym typeface="Times New Roman"/>
                </a:rPr>
                <a:t>- debt_amount</a:t>
              </a:r>
            </a:p>
            <a:p>
              <a:pPr algn="just">
                <a:lnSpc>
                  <a:spcPts val="5191"/>
                </a:lnSpc>
              </a:pPr>
              <a:r>
                <a:rPr lang="en-US" sz="3633">
                  <a:solidFill>
                    <a:srgbClr val="473821"/>
                  </a:solidFill>
                  <a:latin typeface="Times New Roman"/>
                  <a:ea typeface="Times New Roman"/>
                  <a:cs typeface="Times New Roman"/>
                  <a:sym typeface="Times New Roman"/>
                </a:rPr>
                <a:t>- late_payments_12m</a:t>
              </a:r>
            </a:p>
            <a:p>
              <a:pPr algn="just">
                <a:lnSpc>
                  <a:spcPts val="5191"/>
                </a:lnSpc>
              </a:pPr>
              <a:r>
                <a:rPr lang="en-US" sz="3633">
                  <a:solidFill>
                    <a:srgbClr val="473821"/>
                  </a:solidFill>
                  <a:latin typeface="Times New Roman"/>
                  <a:ea typeface="Times New Roman"/>
                  <a:cs typeface="Times New Roman"/>
                  <a:sym typeface="Times New Roman"/>
                </a:rPr>
                <a:t>- credit_history_length_years</a:t>
              </a:r>
            </a:p>
            <a:p>
              <a:pPr algn="just">
                <a:lnSpc>
                  <a:spcPts val="5191"/>
                </a:lnSpc>
              </a:pPr>
              <a:r>
                <a:rPr lang="en-US" sz="3633">
                  <a:solidFill>
                    <a:srgbClr val="473821"/>
                  </a:solidFill>
                  <a:latin typeface="Times New Roman"/>
                  <a:ea typeface="Times New Roman"/>
                  <a:cs typeface="Times New Roman"/>
                  <a:sym typeface="Times New Roman"/>
                </a:rPr>
                <a:t>- new_credit_accounts</a:t>
              </a:r>
            </a:p>
            <a:p>
              <a:pPr algn="just">
                <a:lnSpc>
                  <a:spcPts val="5191"/>
                </a:lnSpc>
              </a:pPr>
              <a:r>
                <a:rPr lang="en-US" sz="3633">
                  <a:solidFill>
                    <a:srgbClr val="473821"/>
                  </a:solidFill>
                  <a:latin typeface="Times New Roman"/>
                  <a:ea typeface="Times New Roman"/>
                  <a:cs typeface="Times New Roman"/>
                  <a:sym typeface="Times New Roman"/>
                </a:rPr>
                <a:t>- credit_mix</a:t>
              </a:r>
            </a:p>
            <a:p>
              <a:pPr algn="just">
                <a:lnSpc>
                  <a:spcPts val="5191"/>
                </a:lnSpc>
              </a:pPr>
              <a:r>
                <a:rPr lang="en-US" sz="3633">
                  <a:solidFill>
                    <a:srgbClr val="473821"/>
                  </a:solidFill>
                  <a:latin typeface="Times New Roman"/>
                  <a:ea typeface="Times New Roman"/>
                  <a:cs typeface="Times New Roman"/>
                  <a:sym typeface="Times New Roman"/>
                </a:rPr>
                <a:t>- income_expense_ratio</a:t>
              </a:r>
            </a:p>
            <a:p>
              <a:pPr algn="just">
                <a:lnSpc>
                  <a:spcPts val="5192"/>
                </a:lnSpc>
              </a:pPr>
              <a:r>
                <a:rPr lang="en-US" sz="3633">
                  <a:solidFill>
                    <a:srgbClr val="473821"/>
                  </a:solidFill>
                  <a:latin typeface="Times New Roman"/>
                  <a:ea typeface="Times New Roman"/>
                  <a:cs typeface="Times New Roman"/>
                  <a:sym typeface="Times New Roman"/>
                </a:rPr>
                <a:t>- debt_ratio</a:t>
              </a:r>
            </a:p>
          </p:txBody>
        </p:sp>
      </p:grpSp>
      <p:sp>
        <p:nvSpPr>
          <p:cNvPr name="TextBox 17" id="17"/>
          <p:cNvSpPr txBox="true"/>
          <p:nvPr/>
        </p:nvSpPr>
        <p:spPr>
          <a:xfrm rot="0">
            <a:off x="17143019" y="9067800"/>
            <a:ext cx="759504" cy="804545"/>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26</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4579965" y="260318"/>
            <a:ext cx="3388214" cy="3320453"/>
          </a:xfrm>
          <a:custGeom>
            <a:avLst/>
            <a:gdLst/>
            <a:ahLst/>
            <a:cxnLst/>
            <a:rect r="r" b="b" t="t" l="l"/>
            <a:pathLst>
              <a:path h="3320453" w="3388214">
                <a:moveTo>
                  <a:pt x="3388214" y="3320453"/>
                </a:moveTo>
                <a:lnTo>
                  <a:pt x="0" y="3320453"/>
                </a:lnTo>
                <a:lnTo>
                  <a:pt x="0" y="0"/>
                </a:lnTo>
                <a:lnTo>
                  <a:pt x="3388214" y="0"/>
                </a:lnTo>
                <a:lnTo>
                  <a:pt x="3388214" y="3320453"/>
                </a:lnTo>
                <a:close/>
              </a:path>
            </a:pathLst>
          </a:custGeom>
          <a:blipFill>
            <a:blip r:embed="rId2">
              <a:extLst>
                <a:ext uri="{96DAC541-7B7A-43D3-8B79-37D633B846F1}">
                  <asvg:svgBlip xmlns:asvg="http://schemas.microsoft.com/office/drawing/2016/SVG/main" r:embed="rId3"/>
                </a:ext>
              </a:extLst>
            </a:blip>
            <a:stretch>
              <a:fillRect l="0" t="-160" r="0" b="-160"/>
            </a:stretch>
          </a:blipFill>
        </p:spPr>
      </p:sp>
      <p:sp>
        <p:nvSpPr>
          <p:cNvPr name="TextBox 3" id="3"/>
          <p:cNvSpPr txBox="true"/>
          <p:nvPr/>
        </p:nvSpPr>
        <p:spPr>
          <a:xfrm rot="0">
            <a:off x="17143019" y="9067800"/>
            <a:ext cx="759504" cy="804545"/>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27</a:t>
            </a:r>
          </a:p>
        </p:txBody>
      </p:sp>
      <p:sp>
        <p:nvSpPr>
          <p:cNvPr name="TextBox 4" id="4"/>
          <p:cNvSpPr txBox="true"/>
          <p:nvPr/>
        </p:nvSpPr>
        <p:spPr>
          <a:xfrm rot="0">
            <a:off x="836489" y="933199"/>
            <a:ext cx="7108980" cy="987346"/>
          </a:xfrm>
          <a:prstGeom prst="rect">
            <a:avLst/>
          </a:prstGeom>
        </p:spPr>
        <p:txBody>
          <a:bodyPr anchor="t" rtlCol="false" tIns="0" lIns="0" bIns="0" rIns="0">
            <a:spAutoFit/>
          </a:bodyPr>
          <a:lstStyle/>
          <a:p>
            <a:pPr algn="ctr">
              <a:lnSpc>
                <a:spcPts val="7877"/>
              </a:lnSpc>
            </a:pPr>
            <a:r>
              <a:rPr lang="en-US" sz="5512">
                <a:solidFill>
                  <a:srgbClr val="473821"/>
                </a:solidFill>
                <a:latin typeface="Times New Roman"/>
                <a:ea typeface="Times New Roman"/>
                <a:cs typeface="Times New Roman"/>
                <a:sym typeface="Times New Roman"/>
              </a:rPr>
              <a:t>Bayesian: Cấu hình</a:t>
            </a:r>
          </a:p>
        </p:txBody>
      </p:sp>
      <p:grpSp>
        <p:nvGrpSpPr>
          <p:cNvPr name="Group 5" id="5"/>
          <p:cNvGrpSpPr/>
          <p:nvPr/>
        </p:nvGrpSpPr>
        <p:grpSpPr>
          <a:xfrm rot="0">
            <a:off x="463847" y="2888042"/>
            <a:ext cx="10728714" cy="5422252"/>
            <a:chOff x="0" y="0"/>
            <a:chExt cx="14304952" cy="7229670"/>
          </a:xfrm>
        </p:grpSpPr>
        <p:sp>
          <p:nvSpPr>
            <p:cNvPr name="Freeform 6" id="6"/>
            <p:cNvSpPr/>
            <p:nvPr/>
          </p:nvSpPr>
          <p:spPr>
            <a:xfrm flipH="false" flipV="false" rot="0">
              <a:off x="12073814" y="453223"/>
              <a:ext cx="2231137" cy="5969598"/>
            </a:xfrm>
            <a:custGeom>
              <a:avLst/>
              <a:gdLst/>
              <a:ahLst/>
              <a:cxnLst/>
              <a:rect r="r" b="b" t="t" l="l"/>
              <a:pathLst>
                <a:path h="5969598" w="2231137">
                  <a:moveTo>
                    <a:pt x="0" y="0"/>
                  </a:moveTo>
                  <a:lnTo>
                    <a:pt x="2231138" y="0"/>
                  </a:lnTo>
                  <a:lnTo>
                    <a:pt x="2231138" y="5969599"/>
                  </a:lnTo>
                  <a:lnTo>
                    <a:pt x="0" y="59695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0" y="0"/>
              <a:ext cx="12201644" cy="7229670"/>
              <a:chOff x="0" y="0"/>
              <a:chExt cx="2215112" cy="1312489"/>
            </a:xfrm>
          </p:grpSpPr>
          <p:sp>
            <p:nvSpPr>
              <p:cNvPr name="Freeform 8" id="8"/>
              <p:cNvSpPr/>
              <p:nvPr/>
            </p:nvSpPr>
            <p:spPr>
              <a:xfrm flipH="false" flipV="false" rot="0">
                <a:off x="0" y="0"/>
                <a:ext cx="2215112" cy="1312489"/>
              </a:xfrm>
              <a:custGeom>
                <a:avLst/>
                <a:gdLst/>
                <a:ahLst/>
                <a:cxnLst/>
                <a:rect r="r" b="b" t="t" l="l"/>
                <a:pathLst>
                  <a:path h="1312489" w="2215112">
                    <a:moveTo>
                      <a:pt x="0" y="0"/>
                    </a:moveTo>
                    <a:lnTo>
                      <a:pt x="2215112" y="0"/>
                    </a:lnTo>
                    <a:lnTo>
                      <a:pt x="2215112" y="1312489"/>
                    </a:lnTo>
                    <a:lnTo>
                      <a:pt x="0" y="1312489"/>
                    </a:lnTo>
                    <a:close/>
                  </a:path>
                </a:pathLst>
              </a:custGeom>
              <a:solidFill>
                <a:srgbClr val="FFDE59"/>
              </a:solidFill>
            </p:spPr>
          </p:sp>
          <p:sp>
            <p:nvSpPr>
              <p:cNvPr name="TextBox 9" id="9"/>
              <p:cNvSpPr txBox="true"/>
              <p:nvPr/>
            </p:nvSpPr>
            <p:spPr>
              <a:xfrm>
                <a:off x="0" y="-38100"/>
                <a:ext cx="2215112" cy="1350589"/>
              </a:xfrm>
              <a:prstGeom prst="rect">
                <a:avLst/>
              </a:prstGeom>
            </p:spPr>
            <p:txBody>
              <a:bodyPr anchor="ctr" rtlCol="false" tIns="50800" lIns="50800" bIns="50800" rIns="50800"/>
              <a:lstStyle/>
              <a:p>
                <a:pPr algn="ctr">
                  <a:lnSpc>
                    <a:spcPts val="2660"/>
                  </a:lnSpc>
                </a:pPr>
              </a:p>
            </p:txBody>
          </p:sp>
        </p:grpSp>
        <p:sp>
          <p:nvSpPr>
            <p:cNvPr name="TextBox 10" id="10"/>
            <p:cNvSpPr txBox="true"/>
            <p:nvPr/>
          </p:nvSpPr>
          <p:spPr>
            <a:xfrm rot="0">
              <a:off x="1159488" y="2364514"/>
              <a:ext cx="9438909" cy="3225526"/>
            </a:xfrm>
            <a:prstGeom prst="rect">
              <a:avLst/>
            </a:prstGeom>
          </p:spPr>
          <p:txBody>
            <a:bodyPr anchor="t" rtlCol="false" tIns="0" lIns="0" bIns="0" rIns="0">
              <a:spAutoFit/>
            </a:bodyPr>
            <a:lstStyle/>
            <a:p>
              <a:pPr algn="l">
                <a:lnSpc>
                  <a:spcPts val="4820"/>
                </a:lnSpc>
                <a:spcBef>
                  <a:spcPct val="0"/>
                </a:spcBef>
              </a:pPr>
              <a:r>
                <a:rPr lang="en-US" sz="3373">
                  <a:solidFill>
                    <a:srgbClr val="000000"/>
                  </a:solidFill>
                  <a:latin typeface="Times New Roman"/>
                  <a:ea typeface="Times New Roman"/>
                  <a:cs typeface="Times New Roman"/>
                  <a:sym typeface="Times New Roman"/>
                </a:rPr>
                <a:t>1.2. </a:t>
              </a:r>
              <a:r>
                <a:rPr lang="en-US" sz="3373">
                  <a:solidFill>
                    <a:srgbClr val="000000"/>
                  </a:solidFill>
                  <a:latin typeface="Times New Roman"/>
                  <a:ea typeface="Times New Roman"/>
                  <a:cs typeface="Times New Roman"/>
                  <a:sym typeface="Times New Roman"/>
                </a:rPr>
                <a:t>Hồi quy: Bayesian Ridge Regression</a:t>
              </a:r>
            </a:p>
            <a:p>
              <a:pPr algn="l">
                <a:lnSpc>
                  <a:spcPts val="4820"/>
                </a:lnSpc>
                <a:spcBef>
                  <a:spcPct val="0"/>
                </a:spcBef>
              </a:pPr>
              <a:r>
                <a:rPr lang="en-US" sz="3373">
                  <a:solidFill>
                    <a:srgbClr val="000000"/>
                  </a:solidFill>
                  <a:latin typeface="Times New Roman"/>
                  <a:ea typeface="Times New Roman"/>
                  <a:cs typeface="Times New Roman"/>
                  <a:sym typeface="Times New Roman"/>
                </a:rPr>
                <a:t>→ dự đoán điểm tín dụng liên tục</a:t>
              </a:r>
            </a:p>
            <a:p>
              <a:pPr algn="l">
                <a:lnSpc>
                  <a:spcPts val="4820"/>
                </a:lnSpc>
                <a:spcBef>
                  <a:spcPct val="0"/>
                </a:spcBef>
              </a:pPr>
              <a:r>
                <a:rPr lang="en-US" sz="3373">
                  <a:solidFill>
                    <a:srgbClr val="000000"/>
                  </a:solidFill>
                  <a:latin typeface="Times New Roman"/>
                  <a:ea typeface="Times New Roman"/>
                  <a:cs typeface="Times New Roman"/>
                  <a:sym typeface="Times New Roman"/>
                </a:rPr>
                <a:t>tín dụng bayes_class ∈ {good, fair, bad}</a:t>
              </a:r>
            </a:p>
            <a:p>
              <a:pPr algn="l">
                <a:lnSpc>
                  <a:spcPts val="4820"/>
                </a:lnSpc>
                <a:spcBef>
                  <a:spcPct val="0"/>
                </a:spcBef>
              </a:pPr>
              <a:r>
                <a:rPr lang="en-US" sz="3373">
                  <a:solidFill>
                    <a:srgbClr val="000000"/>
                  </a:solidFill>
                  <a:latin typeface="Times New Roman"/>
                  <a:ea typeface="Times New Roman"/>
                  <a:cs typeface="Times New Roman"/>
                  <a:sym typeface="Times New Roman"/>
                </a:rPr>
                <a:t>Điểm tín dụng liên tục : credit_score</a:t>
              </a:r>
            </a:p>
          </p:txBody>
        </p:sp>
        <p:sp>
          <p:nvSpPr>
            <p:cNvPr name="TextBox 11" id="11"/>
            <p:cNvSpPr txBox="true"/>
            <p:nvPr/>
          </p:nvSpPr>
          <p:spPr>
            <a:xfrm rot="0">
              <a:off x="688276" y="373079"/>
              <a:ext cx="10381332" cy="1618355"/>
            </a:xfrm>
            <a:prstGeom prst="rect">
              <a:avLst/>
            </a:prstGeom>
          </p:spPr>
          <p:txBody>
            <a:bodyPr anchor="t" rtlCol="false" tIns="0" lIns="0" bIns="0" rIns="0">
              <a:spAutoFit/>
            </a:bodyPr>
            <a:lstStyle/>
            <a:p>
              <a:pPr algn="l" marL="751728" indent="-375864" lvl="1">
                <a:lnSpc>
                  <a:spcPts val="4976"/>
                </a:lnSpc>
                <a:spcBef>
                  <a:spcPct val="0"/>
                </a:spcBef>
                <a:buAutoNum type="arabicPeriod" startAt="1"/>
              </a:pPr>
              <a:r>
                <a:rPr lang="en-US" sz="3481">
                  <a:solidFill>
                    <a:srgbClr val="000000"/>
                  </a:solidFill>
                  <a:latin typeface="Times New Roman"/>
                  <a:ea typeface="Times New Roman"/>
                  <a:cs typeface="Times New Roman"/>
                  <a:sym typeface="Times New Roman"/>
                </a:rPr>
                <a:t>1. </a:t>
              </a:r>
              <a:r>
                <a:rPr lang="en-US" sz="3481">
                  <a:solidFill>
                    <a:srgbClr val="000000"/>
                  </a:solidFill>
                  <a:latin typeface="Times New Roman"/>
                  <a:ea typeface="Times New Roman"/>
                  <a:cs typeface="Times New Roman"/>
                  <a:sym typeface="Times New Roman"/>
                </a:rPr>
                <a:t>Phân loại: Gaussian Naive Bayes</a:t>
              </a:r>
            </a:p>
            <a:p>
              <a:pPr algn="l">
                <a:lnSpc>
                  <a:spcPts val="4976"/>
                </a:lnSpc>
                <a:spcBef>
                  <a:spcPct val="0"/>
                </a:spcBef>
              </a:pPr>
              <a:r>
                <a:rPr lang="en-US" sz="3481">
                  <a:solidFill>
                    <a:srgbClr val="000000"/>
                  </a:solidFill>
                  <a:latin typeface="Times New Roman"/>
                  <a:ea typeface="Times New Roman"/>
                  <a:cs typeface="Times New Roman"/>
                  <a:sym typeface="Times New Roman"/>
                </a:rPr>
                <a:t> → dự đoán mức tín dụng (good / fair / bad)</a:t>
              </a:r>
            </a:p>
          </p:txBody>
        </p:sp>
      </p:grpSp>
      <p:sp>
        <p:nvSpPr>
          <p:cNvPr name="TextBox 12" id="12"/>
          <p:cNvSpPr txBox="true"/>
          <p:nvPr/>
        </p:nvSpPr>
        <p:spPr>
          <a:xfrm rot="0">
            <a:off x="11749404" y="2508709"/>
            <a:ext cx="5509896" cy="5558662"/>
          </a:xfrm>
          <a:prstGeom prst="rect">
            <a:avLst/>
          </a:prstGeom>
        </p:spPr>
        <p:txBody>
          <a:bodyPr anchor="t" rtlCol="false" tIns="0" lIns="0" bIns="0" rIns="0">
            <a:spAutoFit/>
          </a:bodyPr>
          <a:lstStyle/>
          <a:p>
            <a:pPr algn="ctr">
              <a:lnSpc>
                <a:spcPts val="4867"/>
              </a:lnSpc>
              <a:spcBef>
                <a:spcPct val="0"/>
              </a:spcBef>
            </a:pPr>
            <a:r>
              <a:rPr lang="en-US" sz="3406">
                <a:solidFill>
                  <a:srgbClr val="000000"/>
                </a:solidFill>
                <a:latin typeface="Times New Roman"/>
                <a:ea typeface="Times New Roman"/>
                <a:cs typeface="Times New Roman"/>
                <a:sym typeface="Times New Roman"/>
              </a:rPr>
              <a:t>Khi chạy hệ thống: load model → dự đoán class, score và độ tin cậy → chuyển kết quả cho hệ luật</a:t>
            </a:r>
          </a:p>
          <a:p>
            <a:pPr algn="ctr">
              <a:lnSpc>
                <a:spcPts val="4868"/>
              </a:lnSpc>
              <a:spcBef>
                <a:spcPct val="0"/>
              </a:spcBef>
            </a:pPr>
            <a:r>
              <a:rPr lang="en-US" sz="3406">
                <a:solidFill>
                  <a:srgbClr val="000000"/>
                </a:solidFill>
                <a:latin typeface="Times New Roman"/>
                <a:ea typeface="Times New Roman"/>
                <a:cs typeface="Times New Roman"/>
                <a:sym typeface="Times New Roman"/>
              </a:rPr>
              <a:t>Mô hình Bayesian cung cấp đánh giá định lượng, trong khi hệ luật đảm nhiệm suy diễn logic và ra quyết định minh bạch.</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9834804" cy="11157077"/>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17028" t="0" r="-17028" b="0"/>
              </a:stretch>
            </a:blipFill>
          </p:spPr>
        </p:sp>
      </p:grpSp>
      <p:sp>
        <p:nvSpPr>
          <p:cNvPr name="Freeform 4" id="4"/>
          <p:cNvSpPr/>
          <p:nvPr/>
        </p:nvSpPr>
        <p:spPr>
          <a:xfrm flipH="false" flipV="true" rot="0">
            <a:off x="231709" y="260318"/>
            <a:ext cx="3388214" cy="3320453"/>
          </a:xfrm>
          <a:custGeom>
            <a:avLst/>
            <a:gdLst/>
            <a:ahLst/>
            <a:cxnLst/>
            <a:rect r="r" b="b" t="t" l="l"/>
            <a:pathLst>
              <a:path h="3320453" w="3388214">
                <a:moveTo>
                  <a:pt x="0" y="3320453"/>
                </a:moveTo>
                <a:lnTo>
                  <a:pt x="3388213" y="3320453"/>
                </a:lnTo>
                <a:lnTo>
                  <a:pt x="3388213" y="0"/>
                </a:lnTo>
                <a:lnTo>
                  <a:pt x="0" y="0"/>
                </a:lnTo>
                <a:lnTo>
                  <a:pt x="0" y="3320453"/>
                </a:lnTo>
                <a:close/>
              </a:path>
            </a:pathLst>
          </a:custGeom>
          <a:blipFill>
            <a:blip r:embed="rId3">
              <a:extLst>
                <a:ext uri="{96DAC541-7B7A-43D3-8B79-37D633B846F1}">
                  <asvg:svgBlip xmlns:asvg="http://schemas.microsoft.com/office/drawing/2016/SVG/main" r:embed="rId4"/>
                </a:ext>
              </a:extLst>
            </a:blip>
            <a:stretch>
              <a:fillRect l="0" t="-160" r="0" b="-160"/>
            </a:stretch>
          </a:blipFill>
        </p:spPr>
      </p:sp>
      <p:sp>
        <p:nvSpPr>
          <p:cNvPr name="Freeform 5" id="5"/>
          <p:cNvSpPr/>
          <p:nvPr/>
        </p:nvSpPr>
        <p:spPr>
          <a:xfrm flipH="true" flipV="true" rot="0">
            <a:off x="14579965" y="260318"/>
            <a:ext cx="3388214" cy="3320453"/>
          </a:xfrm>
          <a:custGeom>
            <a:avLst/>
            <a:gdLst/>
            <a:ahLst/>
            <a:cxnLst/>
            <a:rect r="r" b="b" t="t" l="l"/>
            <a:pathLst>
              <a:path h="3320453" w="3388214">
                <a:moveTo>
                  <a:pt x="3388214" y="3320453"/>
                </a:moveTo>
                <a:lnTo>
                  <a:pt x="0" y="3320453"/>
                </a:lnTo>
                <a:lnTo>
                  <a:pt x="0" y="0"/>
                </a:lnTo>
                <a:lnTo>
                  <a:pt x="3388214" y="0"/>
                </a:lnTo>
                <a:lnTo>
                  <a:pt x="3388214" y="3320453"/>
                </a:lnTo>
                <a:close/>
              </a:path>
            </a:pathLst>
          </a:custGeom>
          <a:blipFill>
            <a:blip r:embed="rId3">
              <a:extLst>
                <a:ext uri="{96DAC541-7B7A-43D3-8B79-37D633B846F1}">
                  <asvg:svgBlip xmlns:asvg="http://schemas.microsoft.com/office/drawing/2016/SVG/main" r:embed="rId4"/>
                </a:ext>
              </a:extLst>
            </a:blip>
            <a:stretch>
              <a:fillRect l="0" t="-160" r="0" b="-160"/>
            </a:stretch>
          </a:blipFill>
        </p:spPr>
      </p:sp>
      <p:grpSp>
        <p:nvGrpSpPr>
          <p:cNvPr name="Group 6" id="6"/>
          <p:cNvGrpSpPr/>
          <p:nvPr/>
        </p:nvGrpSpPr>
        <p:grpSpPr>
          <a:xfrm rot="0">
            <a:off x="11163444" y="2585001"/>
            <a:ext cx="5960950" cy="7254139"/>
            <a:chOff x="0" y="0"/>
            <a:chExt cx="7947934" cy="9672186"/>
          </a:xfrm>
        </p:grpSpPr>
        <p:grpSp>
          <p:nvGrpSpPr>
            <p:cNvPr name="Group 7" id="7"/>
            <p:cNvGrpSpPr/>
            <p:nvPr/>
          </p:nvGrpSpPr>
          <p:grpSpPr>
            <a:xfrm rot="0">
              <a:off x="0" y="0"/>
              <a:ext cx="7947934" cy="9672186"/>
              <a:chOff x="0" y="0"/>
              <a:chExt cx="1569962" cy="1910555"/>
            </a:xfrm>
          </p:grpSpPr>
          <p:sp>
            <p:nvSpPr>
              <p:cNvPr name="Freeform 8" id="8"/>
              <p:cNvSpPr/>
              <p:nvPr/>
            </p:nvSpPr>
            <p:spPr>
              <a:xfrm flipH="false" flipV="false" rot="0">
                <a:off x="0" y="0"/>
                <a:ext cx="1569962" cy="1910555"/>
              </a:xfrm>
              <a:custGeom>
                <a:avLst/>
                <a:gdLst/>
                <a:ahLst/>
                <a:cxnLst/>
                <a:rect r="r" b="b" t="t" l="l"/>
                <a:pathLst>
                  <a:path h="1910555" w="1569962">
                    <a:moveTo>
                      <a:pt x="0" y="0"/>
                    </a:moveTo>
                    <a:lnTo>
                      <a:pt x="1569962" y="0"/>
                    </a:lnTo>
                    <a:lnTo>
                      <a:pt x="1569962" y="1910555"/>
                    </a:lnTo>
                    <a:lnTo>
                      <a:pt x="0" y="1910555"/>
                    </a:lnTo>
                    <a:close/>
                  </a:path>
                </a:pathLst>
              </a:custGeom>
              <a:solidFill>
                <a:srgbClr val="FFDE59"/>
              </a:solidFill>
            </p:spPr>
          </p:sp>
          <p:sp>
            <p:nvSpPr>
              <p:cNvPr name="TextBox 9" id="9"/>
              <p:cNvSpPr txBox="true"/>
              <p:nvPr/>
            </p:nvSpPr>
            <p:spPr>
              <a:xfrm>
                <a:off x="0" y="-38100"/>
                <a:ext cx="1569962" cy="1948655"/>
              </a:xfrm>
              <a:prstGeom prst="rect">
                <a:avLst/>
              </a:prstGeom>
            </p:spPr>
            <p:txBody>
              <a:bodyPr anchor="ctr" rtlCol="false" tIns="50800" lIns="50800" bIns="50800" rIns="50800"/>
              <a:lstStyle/>
              <a:p>
                <a:pPr algn="ctr">
                  <a:lnSpc>
                    <a:spcPts val="2660"/>
                  </a:lnSpc>
                </a:pPr>
              </a:p>
            </p:txBody>
          </p:sp>
        </p:grpSp>
        <p:sp>
          <p:nvSpPr>
            <p:cNvPr name="TextBox 10" id="10"/>
            <p:cNvSpPr txBox="true"/>
            <p:nvPr/>
          </p:nvSpPr>
          <p:spPr>
            <a:xfrm rot="0">
              <a:off x="1665200" y="150886"/>
              <a:ext cx="4617533" cy="4317400"/>
            </a:xfrm>
            <a:prstGeom prst="rect">
              <a:avLst/>
            </a:prstGeom>
          </p:spPr>
          <p:txBody>
            <a:bodyPr anchor="t" rtlCol="false" tIns="0" lIns="0" bIns="0" rIns="0">
              <a:spAutoFit/>
            </a:bodyPr>
            <a:lstStyle/>
            <a:p>
              <a:pPr algn="ctr">
                <a:lnSpc>
                  <a:spcPts val="6453"/>
                </a:lnSpc>
                <a:spcBef>
                  <a:spcPct val="0"/>
                </a:spcBef>
              </a:pPr>
              <a:r>
                <a:rPr lang="en-US" sz="4515">
                  <a:solidFill>
                    <a:srgbClr val="473821"/>
                  </a:solidFill>
                  <a:latin typeface="Times New Roman"/>
                  <a:ea typeface="Times New Roman"/>
                  <a:cs typeface="Times New Roman"/>
                  <a:sym typeface="Times New Roman"/>
                </a:rPr>
                <a:t>LLM được sử dụng thông qua Gemini API key</a:t>
              </a:r>
            </a:p>
          </p:txBody>
        </p:sp>
        <p:sp>
          <p:nvSpPr>
            <p:cNvPr name="TextBox 11" id="11"/>
            <p:cNvSpPr txBox="true"/>
            <p:nvPr/>
          </p:nvSpPr>
          <p:spPr>
            <a:xfrm rot="0">
              <a:off x="605456" y="4646086"/>
              <a:ext cx="7005501" cy="3402789"/>
            </a:xfrm>
            <a:prstGeom prst="rect">
              <a:avLst/>
            </a:prstGeom>
          </p:spPr>
          <p:txBody>
            <a:bodyPr anchor="t" rtlCol="false" tIns="0" lIns="0" bIns="0" rIns="0">
              <a:spAutoFit/>
            </a:bodyPr>
            <a:lstStyle/>
            <a:p>
              <a:pPr algn="ctr">
                <a:lnSpc>
                  <a:spcPts val="4061"/>
                </a:lnSpc>
                <a:spcBef>
                  <a:spcPct val="0"/>
                </a:spcBef>
              </a:pPr>
              <a:r>
                <a:rPr lang="en-US" sz="2841">
                  <a:solidFill>
                    <a:srgbClr val="473821"/>
                  </a:solidFill>
                  <a:latin typeface="Times New Roman"/>
                  <a:ea typeface="Times New Roman"/>
                  <a:cs typeface="Times New Roman"/>
                  <a:sym typeface="Times New Roman"/>
                </a:rPr>
                <a:t>Hệ thống sử dụng SQLite để lưu lại lịch sử truy vấn và kết quả suy luận, qua đó có thể truy vết lại các luật đã kích hoạt và lý do hệ thống đưa ra quyết định</a:t>
              </a:r>
            </a:p>
          </p:txBody>
        </p:sp>
      </p:grpSp>
      <p:sp>
        <p:nvSpPr>
          <p:cNvPr name="TextBox 12" id="12"/>
          <p:cNvSpPr txBox="true"/>
          <p:nvPr/>
        </p:nvSpPr>
        <p:spPr>
          <a:xfrm rot="0">
            <a:off x="3454072" y="220911"/>
            <a:ext cx="11125893" cy="807789"/>
          </a:xfrm>
          <a:prstGeom prst="rect">
            <a:avLst/>
          </a:prstGeom>
        </p:spPr>
        <p:txBody>
          <a:bodyPr anchor="t" rtlCol="false" tIns="0" lIns="0" bIns="0" rIns="0">
            <a:spAutoFit/>
          </a:bodyPr>
          <a:lstStyle/>
          <a:p>
            <a:pPr algn="ctr">
              <a:lnSpc>
                <a:spcPts val="6453"/>
              </a:lnSpc>
            </a:pPr>
            <a:r>
              <a:rPr lang="en-US" sz="4515">
                <a:solidFill>
                  <a:srgbClr val="473821"/>
                </a:solidFill>
                <a:latin typeface="Times New Roman"/>
                <a:ea typeface="Times New Roman"/>
                <a:cs typeface="Times New Roman"/>
                <a:sym typeface="Times New Roman"/>
              </a:rPr>
              <a:t>I</a:t>
            </a:r>
            <a:r>
              <a:rPr lang="en-US" sz="4515">
                <a:solidFill>
                  <a:srgbClr val="473821"/>
                </a:solidFill>
                <a:latin typeface="Times New Roman"/>
                <a:ea typeface="Times New Roman"/>
                <a:cs typeface="Times New Roman"/>
                <a:sym typeface="Times New Roman"/>
              </a:rPr>
              <a:t>V. HỆ LUẬT &amp; THUẬT GIẢI SUY LUẬN</a:t>
            </a:r>
          </a:p>
        </p:txBody>
      </p:sp>
      <p:sp>
        <p:nvSpPr>
          <p:cNvPr name="TextBox 13" id="13"/>
          <p:cNvSpPr txBox="true"/>
          <p:nvPr/>
        </p:nvSpPr>
        <p:spPr>
          <a:xfrm rot="0">
            <a:off x="4640827" y="1091600"/>
            <a:ext cx="9414986" cy="807789"/>
          </a:xfrm>
          <a:prstGeom prst="rect">
            <a:avLst/>
          </a:prstGeom>
        </p:spPr>
        <p:txBody>
          <a:bodyPr anchor="t" rtlCol="false" tIns="0" lIns="0" bIns="0" rIns="0">
            <a:spAutoFit/>
          </a:bodyPr>
          <a:lstStyle/>
          <a:p>
            <a:pPr algn="ctr">
              <a:lnSpc>
                <a:spcPts val="6453"/>
              </a:lnSpc>
            </a:pPr>
            <a:r>
              <a:rPr lang="en-US" sz="4515">
                <a:solidFill>
                  <a:srgbClr val="473821"/>
                </a:solidFill>
                <a:latin typeface="Times New Roman"/>
                <a:ea typeface="Times New Roman"/>
                <a:cs typeface="Times New Roman"/>
                <a:sym typeface="Times New Roman"/>
              </a:rPr>
              <a:t>6. Vai trò của LLM trong hệ thống</a:t>
            </a:r>
          </a:p>
        </p:txBody>
      </p:sp>
      <p:grpSp>
        <p:nvGrpSpPr>
          <p:cNvPr name="Group 14" id="14"/>
          <p:cNvGrpSpPr/>
          <p:nvPr/>
        </p:nvGrpSpPr>
        <p:grpSpPr>
          <a:xfrm rot="0">
            <a:off x="838325" y="1899390"/>
            <a:ext cx="9562360" cy="8251141"/>
            <a:chOff x="0" y="0"/>
            <a:chExt cx="12749813" cy="11001522"/>
          </a:xfrm>
        </p:grpSpPr>
        <p:grpSp>
          <p:nvGrpSpPr>
            <p:cNvPr name="Group 15" id="15"/>
            <p:cNvGrpSpPr/>
            <p:nvPr/>
          </p:nvGrpSpPr>
          <p:grpSpPr>
            <a:xfrm rot="0">
              <a:off x="0" y="0"/>
              <a:ext cx="12749813" cy="11001522"/>
              <a:chOff x="0" y="0"/>
              <a:chExt cx="2518482" cy="2173140"/>
            </a:xfrm>
          </p:grpSpPr>
          <p:sp>
            <p:nvSpPr>
              <p:cNvPr name="Freeform 16" id="16"/>
              <p:cNvSpPr/>
              <p:nvPr/>
            </p:nvSpPr>
            <p:spPr>
              <a:xfrm flipH="false" flipV="false" rot="0">
                <a:off x="0" y="0"/>
                <a:ext cx="2518482" cy="2173140"/>
              </a:xfrm>
              <a:custGeom>
                <a:avLst/>
                <a:gdLst/>
                <a:ahLst/>
                <a:cxnLst/>
                <a:rect r="r" b="b" t="t" l="l"/>
                <a:pathLst>
                  <a:path h="2173140" w="2518482">
                    <a:moveTo>
                      <a:pt x="0" y="0"/>
                    </a:moveTo>
                    <a:lnTo>
                      <a:pt x="2518482" y="0"/>
                    </a:lnTo>
                    <a:lnTo>
                      <a:pt x="2518482" y="2173140"/>
                    </a:lnTo>
                    <a:lnTo>
                      <a:pt x="0" y="2173140"/>
                    </a:lnTo>
                    <a:close/>
                  </a:path>
                </a:pathLst>
              </a:custGeom>
              <a:solidFill>
                <a:srgbClr val="EFE9D6"/>
              </a:solidFill>
            </p:spPr>
          </p:sp>
          <p:sp>
            <p:nvSpPr>
              <p:cNvPr name="TextBox 17" id="17"/>
              <p:cNvSpPr txBox="true"/>
              <p:nvPr/>
            </p:nvSpPr>
            <p:spPr>
              <a:xfrm>
                <a:off x="0" y="-38100"/>
                <a:ext cx="2518482" cy="2211240"/>
              </a:xfrm>
              <a:prstGeom prst="rect">
                <a:avLst/>
              </a:prstGeom>
            </p:spPr>
            <p:txBody>
              <a:bodyPr anchor="ctr" rtlCol="false" tIns="50800" lIns="50800" bIns="50800" rIns="50800"/>
              <a:lstStyle/>
              <a:p>
                <a:pPr algn="ctr">
                  <a:lnSpc>
                    <a:spcPts val="2660"/>
                  </a:lnSpc>
                </a:pPr>
              </a:p>
            </p:txBody>
          </p:sp>
        </p:grpSp>
        <p:sp>
          <p:nvSpPr>
            <p:cNvPr name="TextBox 18" id="18"/>
            <p:cNvSpPr txBox="true"/>
            <p:nvPr/>
          </p:nvSpPr>
          <p:spPr>
            <a:xfrm rot="0">
              <a:off x="372054" y="-67043"/>
              <a:ext cx="10702179" cy="10803705"/>
            </a:xfrm>
            <a:prstGeom prst="rect">
              <a:avLst/>
            </a:prstGeom>
          </p:spPr>
          <p:txBody>
            <a:bodyPr anchor="t" rtlCol="false" tIns="0" lIns="0" bIns="0" rIns="0">
              <a:spAutoFit/>
            </a:bodyPr>
            <a:lstStyle/>
            <a:p>
              <a:pPr algn="just">
                <a:lnSpc>
                  <a:spcPts val="4571"/>
                </a:lnSpc>
              </a:pPr>
              <a:r>
                <a:rPr lang="en-US" sz="3198">
                  <a:solidFill>
                    <a:srgbClr val="473821"/>
                  </a:solidFill>
                  <a:latin typeface="Times New Roman"/>
                  <a:ea typeface="Times New Roman"/>
                  <a:cs typeface="Times New Roman"/>
                  <a:sym typeface="Times New Roman"/>
                </a:rPr>
                <a:t>Nhiệm vụ trong dự án:</a:t>
              </a:r>
            </a:p>
            <a:p>
              <a:pPr algn="just">
                <a:lnSpc>
                  <a:spcPts val="4571"/>
                </a:lnSpc>
              </a:pPr>
              <a:r>
                <a:rPr lang="en-US" sz="3198">
                  <a:solidFill>
                    <a:srgbClr val="473821"/>
                  </a:solidFill>
                  <a:latin typeface="Times New Roman"/>
                  <a:ea typeface="Times New Roman"/>
                  <a:cs typeface="Times New Roman"/>
                  <a:sym typeface="Times New Roman"/>
                </a:rPr>
                <a:t>- Dùng để giải thích bằng tiếng Việt lý do hệ thống đánh giá khách hàng là good/fair/bad, nó chỉ là giải thích dựa trên:</a:t>
              </a:r>
            </a:p>
            <a:p>
              <a:pPr algn="just" marL="690634" indent="-345317" lvl="1">
                <a:lnSpc>
                  <a:spcPts val="4571"/>
                </a:lnSpc>
                <a:buFont typeface="Arial"/>
                <a:buChar char="•"/>
              </a:pPr>
              <a:r>
                <a:rPr lang="en-US" sz="3198">
                  <a:solidFill>
                    <a:srgbClr val="473821"/>
                  </a:solidFill>
                  <a:latin typeface="Times New Roman"/>
                  <a:ea typeface="Times New Roman"/>
                  <a:cs typeface="Times New Roman"/>
                  <a:sym typeface="Times New Roman"/>
                </a:rPr>
                <a:t>Facts</a:t>
              </a:r>
            </a:p>
            <a:p>
              <a:pPr algn="just" marL="690634" indent="-345317" lvl="1">
                <a:lnSpc>
                  <a:spcPts val="4571"/>
                </a:lnSpc>
                <a:buFont typeface="Arial"/>
                <a:buChar char="•"/>
              </a:pPr>
              <a:r>
                <a:rPr lang="en-US" sz="3198">
                  <a:solidFill>
                    <a:srgbClr val="473821"/>
                  </a:solidFill>
                  <a:latin typeface="Times New Roman"/>
                  <a:ea typeface="Times New Roman"/>
                  <a:cs typeface="Times New Roman"/>
                  <a:sym typeface="Times New Roman"/>
                </a:rPr>
                <a:t>Luật đã kích hoạt</a:t>
              </a:r>
            </a:p>
            <a:p>
              <a:pPr algn="just" marL="690634" indent="-345317" lvl="1">
                <a:lnSpc>
                  <a:spcPts val="4571"/>
                </a:lnSpc>
                <a:buFont typeface="Arial"/>
                <a:buChar char="•"/>
              </a:pPr>
              <a:r>
                <a:rPr lang="en-US" sz="3198">
                  <a:solidFill>
                    <a:srgbClr val="473821"/>
                  </a:solidFill>
                  <a:latin typeface="Times New Roman"/>
                  <a:ea typeface="Times New Roman"/>
                  <a:cs typeface="Times New Roman"/>
                  <a:sym typeface="Times New Roman"/>
                </a:rPr>
                <a:t>Kết quả Bayesian</a:t>
              </a:r>
            </a:p>
            <a:p>
              <a:pPr algn="just">
                <a:lnSpc>
                  <a:spcPts val="4571"/>
                </a:lnSpc>
              </a:pPr>
              <a:r>
                <a:rPr lang="en-US" sz="3198">
                  <a:solidFill>
                    <a:srgbClr val="473821"/>
                  </a:solidFill>
                  <a:latin typeface="Times New Roman"/>
                  <a:ea typeface="Times New Roman"/>
                  <a:cs typeface="Times New Roman"/>
                  <a:sym typeface="Times New Roman"/>
                </a:rPr>
                <a:t>bằng một promt (tự viết) để LLM có thể sinh lời giải thích</a:t>
              </a:r>
            </a:p>
            <a:p>
              <a:pPr algn="just">
                <a:lnSpc>
                  <a:spcPts val="4571"/>
                </a:lnSpc>
              </a:pPr>
              <a:r>
                <a:rPr lang="en-US" sz="3198">
                  <a:solidFill>
                    <a:srgbClr val="473821"/>
                  </a:solidFill>
                  <a:latin typeface="Times New Roman"/>
                  <a:ea typeface="Times New Roman"/>
                  <a:cs typeface="Times New Roman"/>
                  <a:sym typeface="Times New Roman"/>
                </a:rPr>
                <a:t>Lý do cần LLM:</a:t>
              </a:r>
            </a:p>
            <a:p>
              <a:pPr algn="just">
                <a:lnSpc>
                  <a:spcPts val="4571"/>
                </a:lnSpc>
              </a:pPr>
              <a:r>
                <a:rPr lang="en-US" sz="3198">
                  <a:solidFill>
                    <a:srgbClr val="473821"/>
                  </a:solidFill>
                  <a:latin typeface="Times New Roman"/>
                  <a:ea typeface="Times New Roman"/>
                  <a:cs typeface="Times New Roman"/>
                  <a:sym typeface="Times New Roman"/>
                </a:rPr>
                <a:t>- Hệ luật + Bayesian cho ra kết quả nhưng khó hiểu với người dùng cuối.</a:t>
              </a:r>
            </a:p>
            <a:p>
              <a:pPr algn="just">
                <a:lnSpc>
                  <a:spcPts val="4571"/>
                </a:lnSpc>
              </a:pPr>
              <a:r>
                <a:rPr lang="en-US" sz="3198">
                  <a:solidFill>
                    <a:srgbClr val="473821"/>
                  </a:solidFill>
                  <a:latin typeface="Times New Roman"/>
                  <a:ea typeface="Times New Roman"/>
                  <a:cs typeface="Times New Roman"/>
                  <a:sym typeface="Times New Roman"/>
                </a:rPr>
                <a:t>- LLM biến các chỉ số, rule, xác suất thành giải thích tự nhiên, dễ hiểu .</a:t>
              </a:r>
            </a:p>
          </p:txBody>
        </p:sp>
      </p:grpSp>
      <p:sp>
        <p:nvSpPr>
          <p:cNvPr name="TextBox 19" id="19"/>
          <p:cNvSpPr txBox="true"/>
          <p:nvPr/>
        </p:nvSpPr>
        <p:spPr>
          <a:xfrm rot="0">
            <a:off x="17143019" y="9067800"/>
            <a:ext cx="759504" cy="804545"/>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28</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17028" t="0" r="-17028" b="0"/>
              </a:stretch>
            </a:blipFill>
          </p:spPr>
        </p:sp>
      </p:grpSp>
      <p:sp>
        <p:nvSpPr>
          <p:cNvPr name="Freeform 4" id="4"/>
          <p:cNvSpPr/>
          <p:nvPr/>
        </p:nvSpPr>
        <p:spPr>
          <a:xfrm flipH="false" flipV="true" rot="0">
            <a:off x="319821" y="260318"/>
            <a:ext cx="3388214" cy="3320453"/>
          </a:xfrm>
          <a:custGeom>
            <a:avLst/>
            <a:gdLst/>
            <a:ahLst/>
            <a:cxnLst/>
            <a:rect r="r" b="b" t="t" l="l"/>
            <a:pathLst>
              <a:path h="3320453" w="3388214">
                <a:moveTo>
                  <a:pt x="0" y="3320453"/>
                </a:moveTo>
                <a:lnTo>
                  <a:pt x="3388214" y="3320453"/>
                </a:lnTo>
                <a:lnTo>
                  <a:pt x="3388214" y="0"/>
                </a:lnTo>
                <a:lnTo>
                  <a:pt x="0" y="0"/>
                </a:lnTo>
                <a:lnTo>
                  <a:pt x="0" y="3320453"/>
                </a:lnTo>
                <a:close/>
              </a:path>
            </a:pathLst>
          </a:custGeom>
          <a:blipFill>
            <a:blip r:embed="rId3">
              <a:extLst>
                <a:ext uri="{96DAC541-7B7A-43D3-8B79-37D633B846F1}">
                  <asvg:svgBlip xmlns:asvg="http://schemas.microsoft.com/office/drawing/2016/SVG/main" r:embed="rId4"/>
                </a:ext>
              </a:extLst>
            </a:blip>
            <a:stretch>
              <a:fillRect l="0" t="-160" r="0" b="-160"/>
            </a:stretch>
          </a:blipFill>
        </p:spPr>
      </p:sp>
      <p:sp>
        <p:nvSpPr>
          <p:cNvPr name="Freeform 5" id="5"/>
          <p:cNvSpPr/>
          <p:nvPr/>
        </p:nvSpPr>
        <p:spPr>
          <a:xfrm flipH="true" flipV="true" rot="0">
            <a:off x="14579965" y="260318"/>
            <a:ext cx="3388214" cy="3320453"/>
          </a:xfrm>
          <a:custGeom>
            <a:avLst/>
            <a:gdLst/>
            <a:ahLst/>
            <a:cxnLst/>
            <a:rect r="r" b="b" t="t" l="l"/>
            <a:pathLst>
              <a:path h="3320453" w="3388214">
                <a:moveTo>
                  <a:pt x="3388214" y="3320453"/>
                </a:moveTo>
                <a:lnTo>
                  <a:pt x="0" y="3320453"/>
                </a:lnTo>
                <a:lnTo>
                  <a:pt x="0" y="0"/>
                </a:lnTo>
                <a:lnTo>
                  <a:pt x="3388214" y="0"/>
                </a:lnTo>
                <a:lnTo>
                  <a:pt x="3388214" y="3320453"/>
                </a:lnTo>
                <a:close/>
              </a:path>
            </a:pathLst>
          </a:custGeom>
          <a:blipFill>
            <a:blip r:embed="rId3">
              <a:extLst>
                <a:ext uri="{96DAC541-7B7A-43D3-8B79-37D633B846F1}">
                  <asvg:svgBlip xmlns:asvg="http://schemas.microsoft.com/office/drawing/2016/SVG/main" r:embed="rId4"/>
                </a:ext>
              </a:extLst>
            </a:blip>
            <a:stretch>
              <a:fillRect l="0" t="-160" r="0" b="-160"/>
            </a:stretch>
          </a:blipFill>
        </p:spPr>
      </p:sp>
      <p:sp>
        <p:nvSpPr>
          <p:cNvPr name="TextBox 6" id="6"/>
          <p:cNvSpPr txBox="true"/>
          <p:nvPr/>
        </p:nvSpPr>
        <p:spPr>
          <a:xfrm rot="0">
            <a:off x="17143019" y="9067800"/>
            <a:ext cx="759504" cy="804545"/>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29</a:t>
            </a:r>
          </a:p>
        </p:txBody>
      </p:sp>
      <p:sp>
        <p:nvSpPr>
          <p:cNvPr name="TextBox 7" id="7"/>
          <p:cNvSpPr txBox="true"/>
          <p:nvPr/>
        </p:nvSpPr>
        <p:spPr>
          <a:xfrm rot="0">
            <a:off x="2758650" y="3195247"/>
            <a:ext cx="12770710" cy="3454400"/>
          </a:xfrm>
          <a:prstGeom prst="rect">
            <a:avLst/>
          </a:prstGeom>
        </p:spPr>
        <p:txBody>
          <a:bodyPr anchor="t" rtlCol="false" tIns="0" lIns="0" bIns="0" rIns="0">
            <a:spAutoFit/>
          </a:bodyPr>
          <a:lstStyle/>
          <a:p>
            <a:pPr algn="ctr">
              <a:lnSpc>
                <a:spcPts val="13720"/>
              </a:lnSpc>
            </a:pPr>
            <a:r>
              <a:rPr lang="en-US" sz="9600">
                <a:solidFill>
                  <a:srgbClr val="473821"/>
                </a:solidFill>
                <a:latin typeface="Times New Roman"/>
                <a:ea typeface="Times New Roman"/>
                <a:cs typeface="Times New Roman"/>
                <a:sym typeface="Times New Roman"/>
              </a:rPr>
              <a:t>V. ĐÁNH GIÁ &amp; KẾT LUẬN</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17028" t="0" r="-17028" b="0"/>
              </a:stretch>
            </a:blipFill>
          </p:spPr>
        </p:sp>
      </p:grpSp>
      <p:sp>
        <p:nvSpPr>
          <p:cNvPr name="Freeform 4" id="4"/>
          <p:cNvSpPr/>
          <p:nvPr/>
        </p:nvSpPr>
        <p:spPr>
          <a:xfrm flipH="false" flipV="false" rot="0">
            <a:off x="1178533" y="-57693"/>
            <a:ext cx="16640825" cy="10402386"/>
          </a:xfrm>
          <a:custGeom>
            <a:avLst/>
            <a:gdLst/>
            <a:ahLst/>
            <a:cxnLst/>
            <a:rect r="r" b="b" t="t" l="l"/>
            <a:pathLst>
              <a:path h="10402386" w="16640825">
                <a:moveTo>
                  <a:pt x="0" y="0"/>
                </a:moveTo>
                <a:lnTo>
                  <a:pt x="16640825" y="0"/>
                </a:lnTo>
                <a:lnTo>
                  <a:pt x="16640825" y="10402386"/>
                </a:lnTo>
                <a:lnTo>
                  <a:pt x="0" y="104023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true" rot="0">
            <a:off x="319821" y="260318"/>
            <a:ext cx="3388214" cy="3320453"/>
          </a:xfrm>
          <a:custGeom>
            <a:avLst/>
            <a:gdLst/>
            <a:ahLst/>
            <a:cxnLst/>
            <a:rect r="r" b="b" t="t" l="l"/>
            <a:pathLst>
              <a:path h="3320453" w="3388214">
                <a:moveTo>
                  <a:pt x="0" y="3320453"/>
                </a:moveTo>
                <a:lnTo>
                  <a:pt x="3388214" y="3320453"/>
                </a:lnTo>
                <a:lnTo>
                  <a:pt x="3388214" y="0"/>
                </a:lnTo>
                <a:lnTo>
                  <a:pt x="0" y="0"/>
                </a:lnTo>
                <a:lnTo>
                  <a:pt x="0" y="3320453"/>
                </a:lnTo>
                <a:close/>
              </a:path>
            </a:pathLst>
          </a:custGeom>
          <a:blipFill>
            <a:blip r:embed="rId5">
              <a:extLst>
                <a:ext uri="{96DAC541-7B7A-43D3-8B79-37D633B846F1}">
                  <asvg:svgBlip xmlns:asvg="http://schemas.microsoft.com/office/drawing/2016/SVG/main" r:embed="rId6"/>
                </a:ext>
              </a:extLst>
            </a:blip>
            <a:stretch>
              <a:fillRect l="0" t="-160" r="0" b="-160"/>
            </a:stretch>
          </a:blipFill>
        </p:spPr>
      </p:sp>
      <p:sp>
        <p:nvSpPr>
          <p:cNvPr name="Freeform 6" id="6"/>
          <p:cNvSpPr/>
          <p:nvPr/>
        </p:nvSpPr>
        <p:spPr>
          <a:xfrm flipH="true" flipV="true" rot="0">
            <a:off x="14579965" y="260318"/>
            <a:ext cx="3388214" cy="3320453"/>
          </a:xfrm>
          <a:custGeom>
            <a:avLst/>
            <a:gdLst/>
            <a:ahLst/>
            <a:cxnLst/>
            <a:rect r="r" b="b" t="t" l="l"/>
            <a:pathLst>
              <a:path h="3320453" w="3388214">
                <a:moveTo>
                  <a:pt x="3388214" y="3320453"/>
                </a:moveTo>
                <a:lnTo>
                  <a:pt x="0" y="3320453"/>
                </a:lnTo>
                <a:lnTo>
                  <a:pt x="0" y="0"/>
                </a:lnTo>
                <a:lnTo>
                  <a:pt x="3388214" y="0"/>
                </a:lnTo>
                <a:lnTo>
                  <a:pt x="3388214" y="3320453"/>
                </a:lnTo>
                <a:close/>
              </a:path>
            </a:pathLst>
          </a:custGeom>
          <a:blipFill>
            <a:blip r:embed="rId5">
              <a:extLst>
                <a:ext uri="{96DAC541-7B7A-43D3-8B79-37D633B846F1}">
                  <asvg:svgBlip xmlns:asvg="http://schemas.microsoft.com/office/drawing/2016/SVG/main" r:embed="rId6"/>
                </a:ext>
              </a:extLst>
            </a:blip>
            <a:stretch>
              <a:fillRect l="0" t="-160" r="0" b="-160"/>
            </a:stretch>
          </a:blipFill>
        </p:spPr>
      </p:sp>
      <p:sp>
        <p:nvSpPr>
          <p:cNvPr name="TextBox 7" id="7"/>
          <p:cNvSpPr txBox="true"/>
          <p:nvPr/>
        </p:nvSpPr>
        <p:spPr>
          <a:xfrm rot="0">
            <a:off x="1331667" y="1150763"/>
            <a:ext cx="7812333" cy="769782"/>
          </a:xfrm>
          <a:prstGeom prst="rect">
            <a:avLst/>
          </a:prstGeom>
        </p:spPr>
        <p:txBody>
          <a:bodyPr anchor="t" rtlCol="false" tIns="0" lIns="0" bIns="0" rIns="0">
            <a:spAutoFit/>
          </a:bodyPr>
          <a:lstStyle/>
          <a:p>
            <a:pPr algn="ctr">
              <a:lnSpc>
                <a:spcPts val="6184"/>
              </a:lnSpc>
            </a:pPr>
            <a:r>
              <a:rPr lang="en-US" sz="4327">
                <a:solidFill>
                  <a:srgbClr val="473821"/>
                </a:solidFill>
                <a:latin typeface="Times New Roman"/>
                <a:ea typeface="Times New Roman"/>
                <a:cs typeface="Times New Roman"/>
                <a:sym typeface="Times New Roman"/>
              </a:rPr>
              <a:t>V. ĐÁNH GIÁ &amp; KẾT LUẬN</a:t>
            </a:r>
          </a:p>
        </p:txBody>
      </p:sp>
      <p:sp>
        <p:nvSpPr>
          <p:cNvPr name="TextBox 8" id="8"/>
          <p:cNvSpPr txBox="true"/>
          <p:nvPr/>
        </p:nvSpPr>
        <p:spPr>
          <a:xfrm rot="0">
            <a:off x="2310515" y="2094756"/>
            <a:ext cx="14832504" cy="3190875"/>
          </a:xfrm>
          <a:prstGeom prst="rect">
            <a:avLst/>
          </a:prstGeom>
        </p:spPr>
        <p:txBody>
          <a:bodyPr anchor="t" rtlCol="false" tIns="0" lIns="0" bIns="0" rIns="0">
            <a:spAutoFit/>
          </a:bodyPr>
          <a:lstStyle/>
          <a:p>
            <a:pPr algn="l">
              <a:lnSpc>
                <a:spcPts val="4200"/>
              </a:lnSpc>
              <a:spcBef>
                <a:spcPct val="0"/>
              </a:spcBef>
            </a:pPr>
            <a:r>
              <a:rPr lang="en-US" sz="3000">
                <a:solidFill>
                  <a:srgbClr val="000000"/>
                </a:solidFill>
                <a:latin typeface="DejaVu Serif"/>
                <a:ea typeface="DejaVu Serif"/>
                <a:cs typeface="DejaVu Serif"/>
                <a:sym typeface="DejaVu Serif"/>
              </a:rPr>
              <a:t>Đề tài đã:</a:t>
            </a:r>
          </a:p>
          <a:p>
            <a:pPr algn="l">
              <a:lnSpc>
                <a:spcPts val="4200"/>
              </a:lnSpc>
              <a:spcBef>
                <a:spcPct val="0"/>
              </a:spcBef>
            </a:pPr>
            <a:r>
              <a:rPr lang="en-US" sz="3000">
                <a:solidFill>
                  <a:srgbClr val="000000"/>
                </a:solidFill>
                <a:latin typeface="DejaVu Serif"/>
                <a:ea typeface="DejaVu Serif"/>
                <a:cs typeface="DejaVu Serif"/>
                <a:sym typeface="DejaVu Serif"/>
              </a:rPr>
              <a:t>- Xây dựng thành công hệ thống chuyên gia đánh giá tín dụng lai (rule-based + Bayesian + LLM)</a:t>
            </a:r>
          </a:p>
          <a:p>
            <a:pPr algn="l">
              <a:lnSpc>
                <a:spcPts val="4200"/>
              </a:lnSpc>
              <a:spcBef>
                <a:spcPct val="0"/>
              </a:spcBef>
            </a:pPr>
            <a:r>
              <a:rPr lang="en-US" sz="3000">
                <a:solidFill>
                  <a:srgbClr val="000000"/>
                </a:solidFill>
                <a:latin typeface="DejaVu Serif"/>
                <a:ea typeface="DejaVu Serif"/>
                <a:cs typeface="DejaVu Serif"/>
                <a:sym typeface="DejaVu Serif"/>
              </a:rPr>
              <a:t>- Mô hình hóa rõ ràng quy trình: biểu diễn tri thức, suy luận, học máy, giải thích</a:t>
            </a:r>
          </a:p>
          <a:p>
            <a:pPr algn="l">
              <a:lnSpc>
                <a:spcPts val="4200"/>
              </a:lnSpc>
              <a:spcBef>
                <a:spcPct val="0"/>
              </a:spcBef>
            </a:pPr>
            <a:r>
              <a:rPr lang="en-US" sz="3000">
                <a:solidFill>
                  <a:srgbClr val="000000"/>
                </a:solidFill>
                <a:latin typeface="DejaVu Serif"/>
                <a:ea typeface="DejaVu Serif"/>
                <a:cs typeface="DejaVu Serif"/>
                <a:sym typeface="DejaVu Serif"/>
              </a:rPr>
              <a:t>- Cung cấp giao diện trực quan và API, kèm cơ chế log, cache, test</a:t>
            </a:r>
          </a:p>
        </p:txBody>
      </p:sp>
      <p:sp>
        <p:nvSpPr>
          <p:cNvPr name="TextBox 9" id="9"/>
          <p:cNvSpPr txBox="true"/>
          <p:nvPr/>
        </p:nvSpPr>
        <p:spPr>
          <a:xfrm rot="0">
            <a:off x="2393680" y="5793423"/>
            <a:ext cx="15508843" cy="3724275"/>
          </a:xfrm>
          <a:prstGeom prst="rect">
            <a:avLst/>
          </a:prstGeom>
        </p:spPr>
        <p:txBody>
          <a:bodyPr anchor="t" rtlCol="false" tIns="0" lIns="0" bIns="0" rIns="0">
            <a:spAutoFit/>
          </a:bodyPr>
          <a:lstStyle/>
          <a:p>
            <a:pPr algn="l">
              <a:lnSpc>
                <a:spcPts val="4200"/>
              </a:lnSpc>
              <a:spcBef>
                <a:spcPct val="0"/>
              </a:spcBef>
            </a:pPr>
            <a:r>
              <a:rPr lang="en-US" sz="3000">
                <a:solidFill>
                  <a:srgbClr val="000000"/>
                </a:solidFill>
                <a:latin typeface="DejaVu Serif"/>
                <a:ea typeface="DejaVu Serif"/>
                <a:cs typeface="DejaVu Serif"/>
                <a:sym typeface="DejaVu Serif"/>
              </a:rPr>
              <a:t>Ý nghĩa:</a:t>
            </a:r>
          </a:p>
          <a:p>
            <a:pPr algn="l">
              <a:lnSpc>
                <a:spcPts val="4200"/>
              </a:lnSpc>
              <a:spcBef>
                <a:spcPct val="0"/>
              </a:spcBef>
            </a:pPr>
            <a:r>
              <a:rPr lang="en-US" sz="3000">
                <a:solidFill>
                  <a:srgbClr val="000000"/>
                </a:solidFill>
                <a:latin typeface="DejaVu Serif"/>
                <a:ea typeface="DejaVu Serif"/>
                <a:cs typeface="DejaVu Serif"/>
                <a:sym typeface="DejaVu Serif"/>
              </a:rPr>
              <a:t>- Minh họa rất tốt ứng dụng của Hệ biểu diễn tri thức và suy luận vào bài toán thực tế</a:t>
            </a:r>
          </a:p>
          <a:p>
            <a:pPr algn="l">
              <a:lnSpc>
                <a:spcPts val="4200"/>
              </a:lnSpc>
              <a:spcBef>
                <a:spcPct val="0"/>
              </a:spcBef>
            </a:pPr>
            <a:r>
              <a:rPr lang="en-US" sz="3000">
                <a:solidFill>
                  <a:srgbClr val="000000"/>
                </a:solidFill>
                <a:latin typeface="DejaVu Serif"/>
                <a:ea typeface="DejaVu Serif"/>
                <a:cs typeface="DejaVu Serif"/>
                <a:sym typeface="DejaVu Serif"/>
              </a:rPr>
              <a:t>- Cho thấy lợi ích của hybrid AI trong việc cân bằng:</a:t>
            </a:r>
          </a:p>
          <a:p>
            <a:pPr algn="l">
              <a:lnSpc>
                <a:spcPts val="4200"/>
              </a:lnSpc>
              <a:spcBef>
                <a:spcPct val="0"/>
              </a:spcBef>
            </a:pPr>
            <a:r>
              <a:rPr lang="en-US" sz="3000">
                <a:solidFill>
                  <a:srgbClr val="000000"/>
                </a:solidFill>
                <a:latin typeface="DejaVu Serif"/>
                <a:ea typeface="DejaVu Serif"/>
                <a:cs typeface="DejaVu Serif"/>
                <a:sym typeface="DejaVu Serif"/>
              </a:rPr>
              <a:t>  - Tính chính xác</a:t>
            </a:r>
          </a:p>
          <a:p>
            <a:pPr algn="l">
              <a:lnSpc>
                <a:spcPts val="4200"/>
              </a:lnSpc>
              <a:spcBef>
                <a:spcPct val="0"/>
              </a:spcBef>
            </a:pPr>
            <a:r>
              <a:rPr lang="en-US" sz="3000">
                <a:solidFill>
                  <a:srgbClr val="000000"/>
                </a:solidFill>
                <a:latin typeface="DejaVu Serif"/>
                <a:ea typeface="DejaVu Serif"/>
                <a:cs typeface="DejaVu Serif"/>
                <a:sym typeface="DejaVu Serif"/>
              </a:rPr>
              <a:t>  - Tính minh bạch</a:t>
            </a:r>
          </a:p>
          <a:p>
            <a:pPr algn="l">
              <a:lnSpc>
                <a:spcPts val="4200"/>
              </a:lnSpc>
              <a:spcBef>
                <a:spcPct val="0"/>
              </a:spcBef>
            </a:pPr>
            <a:r>
              <a:rPr lang="en-US" sz="3000">
                <a:solidFill>
                  <a:srgbClr val="000000"/>
                </a:solidFill>
                <a:latin typeface="DejaVu Serif"/>
                <a:ea typeface="DejaVu Serif"/>
                <a:cs typeface="DejaVu Serif"/>
                <a:sym typeface="DejaVu Serif"/>
              </a:rPr>
              <a:t>  - Trải nghiệm người dùng (giải thích, giao diện)</a:t>
            </a:r>
          </a:p>
        </p:txBody>
      </p:sp>
      <p:sp>
        <p:nvSpPr>
          <p:cNvPr name="TextBox 10" id="10"/>
          <p:cNvSpPr txBox="true"/>
          <p:nvPr/>
        </p:nvSpPr>
        <p:spPr>
          <a:xfrm rot="0">
            <a:off x="17143019" y="9067800"/>
            <a:ext cx="759504" cy="804545"/>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30</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17028" t="0" r="-17028" b="0"/>
              </a:stretch>
            </a:blipFill>
          </p:spPr>
        </p:sp>
      </p:grpSp>
      <p:sp>
        <p:nvSpPr>
          <p:cNvPr name="Freeform 4" id="4"/>
          <p:cNvSpPr/>
          <p:nvPr/>
        </p:nvSpPr>
        <p:spPr>
          <a:xfrm flipH="false" flipV="false" rot="0">
            <a:off x="1178533" y="-57693"/>
            <a:ext cx="16640825" cy="10402386"/>
          </a:xfrm>
          <a:custGeom>
            <a:avLst/>
            <a:gdLst/>
            <a:ahLst/>
            <a:cxnLst/>
            <a:rect r="r" b="b" t="t" l="l"/>
            <a:pathLst>
              <a:path h="10402386" w="16640825">
                <a:moveTo>
                  <a:pt x="0" y="0"/>
                </a:moveTo>
                <a:lnTo>
                  <a:pt x="16640825" y="0"/>
                </a:lnTo>
                <a:lnTo>
                  <a:pt x="16640825" y="10402386"/>
                </a:lnTo>
                <a:lnTo>
                  <a:pt x="0" y="104023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true" rot="0">
            <a:off x="319821" y="260318"/>
            <a:ext cx="3388214" cy="3320453"/>
          </a:xfrm>
          <a:custGeom>
            <a:avLst/>
            <a:gdLst/>
            <a:ahLst/>
            <a:cxnLst/>
            <a:rect r="r" b="b" t="t" l="l"/>
            <a:pathLst>
              <a:path h="3320453" w="3388214">
                <a:moveTo>
                  <a:pt x="0" y="3320453"/>
                </a:moveTo>
                <a:lnTo>
                  <a:pt x="3388214" y="3320453"/>
                </a:lnTo>
                <a:lnTo>
                  <a:pt x="3388214" y="0"/>
                </a:lnTo>
                <a:lnTo>
                  <a:pt x="0" y="0"/>
                </a:lnTo>
                <a:lnTo>
                  <a:pt x="0" y="3320453"/>
                </a:lnTo>
                <a:close/>
              </a:path>
            </a:pathLst>
          </a:custGeom>
          <a:blipFill>
            <a:blip r:embed="rId5">
              <a:extLst>
                <a:ext uri="{96DAC541-7B7A-43D3-8B79-37D633B846F1}">
                  <asvg:svgBlip xmlns:asvg="http://schemas.microsoft.com/office/drawing/2016/SVG/main" r:embed="rId6"/>
                </a:ext>
              </a:extLst>
            </a:blip>
            <a:stretch>
              <a:fillRect l="0" t="-160" r="0" b="-160"/>
            </a:stretch>
          </a:blipFill>
        </p:spPr>
      </p:sp>
      <p:sp>
        <p:nvSpPr>
          <p:cNvPr name="Freeform 6" id="6"/>
          <p:cNvSpPr/>
          <p:nvPr/>
        </p:nvSpPr>
        <p:spPr>
          <a:xfrm flipH="true" flipV="true" rot="0">
            <a:off x="14579965" y="260318"/>
            <a:ext cx="3388214" cy="3320453"/>
          </a:xfrm>
          <a:custGeom>
            <a:avLst/>
            <a:gdLst/>
            <a:ahLst/>
            <a:cxnLst/>
            <a:rect r="r" b="b" t="t" l="l"/>
            <a:pathLst>
              <a:path h="3320453" w="3388214">
                <a:moveTo>
                  <a:pt x="3388214" y="3320453"/>
                </a:moveTo>
                <a:lnTo>
                  <a:pt x="0" y="3320453"/>
                </a:lnTo>
                <a:lnTo>
                  <a:pt x="0" y="0"/>
                </a:lnTo>
                <a:lnTo>
                  <a:pt x="3388214" y="0"/>
                </a:lnTo>
                <a:lnTo>
                  <a:pt x="3388214" y="3320453"/>
                </a:lnTo>
                <a:close/>
              </a:path>
            </a:pathLst>
          </a:custGeom>
          <a:blipFill>
            <a:blip r:embed="rId5">
              <a:extLst>
                <a:ext uri="{96DAC541-7B7A-43D3-8B79-37D633B846F1}">
                  <asvg:svgBlip xmlns:asvg="http://schemas.microsoft.com/office/drawing/2016/SVG/main" r:embed="rId6"/>
                </a:ext>
              </a:extLst>
            </a:blip>
            <a:stretch>
              <a:fillRect l="0" t="-160" r="0" b="-160"/>
            </a:stretch>
          </a:blipFill>
        </p:spPr>
      </p:sp>
      <p:sp>
        <p:nvSpPr>
          <p:cNvPr name="TextBox 7" id="7"/>
          <p:cNvSpPr txBox="true"/>
          <p:nvPr/>
        </p:nvSpPr>
        <p:spPr>
          <a:xfrm rot="0">
            <a:off x="1331667" y="1150763"/>
            <a:ext cx="7812333" cy="769782"/>
          </a:xfrm>
          <a:prstGeom prst="rect">
            <a:avLst/>
          </a:prstGeom>
        </p:spPr>
        <p:txBody>
          <a:bodyPr anchor="t" rtlCol="false" tIns="0" lIns="0" bIns="0" rIns="0">
            <a:spAutoFit/>
          </a:bodyPr>
          <a:lstStyle/>
          <a:p>
            <a:pPr algn="ctr">
              <a:lnSpc>
                <a:spcPts val="6184"/>
              </a:lnSpc>
            </a:pPr>
            <a:r>
              <a:rPr lang="en-US" sz="4327">
                <a:solidFill>
                  <a:srgbClr val="473821"/>
                </a:solidFill>
                <a:latin typeface="Times New Roman"/>
                <a:ea typeface="Times New Roman"/>
                <a:cs typeface="Times New Roman"/>
                <a:sym typeface="Times New Roman"/>
              </a:rPr>
              <a:t>V. ĐÁNH GIÁ &amp; KẾT LUẬN</a:t>
            </a:r>
          </a:p>
        </p:txBody>
      </p:sp>
      <p:sp>
        <p:nvSpPr>
          <p:cNvPr name="TextBox 8" id="8"/>
          <p:cNvSpPr txBox="true"/>
          <p:nvPr/>
        </p:nvSpPr>
        <p:spPr>
          <a:xfrm rot="0">
            <a:off x="2013928" y="2186570"/>
            <a:ext cx="15508843" cy="7842885"/>
          </a:xfrm>
          <a:prstGeom prst="rect">
            <a:avLst/>
          </a:prstGeom>
        </p:spPr>
        <p:txBody>
          <a:bodyPr anchor="t" rtlCol="false" tIns="0" lIns="0" bIns="0" rIns="0">
            <a:spAutoFit/>
          </a:bodyPr>
          <a:lstStyle/>
          <a:p>
            <a:pPr algn="l">
              <a:lnSpc>
                <a:spcPts val="5220"/>
              </a:lnSpc>
            </a:pPr>
            <a:r>
              <a:rPr lang="en-US" sz="3000">
                <a:solidFill>
                  <a:srgbClr val="000000"/>
                </a:solidFill>
                <a:latin typeface="DejaVu Serif"/>
                <a:ea typeface="DejaVu Serif"/>
                <a:cs typeface="DejaVu Serif"/>
                <a:sym typeface="DejaVu Serif"/>
              </a:rPr>
              <a:t>- Mở</a:t>
            </a:r>
            <a:r>
              <a:rPr lang="en-US" sz="3000">
                <a:solidFill>
                  <a:srgbClr val="000000"/>
                </a:solidFill>
                <a:latin typeface="DejaVu Serif"/>
                <a:ea typeface="DejaVu Serif"/>
                <a:cs typeface="DejaVu Serif"/>
                <a:sym typeface="DejaVu Serif"/>
              </a:rPr>
              <a:t> rộng dữ liệu:</a:t>
            </a:r>
          </a:p>
          <a:p>
            <a:pPr algn="l" marL="647700" indent="-323850" lvl="1">
              <a:lnSpc>
                <a:spcPts val="5220"/>
              </a:lnSpc>
              <a:buFont typeface="Arial"/>
              <a:buChar char="•"/>
            </a:pPr>
            <a:r>
              <a:rPr lang="en-US" sz="3000">
                <a:solidFill>
                  <a:srgbClr val="000000"/>
                </a:solidFill>
                <a:latin typeface="DejaVu Serif"/>
                <a:ea typeface="DejaVu Serif"/>
                <a:cs typeface="DejaVu Serif"/>
                <a:sym typeface="DejaVu Serif"/>
              </a:rPr>
              <a:t>Thu thập/ sử dụng dataset tín dụng thực tế</a:t>
            </a:r>
          </a:p>
          <a:p>
            <a:pPr algn="l" marL="647700" indent="-323850" lvl="1">
              <a:lnSpc>
                <a:spcPts val="5220"/>
              </a:lnSpc>
              <a:buFont typeface="Arial"/>
              <a:buChar char="•"/>
            </a:pPr>
            <a:r>
              <a:rPr lang="en-US" sz="3000">
                <a:solidFill>
                  <a:srgbClr val="000000"/>
                </a:solidFill>
                <a:latin typeface="DejaVu Serif"/>
                <a:ea typeface="DejaVu Serif"/>
                <a:cs typeface="DejaVu Serif"/>
                <a:sym typeface="DejaVu Serif"/>
              </a:rPr>
              <a:t>Hiệu chỉnh lại cả luật và mô hình Bayesian</a:t>
            </a:r>
          </a:p>
          <a:p>
            <a:pPr algn="l">
              <a:lnSpc>
                <a:spcPts val="5220"/>
              </a:lnSpc>
            </a:pPr>
            <a:r>
              <a:rPr lang="en-US" sz="3000">
                <a:solidFill>
                  <a:srgbClr val="000000"/>
                </a:solidFill>
                <a:latin typeface="DejaVu Serif"/>
                <a:ea typeface="DejaVu Serif"/>
                <a:cs typeface="DejaVu Serif"/>
                <a:sym typeface="DejaVu Serif"/>
              </a:rPr>
              <a:t>- Mở rộng tri thức:</a:t>
            </a:r>
          </a:p>
          <a:p>
            <a:pPr algn="l" marL="647700" indent="-323850" lvl="1">
              <a:lnSpc>
                <a:spcPts val="5220"/>
              </a:lnSpc>
              <a:buFont typeface="Arial"/>
              <a:buChar char="•"/>
            </a:pPr>
            <a:r>
              <a:rPr lang="en-US" sz="3000">
                <a:solidFill>
                  <a:srgbClr val="000000"/>
                </a:solidFill>
                <a:latin typeface="DejaVu Serif"/>
                <a:ea typeface="DejaVu Serif"/>
                <a:cs typeface="DejaVu Serif"/>
                <a:sym typeface="DejaVu Serif"/>
              </a:rPr>
              <a:t>Thêm các luật về tài sản bảo đảm, lịch sử quan hệ ngân hàng, yếu tố vĩ mô…</a:t>
            </a:r>
          </a:p>
          <a:p>
            <a:pPr algn="l">
              <a:lnSpc>
                <a:spcPts val="5220"/>
              </a:lnSpc>
            </a:pPr>
            <a:r>
              <a:rPr lang="en-US" sz="3000">
                <a:solidFill>
                  <a:srgbClr val="000000"/>
                </a:solidFill>
                <a:latin typeface="DejaVu Serif"/>
                <a:ea typeface="DejaVu Serif"/>
                <a:cs typeface="DejaVu Serif"/>
                <a:sym typeface="DejaVu Serif"/>
              </a:rPr>
              <a:t>- Nâng cao kỹ thuật:</a:t>
            </a:r>
          </a:p>
          <a:p>
            <a:pPr algn="l" marL="647700" indent="-323850" lvl="1">
              <a:lnSpc>
                <a:spcPts val="5220"/>
              </a:lnSpc>
              <a:buFont typeface="Arial"/>
              <a:buChar char="•"/>
            </a:pPr>
            <a:r>
              <a:rPr lang="en-US" sz="3000">
                <a:solidFill>
                  <a:srgbClr val="000000"/>
                </a:solidFill>
                <a:latin typeface="DejaVu Serif"/>
                <a:ea typeface="DejaVu Serif"/>
                <a:cs typeface="DejaVu Serif"/>
                <a:sym typeface="DejaVu Serif"/>
              </a:rPr>
              <a:t>Tối ưu hiệu năng và chi phí gọi LLM</a:t>
            </a:r>
          </a:p>
          <a:p>
            <a:pPr algn="l" marL="647700" indent="-323850" lvl="1">
              <a:lnSpc>
                <a:spcPts val="5220"/>
              </a:lnSpc>
              <a:buFont typeface="Arial"/>
              <a:buChar char="•"/>
            </a:pPr>
            <a:r>
              <a:rPr lang="en-US" sz="3000">
                <a:solidFill>
                  <a:srgbClr val="000000"/>
                </a:solidFill>
                <a:latin typeface="DejaVu Serif"/>
                <a:ea typeface="DejaVu Serif"/>
                <a:cs typeface="DejaVu Serif"/>
                <a:sym typeface="DejaVu Serif"/>
              </a:rPr>
              <a:t>Bổ sung cơ chế giám sát, cảnh báo rủi ro</a:t>
            </a:r>
          </a:p>
          <a:p>
            <a:pPr algn="l">
              <a:lnSpc>
                <a:spcPts val="5220"/>
              </a:lnSpc>
            </a:pPr>
            <a:r>
              <a:rPr lang="en-US" sz="3000">
                <a:solidFill>
                  <a:srgbClr val="000000"/>
                </a:solidFill>
                <a:latin typeface="DejaVu Serif"/>
                <a:ea typeface="DejaVu Serif"/>
                <a:cs typeface="DejaVu Serif"/>
                <a:sym typeface="DejaVu Serif"/>
              </a:rPr>
              <a:t>- Triển khai thực tế:</a:t>
            </a:r>
          </a:p>
          <a:p>
            <a:pPr algn="l" marL="647700" indent="-323850" lvl="1">
              <a:lnSpc>
                <a:spcPts val="5220"/>
              </a:lnSpc>
              <a:buFont typeface="Arial"/>
              <a:buChar char="•"/>
            </a:pPr>
            <a:r>
              <a:rPr lang="en-US" sz="3000">
                <a:solidFill>
                  <a:srgbClr val="000000"/>
                </a:solidFill>
                <a:latin typeface="DejaVu Serif"/>
                <a:ea typeface="DejaVu Serif"/>
                <a:cs typeface="DejaVu Serif"/>
                <a:sym typeface="DejaVu Serif"/>
              </a:rPr>
              <a:t>Đóng gói thành dịch vụ nội bộ cho ngân hàng/ tổ chức tài chính</a:t>
            </a:r>
          </a:p>
          <a:p>
            <a:pPr algn="l" marL="647700" indent="-323850" lvl="1">
              <a:lnSpc>
                <a:spcPts val="5220"/>
              </a:lnSpc>
              <a:buFont typeface="Arial"/>
              <a:buChar char="•"/>
            </a:pPr>
            <a:r>
              <a:rPr lang="en-US" sz="3000">
                <a:solidFill>
                  <a:srgbClr val="000000"/>
                </a:solidFill>
                <a:latin typeface="DejaVu Serif"/>
                <a:ea typeface="DejaVu Serif"/>
                <a:cs typeface="DejaVu Serif"/>
                <a:sym typeface="DejaVu Serif"/>
              </a:rPr>
              <a:t>Tích hợp vào hệ thống CRM/Loan Management</a:t>
            </a:r>
          </a:p>
          <a:p>
            <a:pPr algn="l">
              <a:lnSpc>
                <a:spcPts val="5220"/>
              </a:lnSpc>
            </a:pPr>
          </a:p>
        </p:txBody>
      </p:sp>
      <p:sp>
        <p:nvSpPr>
          <p:cNvPr name="TextBox 9" id="9"/>
          <p:cNvSpPr txBox="true"/>
          <p:nvPr/>
        </p:nvSpPr>
        <p:spPr>
          <a:xfrm rot="0">
            <a:off x="17143019" y="9067800"/>
            <a:ext cx="759504" cy="804545"/>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31</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17028" t="0" r="-17028" b="0"/>
              </a:stretch>
            </a:blipFill>
          </p:spPr>
        </p:sp>
      </p:grpSp>
      <p:sp>
        <p:nvSpPr>
          <p:cNvPr name="Freeform 4" id="4"/>
          <p:cNvSpPr/>
          <p:nvPr/>
        </p:nvSpPr>
        <p:spPr>
          <a:xfrm flipH="false" flipV="true" rot="0">
            <a:off x="319821" y="260318"/>
            <a:ext cx="3388214" cy="3320453"/>
          </a:xfrm>
          <a:custGeom>
            <a:avLst/>
            <a:gdLst/>
            <a:ahLst/>
            <a:cxnLst/>
            <a:rect r="r" b="b" t="t" l="l"/>
            <a:pathLst>
              <a:path h="3320453" w="3388214">
                <a:moveTo>
                  <a:pt x="0" y="3320453"/>
                </a:moveTo>
                <a:lnTo>
                  <a:pt x="3388214" y="3320453"/>
                </a:lnTo>
                <a:lnTo>
                  <a:pt x="3388214" y="0"/>
                </a:lnTo>
                <a:lnTo>
                  <a:pt x="0" y="0"/>
                </a:lnTo>
                <a:lnTo>
                  <a:pt x="0" y="3320453"/>
                </a:lnTo>
                <a:close/>
              </a:path>
            </a:pathLst>
          </a:custGeom>
          <a:blipFill>
            <a:blip r:embed="rId3">
              <a:extLst>
                <a:ext uri="{96DAC541-7B7A-43D3-8B79-37D633B846F1}">
                  <asvg:svgBlip xmlns:asvg="http://schemas.microsoft.com/office/drawing/2016/SVG/main" r:embed="rId4"/>
                </a:ext>
              </a:extLst>
            </a:blip>
            <a:stretch>
              <a:fillRect l="0" t="-160" r="0" b="-160"/>
            </a:stretch>
          </a:blipFill>
        </p:spPr>
      </p:sp>
      <p:sp>
        <p:nvSpPr>
          <p:cNvPr name="Freeform 5" id="5"/>
          <p:cNvSpPr/>
          <p:nvPr/>
        </p:nvSpPr>
        <p:spPr>
          <a:xfrm flipH="true" flipV="true" rot="0">
            <a:off x="14579965" y="260318"/>
            <a:ext cx="3388214" cy="3320453"/>
          </a:xfrm>
          <a:custGeom>
            <a:avLst/>
            <a:gdLst/>
            <a:ahLst/>
            <a:cxnLst/>
            <a:rect r="r" b="b" t="t" l="l"/>
            <a:pathLst>
              <a:path h="3320453" w="3388214">
                <a:moveTo>
                  <a:pt x="3388214" y="3320453"/>
                </a:moveTo>
                <a:lnTo>
                  <a:pt x="0" y="3320453"/>
                </a:lnTo>
                <a:lnTo>
                  <a:pt x="0" y="0"/>
                </a:lnTo>
                <a:lnTo>
                  <a:pt x="3388214" y="0"/>
                </a:lnTo>
                <a:lnTo>
                  <a:pt x="3388214" y="3320453"/>
                </a:lnTo>
                <a:close/>
              </a:path>
            </a:pathLst>
          </a:custGeom>
          <a:blipFill>
            <a:blip r:embed="rId3">
              <a:extLst>
                <a:ext uri="{96DAC541-7B7A-43D3-8B79-37D633B846F1}">
                  <asvg:svgBlip xmlns:asvg="http://schemas.microsoft.com/office/drawing/2016/SVG/main" r:embed="rId4"/>
                </a:ext>
              </a:extLst>
            </a:blip>
            <a:stretch>
              <a:fillRect l="0" t="-160" r="0" b="-160"/>
            </a:stretch>
          </a:blipFill>
        </p:spPr>
      </p:sp>
      <p:sp>
        <p:nvSpPr>
          <p:cNvPr name="TextBox 6" id="6"/>
          <p:cNvSpPr txBox="true"/>
          <p:nvPr/>
        </p:nvSpPr>
        <p:spPr>
          <a:xfrm rot="0">
            <a:off x="17143019" y="9067800"/>
            <a:ext cx="759504" cy="804545"/>
          </a:xfrm>
          <a:prstGeom prst="rect">
            <a:avLst/>
          </a:prstGeom>
        </p:spPr>
        <p:txBody>
          <a:bodyPr anchor="t" rtlCol="false" tIns="0" lIns="0" bIns="0" rIns="0">
            <a:spAutoFit/>
          </a:bodyPr>
          <a:lstStyle/>
          <a:p>
            <a:pPr algn="ctr">
              <a:lnSpc>
                <a:spcPts val="6580"/>
              </a:lnSpc>
            </a:pPr>
            <a:r>
              <a:rPr lang="en-US" sz="4700">
                <a:solidFill>
                  <a:srgbClr val="000000"/>
                </a:solidFill>
                <a:latin typeface="DejaVu Serif"/>
                <a:ea typeface="DejaVu Serif"/>
                <a:cs typeface="DejaVu Serif"/>
                <a:sym typeface="DejaVu Serif"/>
              </a:rPr>
              <a:t>32</a:t>
            </a:r>
          </a:p>
        </p:txBody>
      </p:sp>
      <p:sp>
        <p:nvSpPr>
          <p:cNvPr name="TextBox 7" id="7"/>
          <p:cNvSpPr txBox="true"/>
          <p:nvPr/>
        </p:nvSpPr>
        <p:spPr>
          <a:xfrm rot="0">
            <a:off x="2758650" y="3195247"/>
            <a:ext cx="12770710" cy="1720850"/>
          </a:xfrm>
          <a:prstGeom prst="rect">
            <a:avLst/>
          </a:prstGeom>
        </p:spPr>
        <p:txBody>
          <a:bodyPr anchor="t" rtlCol="false" tIns="0" lIns="0" bIns="0" rIns="0">
            <a:spAutoFit/>
          </a:bodyPr>
          <a:lstStyle/>
          <a:p>
            <a:pPr algn="ctr">
              <a:lnSpc>
                <a:spcPts val="13720"/>
              </a:lnSpc>
            </a:pPr>
            <a:r>
              <a:rPr lang="en-US" sz="9600">
                <a:solidFill>
                  <a:srgbClr val="473821"/>
                </a:solidFill>
                <a:latin typeface="Times New Roman"/>
                <a:ea typeface="Times New Roman"/>
                <a:cs typeface="Times New Roman"/>
                <a:sym typeface="Times New Roman"/>
              </a:rPr>
              <a:t>VI. DEMO</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17028" t="0" r="-17028" b="0"/>
              </a:stretch>
            </a:blipFill>
          </p:spPr>
        </p:sp>
      </p:grpSp>
      <p:sp>
        <p:nvSpPr>
          <p:cNvPr name="Freeform 4" id="4"/>
          <p:cNvSpPr/>
          <p:nvPr/>
        </p:nvSpPr>
        <p:spPr>
          <a:xfrm flipH="false" flipV="true" rot="0">
            <a:off x="2398109" y="1756943"/>
            <a:ext cx="4198772" cy="4114800"/>
          </a:xfrm>
          <a:custGeom>
            <a:avLst/>
            <a:gdLst/>
            <a:ahLst/>
            <a:cxnLst/>
            <a:rect r="r" b="b" t="t" l="l"/>
            <a:pathLst>
              <a:path h="4114800" w="4198772">
                <a:moveTo>
                  <a:pt x="0" y="4114800"/>
                </a:moveTo>
                <a:lnTo>
                  <a:pt x="4198773" y="4114800"/>
                </a:lnTo>
                <a:lnTo>
                  <a:pt x="4198773"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94" r="0" b="-94"/>
            </a:stretch>
          </a:blipFill>
        </p:spPr>
      </p:sp>
      <p:sp>
        <p:nvSpPr>
          <p:cNvPr name="Freeform 5" id="5"/>
          <p:cNvSpPr/>
          <p:nvPr/>
        </p:nvSpPr>
        <p:spPr>
          <a:xfrm flipH="true" flipV="true" rot="0">
            <a:off x="11691118" y="1756943"/>
            <a:ext cx="4198772" cy="4114800"/>
          </a:xfrm>
          <a:custGeom>
            <a:avLst/>
            <a:gdLst/>
            <a:ahLst/>
            <a:cxnLst/>
            <a:rect r="r" b="b" t="t" l="l"/>
            <a:pathLst>
              <a:path h="4114800" w="4198772">
                <a:moveTo>
                  <a:pt x="4198773" y="4114800"/>
                </a:moveTo>
                <a:lnTo>
                  <a:pt x="0" y="4114800"/>
                </a:lnTo>
                <a:lnTo>
                  <a:pt x="0" y="0"/>
                </a:lnTo>
                <a:lnTo>
                  <a:pt x="4198773" y="0"/>
                </a:lnTo>
                <a:lnTo>
                  <a:pt x="4198773" y="4114800"/>
                </a:lnTo>
                <a:close/>
              </a:path>
            </a:pathLst>
          </a:custGeom>
          <a:blipFill>
            <a:blip r:embed="rId3">
              <a:extLst>
                <a:ext uri="{96DAC541-7B7A-43D3-8B79-37D633B846F1}">
                  <asvg:svgBlip xmlns:asvg="http://schemas.microsoft.com/office/drawing/2016/SVG/main" r:embed="rId4"/>
                </a:ext>
              </a:extLst>
            </a:blip>
            <a:stretch>
              <a:fillRect l="0" t="-94" r="0" b="-94"/>
            </a:stretch>
          </a:blipFill>
        </p:spPr>
      </p:sp>
      <p:sp>
        <p:nvSpPr>
          <p:cNvPr name="TextBox 6" id="6"/>
          <p:cNvSpPr txBox="true"/>
          <p:nvPr/>
        </p:nvSpPr>
        <p:spPr>
          <a:xfrm rot="0">
            <a:off x="4734220" y="2800150"/>
            <a:ext cx="8819559" cy="2531202"/>
          </a:xfrm>
          <a:prstGeom prst="rect">
            <a:avLst/>
          </a:prstGeom>
        </p:spPr>
        <p:txBody>
          <a:bodyPr anchor="t" rtlCol="false" tIns="0" lIns="0" bIns="0" rIns="0">
            <a:spAutoFit/>
          </a:bodyPr>
          <a:lstStyle/>
          <a:p>
            <a:pPr algn="ctr">
              <a:lnSpc>
                <a:spcPts val="18556"/>
              </a:lnSpc>
            </a:pPr>
            <a:r>
              <a:rPr lang="en-US" sz="13255">
                <a:solidFill>
                  <a:srgbClr val="473821"/>
                </a:solidFill>
                <a:latin typeface="Chau Philomene"/>
                <a:ea typeface="Chau Philomene"/>
                <a:cs typeface="Chau Philomene"/>
                <a:sym typeface="Chau Philomene"/>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DAG8GxsmoOY</dc:identifier>
  <dcterms:modified xsi:type="dcterms:W3CDTF">2011-08-01T06:04:30Z</dcterms:modified>
  <cp:revision>1</cp:revision>
  <dc:title>BaoCao</dc:title>
</cp:coreProperties>
</file>